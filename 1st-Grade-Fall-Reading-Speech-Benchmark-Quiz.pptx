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1 of 20</a:t>
            </a:r>
            <a:endParaRPr lang="en-US" sz="1300" dirty="0"/>
          </a:p>
        </p:txBody>
      </p:sp>
      <p:sp>
        <p:nvSpPr>
          <p:cNvPr id="3" name="Text 1"/>
          <p:cNvSpPr/>
          <p:nvPr/>
        </p:nvSpPr>
        <p:spPr>
          <a:xfrm>
            <a:off x="365760" y="777240"/>
            <a:ext cx="8412480" cy="457200"/>
          </a:xfrm>
          <a:prstGeom prst="rect">
            <a:avLst/>
          </a:prstGeom>
          <a:noFill/>
          <a:ln/>
        </p:spPr>
        <p:txBody>
          <a:bodyPr wrap="square" rtlCol="0" anchor="ctr"/>
          <a:lstStyle/>
          <a:p>
            <a:pPr indent="0" marL="0">
              <a:buNone/>
            </a:pPr>
            <a:r>
              <a:rPr lang="en-US" sz="1600" b="1" dirty="0">
                <a:solidFill>
                  <a:srgbClr val="FFFFFF"/>
                </a:solidFill>
              </a:rPr>
              <a:t>How do we divide the word "elephant" into syllables?</a:t>
            </a:r>
            <a:endParaRPr lang="en-US" sz="1600" dirty="0"/>
          </a:p>
        </p:txBody>
      </p:sp>
      <p:sp>
        <p:nvSpPr>
          <p:cNvPr id="4" name="Shape 2"/>
          <p:cNvSpPr/>
          <p:nvPr/>
        </p:nvSpPr>
        <p:spPr>
          <a:xfrm>
            <a:off x="365760" y="1417320"/>
            <a:ext cx="4023360" cy="365760"/>
          </a:xfrm>
          <a:prstGeom prst="rect">
            <a:avLst>
              <a:gd name="adj" fmla="val 25000"/>
            </a:avLst>
          </a:prstGeom>
          <a:solidFill>
            <a:srgbClr val="A8C5DD"/>
          </a:solidFill>
          <a:ln w="12700">
            <a:solidFill>
              <a:srgbClr val="000000"/>
            </a:solidFill>
            <a:prstDash val="solid"/>
          </a:ln>
        </p:spPr>
      </p:sp>
      <p:sp>
        <p:nvSpPr>
          <p:cNvPr id="5" name="Text 3"/>
          <p:cNvSpPr/>
          <p:nvPr/>
        </p:nvSpPr>
        <p:spPr>
          <a:xfrm>
            <a:off x="457200" y="1435608"/>
            <a:ext cx="3840480" cy="329184"/>
          </a:xfrm>
          <a:prstGeom prst="rect">
            <a:avLst/>
          </a:prstGeom>
          <a:noFill/>
          <a:ln/>
        </p:spPr>
        <p:txBody>
          <a:bodyPr wrap="square" rtlCol="0" anchor="ctr"/>
          <a:lstStyle/>
          <a:p>
            <a:pPr algn="l" indent="0" marL="0">
              <a:buNone/>
            </a:pPr>
            <a:r>
              <a:rPr lang="en-US" sz="1400" dirty="0">
                <a:solidFill>
                  <a:srgbClr val="000000"/>
                </a:solidFill>
              </a:rPr>
              <a:t>A. el-e-phant</a:t>
            </a:r>
            <a:endParaRPr lang="en-US" sz="1400" dirty="0"/>
          </a:p>
        </p:txBody>
      </p:sp>
      <p:sp>
        <p:nvSpPr>
          <p:cNvPr id="6" name="Shape 4"/>
          <p:cNvSpPr/>
          <p:nvPr/>
        </p:nvSpPr>
        <p:spPr>
          <a:xfrm>
            <a:off x="4754880" y="1417320"/>
            <a:ext cx="4023360" cy="365760"/>
          </a:xfrm>
          <a:prstGeom prst="rect">
            <a:avLst>
              <a:gd name="adj" fmla="val 25000"/>
            </a:avLst>
          </a:prstGeom>
          <a:solidFill>
            <a:srgbClr val="A8C5DD"/>
          </a:solidFill>
          <a:ln w="12700">
            <a:solidFill>
              <a:srgbClr val="000000"/>
            </a:solidFill>
            <a:prstDash val="solid"/>
          </a:ln>
        </p:spPr>
      </p:sp>
      <p:sp>
        <p:nvSpPr>
          <p:cNvPr id="7" name="Text 5"/>
          <p:cNvSpPr/>
          <p:nvPr/>
        </p:nvSpPr>
        <p:spPr>
          <a:xfrm>
            <a:off x="4846320" y="1435608"/>
            <a:ext cx="3840480" cy="329184"/>
          </a:xfrm>
          <a:prstGeom prst="rect">
            <a:avLst/>
          </a:prstGeom>
          <a:noFill/>
          <a:ln/>
        </p:spPr>
        <p:txBody>
          <a:bodyPr wrap="square" rtlCol="0" anchor="ctr"/>
          <a:lstStyle/>
          <a:p>
            <a:pPr algn="l" indent="0" marL="0">
              <a:buNone/>
            </a:pPr>
            <a:r>
              <a:rPr lang="en-US" sz="1400" dirty="0">
                <a:solidFill>
                  <a:srgbClr val="000000"/>
                </a:solidFill>
              </a:rPr>
              <a:t>B. e-le-phant</a:t>
            </a:r>
            <a:endParaRPr lang="en-US" sz="1400" dirty="0"/>
          </a:p>
        </p:txBody>
      </p:sp>
      <p:sp>
        <p:nvSpPr>
          <p:cNvPr id="8" name="Shape 6"/>
          <p:cNvSpPr/>
          <p:nvPr/>
        </p:nvSpPr>
        <p:spPr>
          <a:xfrm>
            <a:off x="365760" y="1920240"/>
            <a:ext cx="4023360" cy="365760"/>
          </a:xfrm>
          <a:prstGeom prst="rect">
            <a:avLst>
              <a:gd name="adj" fmla="val 25000"/>
            </a:avLst>
          </a:prstGeom>
          <a:solidFill>
            <a:srgbClr val="A8C5DD"/>
          </a:solidFill>
          <a:ln w="12700">
            <a:solidFill>
              <a:srgbClr val="000000"/>
            </a:solidFill>
            <a:prstDash val="solid"/>
          </a:ln>
        </p:spPr>
      </p:sp>
      <p:sp>
        <p:nvSpPr>
          <p:cNvPr id="9" name="Text 7"/>
          <p:cNvSpPr/>
          <p:nvPr/>
        </p:nvSpPr>
        <p:spPr>
          <a:xfrm>
            <a:off x="457200" y="1938528"/>
            <a:ext cx="3840480" cy="329184"/>
          </a:xfrm>
          <a:prstGeom prst="rect">
            <a:avLst/>
          </a:prstGeom>
          <a:noFill/>
          <a:ln/>
        </p:spPr>
        <p:txBody>
          <a:bodyPr wrap="square" rtlCol="0" anchor="ctr"/>
          <a:lstStyle/>
          <a:p>
            <a:pPr algn="l" indent="0" marL="0">
              <a:buNone/>
            </a:pPr>
            <a:r>
              <a:rPr lang="en-US" sz="1400" dirty="0">
                <a:solidFill>
                  <a:srgbClr val="000000"/>
                </a:solidFill>
              </a:rPr>
              <a:t>C. eleph-ant</a:t>
            </a:r>
            <a:endParaRPr lang="en-US" sz="1400" dirty="0"/>
          </a:p>
        </p:txBody>
      </p:sp>
      <p:sp>
        <p:nvSpPr>
          <p:cNvPr id="10" name="Shape 8"/>
          <p:cNvSpPr/>
          <p:nvPr/>
        </p:nvSpPr>
        <p:spPr>
          <a:xfrm>
            <a:off x="4754880" y="1920240"/>
            <a:ext cx="4023360" cy="365760"/>
          </a:xfrm>
          <a:prstGeom prst="rect">
            <a:avLst>
              <a:gd name="adj" fmla="val 25000"/>
            </a:avLst>
          </a:prstGeom>
          <a:solidFill>
            <a:srgbClr val="A8C5DD"/>
          </a:solidFill>
          <a:ln w="12700">
            <a:solidFill>
              <a:srgbClr val="000000"/>
            </a:solidFill>
            <a:prstDash val="solid"/>
          </a:ln>
        </p:spPr>
      </p:sp>
      <p:sp>
        <p:nvSpPr>
          <p:cNvPr id="11" name="Text 9"/>
          <p:cNvSpPr/>
          <p:nvPr/>
        </p:nvSpPr>
        <p:spPr>
          <a:xfrm>
            <a:off x="4846320" y="1938528"/>
            <a:ext cx="3840480" cy="329184"/>
          </a:xfrm>
          <a:prstGeom prst="rect">
            <a:avLst/>
          </a:prstGeom>
          <a:noFill/>
          <a:ln/>
        </p:spPr>
        <p:txBody>
          <a:bodyPr wrap="square" rtlCol="0" anchor="ctr"/>
          <a:lstStyle/>
          <a:p>
            <a:pPr algn="l" indent="0" marL="0">
              <a:buNone/>
            </a:pPr>
            <a:r>
              <a:rPr lang="en-US" sz="1400" dirty="0">
                <a:solidFill>
                  <a:srgbClr val="000000"/>
                </a:solidFill>
              </a:rPr>
              <a:t>D. e-le-fant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1 - Answer</a:t>
            </a:r>
            <a:endParaRPr lang="en-US" sz="1300" dirty="0"/>
          </a:p>
        </p:txBody>
      </p:sp>
      <p:sp>
        <p:nvSpPr>
          <p:cNvPr id="3" name="Text 1"/>
          <p:cNvSpPr/>
          <p:nvPr/>
        </p:nvSpPr>
        <p:spPr>
          <a:xfrm>
            <a:off x="365760" y="777240"/>
            <a:ext cx="8412480" cy="457200"/>
          </a:xfrm>
          <a:prstGeom prst="rect">
            <a:avLst/>
          </a:prstGeom>
          <a:noFill/>
          <a:ln/>
        </p:spPr>
        <p:txBody>
          <a:bodyPr wrap="square" rtlCol="0" anchor="ctr"/>
          <a:lstStyle/>
          <a:p>
            <a:pPr indent="0" marL="0">
              <a:buNone/>
            </a:pPr>
            <a:r>
              <a:rPr lang="en-US" sz="1600" b="1" dirty="0">
                <a:solidFill>
                  <a:srgbClr val="FFFFFF"/>
                </a:solidFill>
              </a:rPr>
              <a:t>How do we divide the word "elephant" into syllables?</a:t>
            </a:r>
            <a:endParaRPr lang="en-US" sz="1600" dirty="0"/>
          </a:p>
        </p:txBody>
      </p:sp>
      <p:sp>
        <p:nvSpPr>
          <p:cNvPr id="4" name="Shape 2"/>
          <p:cNvSpPr/>
          <p:nvPr/>
        </p:nvSpPr>
        <p:spPr>
          <a:xfrm>
            <a:off x="365760" y="1417320"/>
            <a:ext cx="4023360" cy="365760"/>
          </a:xfrm>
          <a:prstGeom prst="rect">
            <a:avLst>
              <a:gd name="adj" fmla="val 25000"/>
            </a:avLst>
          </a:prstGeom>
          <a:solidFill>
            <a:srgbClr val="D5F4E6"/>
          </a:solidFill>
          <a:ln w="12700">
            <a:solidFill>
              <a:srgbClr val="27AE60"/>
            </a:solidFill>
            <a:prstDash val="solid"/>
          </a:ln>
        </p:spPr>
      </p:sp>
      <p:sp>
        <p:nvSpPr>
          <p:cNvPr id="5" name="Text 3"/>
          <p:cNvSpPr/>
          <p:nvPr/>
        </p:nvSpPr>
        <p:spPr>
          <a:xfrm>
            <a:off x="457200" y="1435608"/>
            <a:ext cx="3840480" cy="329184"/>
          </a:xfrm>
          <a:prstGeom prst="rect">
            <a:avLst/>
          </a:prstGeom>
          <a:noFill/>
          <a:ln/>
        </p:spPr>
        <p:txBody>
          <a:bodyPr wrap="square" rtlCol="0" anchor="ctr"/>
          <a:lstStyle/>
          <a:p>
            <a:pPr algn="l" indent="0" marL="0">
              <a:buNone/>
            </a:pPr>
            <a:r>
              <a:rPr lang="en-US" sz="1400" dirty="0">
                <a:solidFill>
                  <a:srgbClr val="000000"/>
                </a:solidFill>
              </a:rPr>
              <a:t>A. el-e-phant ✓</a:t>
            </a:r>
            <a:endParaRPr lang="en-US" sz="1400" dirty="0"/>
          </a:p>
        </p:txBody>
      </p:sp>
      <p:sp>
        <p:nvSpPr>
          <p:cNvPr id="6" name="Shape 4"/>
          <p:cNvSpPr/>
          <p:nvPr/>
        </p:nvSpPr>
        <p:spPr>
          <a:xfrm>
            <a:off x="4754880" y="1417320"/>
            <a:ext cx="4023360" cy="365760"/>
          </a:xfrm>
          <a:prstGeom prst="rect">
            <a:avLst>
              <a:gd name="adj" fmla="val 25000"/>
            </a:avLst>
          </a:prstGeom>
          <a:solidFill>
            <a:srgbClr val="A8C5DD"/>
          </a:solidFill>
          <a:ln w="12700">
            <a:solidFill>
              <a:srgbClr val="000000"/>
            </a:solidFill>
            <a:prstDash val="solid"/>
          </a:ln>
        </p:spPr>
      </p:sp>
      <p:sp>
        <p:nvSpPr>
          <p:cNvPr id="7" name="Text 5"/>
          <p:cNvSpPr/>
          <p:nvPr/>
        </p:nvSpPr>
        <p:spPr>
          <a:xfrm>
            <a:off x="4846320" y="1435608"/>
            <a:ext cx="3840480" cy="329184"/>
          </a:xfrm>
          <a:prstGeom prst="rect">
            <a:avLst/>
          </a:prstGeom>
          <a:noFill/>
          <a:ln/>
        </p:spPr>
        <p:txBody>
          <a:bodyPr wrap="square" rtlCol="0" anchor="ctr"/>
          <a:lstStyle/>
          <a:p>
            <a:pPr algn="l" indent="0" marL="0">
              <a:buNone/>
            </a:pPr>
            <a:r>
              <a:rPr lang="en-US" sz="1400" dirty="0">
                <a:solidFill>
                  <a:srgbClr val="000000"/>
                </a:solidFill>
              </a:rPr>
              <a:t>B. e-le-phant</a:t>
            </a:r>
            <a:endParaRPr lang="en-US" sz="1400" dirty="0"/>
          </a:p>
        </p:txBody>
      </p:sp>
      <p:sp>
        <p:nvSpPr>
          <p:cNvPr id="8" name="Shape 6"/>
          <p:cNvSpPr/>
          <p:nvPr/>
        </p:nvSpPr>
        <p:spPr>
          <a:xfrm>
            <a:off x="365760" y="1920240"/>
            <a:ext cx="4023360" cy="365760"/>
          </a:xfrm>
          <a:prstGeom prst="rect">
            <a:avLst>
              <a:gd name="adj" fmla="val 25000"/>
            </a:avLst>
          </a:prstGeom>
          <a:solidFill>
            <a:srgbClr val="A8C5DD"/>
          </a:solidFill>
          <a:ln w="12700">
            <a:solidFill>
              <a:srgbClr val="000000"/>
            </a:solidFill>
            <a:prstDash val="solid"/>
          </a:ln>
        </p:spPr>
      </p:sp>
      <p:sp>
        <p:nvSpPr>
          <p:cNvPr id="9" name="Text 7"/>
          <p:cNvSpPr/>
          <p:nvPr/>
        </p:nvSpPr>
        <p:spPr>
          <a:xfrm>
            <a:off x="457200" y="1938528"/>
            <a:ext cx="3840480" cy="329184"/>
          </a:xfrm>
          <a:prstGeom prst="rect">
            <a:avLst/>
          </a:prstGeom>
          <a:noFill/>
          <a:ln/>
        </p:spPr>
        <p:txBody>
          <a:bodyPr wrap="square" rtlCol="0" anchor="ctr"/>
          <a:lstStyle/>
          <a:p>
            <a:pPr algn="l" indent="0" marL="0">
              <a:buNone/>
            </a:pPr>
            <a:r>
              <a:rPr lang="en-US" sz="1400" dirty="0">
                <a:solidFill>
                  <a:srgbClr val="000000"/>
                </a:solidFill>
              </a:rPr>
              <a:t>C. eleph-ant</a:t>
            </a:r>
            <a:endParaRPr lang="en-US" sz="1400" dirty="0"/>
          </a:p>
        </p:txBody>
      </p:sp>
      <p:sp>
        <p:nvSpPr>
          <p:cNvPr id="10" name="Shape 8"/>
          <p:cNvSpPr/>
          <p:nvPr/>
        </p:nvSpPr>
        <p:spPr>
          <a:xfrm>
            <a:off x="4754880" y="1920240"/>
            <a:ext cx="4023360" cy="365760"/>
          </a:xfrm>
          <a:prstGeom prst="rect">
            <a:avLst>
              <a:gd name="adj" fmla="val 25000"/>
            </a:avLst>
          </a:prstGeom>
          <a:solidFill>
            <a:srgbClr val="A8C5DD"/>
          </a:solidFill>
          <a:ln w="12700">
            <a:solidFill>
              <a:srgbClr val="000000"/>
            </a:solidFill>
            <a:prstDash val="solid"/>
          </a:ln>
        </p:spPr>
      </p:sp>
      <p:sp>
        <p:nvSpPr>
          <p:cNvPr id="11" name="Text 9"/>
          <p:cNvSpPr/>
          <p:nvPr/>
        </p:nvSpPr>
        <p:spPr>
          <a:xfrm>
            <a:off x="4846320" y="1938528"/>
            <a:ext cx="3840480" cy="329184"/>
          </a:xfrm>
          <a:prstGeom prst="rect">
            <a:avLst/>
          </a:prstGeom>
          <a:noFill/>
          <a:ln/>
        </p:spPr>
        <p:txBody>
          <a:bodyPr wrap="square" rtlCol="0" anchor="ctr"/>
          <a:lstStyle/>
          <a:p>
            <a:pPr algn="l" indent="0" marL="0">
              <a:buNone/>
            </a:pPr>
            <a:r>
              <a:rPr lang="en-US" sz="1400" dirty="0">
                <a:solidFill>
                  <a:srgbClr val="000000"/>
                </a:solidFill>
              </a:rPr>
              <a:t>D. e-le-fant</a:t>
            </a:r>
            <a:endParaRPr lang="en-US" sz="1400" dirty="0"/>
          </a:p>
        </p:txBody>
      </p:sp>
      <p:sp>
        <p:nvSpPr>
          <p:cNvPr id="12" name="Text 10"/>
          <p:cNvSpPr/>
          <p:nvPr/>
        </p:nvSpPr>
        <p:spPr>
          <a:xfrm>
            <a:off x="365760" y="2331720"/>
            <a:ext cx="8412480" cy="320040"/>
          </a:xfrm>
          <a:prstGeom prst="rect">
            <a:avLst/>
          </a:prstGeom>
          <a:noFill/>
          <a:ln/>
        </p:spPr>
        <p:txBody>
          <a:bodyPr wrap="square" rtlCol="0" anchor="ctr"/>
          <a:lstStyle/>
          <a:p>
            <a:pPr indent="0" marL="0">
              <a:buNone/>
            </a:pPr>
            <a:r>
              <a:rPr lang="en-US" sz="1400" b="1" dirty="0">
                <a:solidFill>
                  <a:srgbClr val="27AE60"/>
                </a:solidFill>
              </a:rPr>
              <a:t>Correct!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2 of 20</a:t>
            </a:r>
            <a:endParaRPr lang="en-US" sz="1300" dirty="0"/>
          </a:p>
        </p:txBody>
      </p:sp>
      <p:sp>
        <p:nvSpPr>
          <p:cNvPr id="3" name="Text 1"/>
          <p:cNvSpPr/>
          <p:nvPr/>
        </p:nvSpPr>
        <p:spPr>
          <a:xfrm>
            <a:off x="365760" y="777240"/>
            <a:ext cx="8412480" cy="457200"/>
          </a:xfrm>
          <a:prstGeom prst="rect">
            <a:avLst/>
          </a:prstGeom>
          <a:noFill/>
          <a:ln/>
        </p:spPr>
        <p:txBody>
          <a:bodyPr wrap="square" rtlCol="0" anchor="ctr"/>
          <a:lstStyle/>
          <a:p>
            <a:pPr indent="0" marL="0">
              <a:buNone/>
            </a:pPr>
            <a:r>
              <a:rPr lang="en-US" sz="1600" b="1" dirty="0">
                <a:solidFill>
                  <a:srgbClr val="FFFFFF"/>
                </a:solidFill>
              </a:rPr>
              <a:t>Sound out these letters: c-a-t. What word do they make?</a:t>
            </a:r>
            <a:endParaRPr lang="en-US" sz="1600" dirty="0"/>
          </a:p>
        </p:txBody>
      </p:sp>
      <p:sp>
        <p:nvSpPr>
          <p:cNvPr id="4" name="Shape 2"/>
          <p:cNvSpPr/>
          <p:nvPr/>
        </p:nvSpPr>
        <p:spPr>
          <a:xfrm>
            <a:off x="365760" y="1417320"/>
            <a:ext cx="4023360" cy="365760"/>
          </a:xfrm>
          <a:prstGeom prst="rect">
            <a:avLst>
              <a:gd name="adj" fmla="val 25000"/>
            </a:avLst>
          </a:prstGeom>
          <a:solidFill>
            <a:srgbClr val="A8C5DD"/>
          </a:solidFill>
          <a:ln w="12700">
            <a:solidFill>
              <a:srgbClr val="000000"/>
            </a:solidFill>
            <a:prstDash val="solid"/>
          </a:ln>
        </p:spPr>
      </p:sp>
      <p:sp>
        <p:nvSpPr>
          <p:cNvPr id="5" name="Text 3"/>
          <p:cNvSpPr/>
          <p:nvPr/>
        </p:nvSpPr>
        <p:spPr>
          <a:xfrm>
            <a:off x="457200" y="1435608"/>
            <a:ext cx="3840480" cy="329184"/>
          </a:xfrm>
          <a:prstGeom prst="rect">
            <a:avLst/>
          </a:prstGeom>
          <a:noFill/>
          <a:ln/>
        </p:spPr>
        <p:txBody>
          <a:bodyPr wrap="square" rtlCol="0" anchor="ctr"/>
          <a:lstStyle/>
          <a:p>
            <a:pPr algn="l" indent="0" marL="0">
              <a:buNone/>
            </a:pPr>
            <a:r>
              <a:rPr lang="en-US" sz="1400" dirty="0">
                <a:solidFill>
                  <a:srgbClr val="000000"/>
                </a:solidFill>
              </a:rPr>
              <a:t>A. cut</a:t>
            </a:r>
            <a:endParaRPr lang="en-US" sz="1400" dirty="0"/>
          </a:p>
        </p:txBody>
      </p:sp>
      <p:sp>
        <p:nvSpPr>
          <p:cNvPr id="6" name="Shape 4"/>
          <p:cNvSpPr/>
          <p:nvPr/>
        </p:nvSpPr>
        <p:spPr>
          <a:xfrm>
            <a:off x="4754880" y="1417320"/>
            <a:ext cx="4023360" cy="365760"/>
          </a:xfrm>
          <a:prstGeom prst="rect">
            <a:avLst>
              <a:gd name="adj" fmla="val 25000"/>
            </a:avLst>
          </a:prstGeom>
          <a:solidFill>
            <a:srgbClr val="A8C5DD"/>
          </a:solidFill>
          <a:ln w="12700">
            <a:solidFill>
              <a:srgbClr val="000000"/>
            </a:solidFill>
            <a:prstDash val="solid"/>
          </a:ln>
        </p:spPr>
      </p:sp>
      <p:sp>
        <p:nvSpPr>
          <p:cNvPr id="7" name="Text 5"/>
          <p:cNvSpPr/>
          <p:nvPr/>
        </p:nvSpPr>
        <p:spPr>
          <a:xfrm>
            <a:off x="4846320" y="1435608"/>
            <a:ext cx="3840480" cy="329184"/>
          </a:xfrm>
          <a:prstGeom prst="rect">
            <a:avLst/>
          </a:prstGeom>
          <a:noFill/>
          <a:ln/>
        </p:spPr>
        <p:txBody>
          <a:bodyPr wrap="square" rtlCol="0" anchor="ctr"/>
          <a:lstStyle/>
          <a:p>
            <a:pPr algn="l" indent="0" marL="0">
              <a:buNone/>
            </a:pPr>
            <a:r>
              <a:rPr lang="en-US" sz="1400" dirty="0">
                <a:solidFill>
                  <a:srgbClr val="000000"/>
                </a:solidFill>
              </a:rPr>
              <a:t>B. cat</a:t>
            </a:r>
            <a:endParaRPr lang="en-US" sz="1400" dirty="0"/>
          </a:p>
        </p:txBody>
      </p:sp>
      <p:sp>
        <p:nvSpPr>
          <p:cNvPr id="8" name="Shape 6"/>
          <p:cNvSpPr/>
          <p:nvPr/>
        </p:nvSpPr>
        <p:spPr>
          <a:xfrm>
            <a:off x="365760" y="1920240"/>
            <a:ext cx="4023360" cy="365760"/>
          </a:xfrm>
          <a:prstGeom prst="rect">
            <a:avLst>
              <a:gd name="adj" fmla="val 25000"/>
            </a:avLst>
          </a:prstGeom>
          <a:solidFill>
            <a:srgbClr val="A8C5DD"/>
          </a:solidFill>
          <a:ln w="12700">
            <a:solidFill>
              <a:srgbClr val="000000"/>
            </a:solidFill>
            <a:prstDash val="solid"/>
          </a:ln>
        </p:spPr>
      </p:sp>
      <p:sp>
        <p:nvSpPr>
          <p:cNvPr id="9" name="Text 7"/>
          <p:cNvSpPr/>
          <p:nvPr/>
        </p:nvSpPr>
        <p:spPr>
          <a:xfrm>
            <a:off x="457200" y="1938528"/>
            <a:ext cx="3840480" cy="329184"/>
          </a:xfrm>
          <a:prstGeom prst="rect">
            <a:avLst/>
          </a:prstGeom>
          <a:noFill/>
          <a:ln/>
        </p:spPr>
        <p:txBody>
          <a:bodyPr wrap="square" rtlCol="0" anchor="ctr"/>
          <a:lstStyle/>
          <a:p>
            <a:pPr algn="l" indent="0" marL="0">
              <a:buNone/>
            </a:pPr>
            <a:r>
              <a:rPr lang="en-US" sz="1400" dirty="0">
                <a:solidFill>
                  <a:srgbClr val="000000"/>
                </a:solidFill>
              </a:rPr>
              <a:t>C. cot</a:t>
            </a:r>
            <a:endParaRPr lang="en-US" sz="1400" dirty="0"/>
          </a:p>
        </p:txBody>
      </p:sp>
      <p:sp>
        <p:nvSpPr>
          <p:cNvPr id="10" name="Shape 8"/>
          <p:cNvSpPr/>
          <p:nvPr/>
        </p:nvSpPr>
        <p:spPr>
          <a:xfrm>
            <a:off x="4754880" y="1920240"/>
            <a:ext cx="4023360" cy="365760"/>
          </a:xfrm>
          <a:prstGeom prst="rect">
            <a:avLst>
              <a:gd name="adj" fmla="val 25000"/>
            </a:avLst>
          </a:prstGeom>
          <a:solidFill>
            <a:srgbClr val="A8C5DD"/>
          </a:solidFill>
          <a:ln w="12700">
            <a:solidFill>
              <a:srgbClr val="000000"/>
            </a:solidFill>
            <a:prstDash val="solid"/>
          </a:ln>
        </p:spPr>
      </p:sp>
      <p:sp>
        <p:nvSpPr>
          <p:cNvPr id="11" name="Text 9"/>
          <p:cNvSpPr/>
          <p:nvPr/>
        </p:nvSpPr>
        <p:spPr>
          <a:xfrm>
            <a:off x="4846320" y="1938528"/>
            <a:ext cx="3840480" cy="329184"/>
          </a:xfrm>
          <a:prstGeom prst="rect">
            <a:avLst/>
          </a:prstGeom>
          <a:noFill/>
          <a:ln/>
        </p:spPr>
        <p:txBody>
          <a:bodyPr wrap="square" rtlCol="0" anchor="ctr"/>
          <a:lstStyle/>
          <a:p>
            <a:pPr algn="l" indent="0" marL="0">
              <a:buNone/>
            </a:pPr>
            <a:r>
              <a:rPr lang="en-US" sz="1400" dirty="0">
                <a:solidFill>
                  <a:srgbClr val="000000"/>
                </a:solidFill>
              </a:rPr>
              <a:t>D. cap</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2 - Answer</a:t>
            </a:r>
            <a:endParaRPr lang="en-US" sz="1300" dirty="0"/>
          </a:p>
        </p:txBody>
      </p:sp>
      <p:sp>
        <p:nvSpPr>
          <p:cNvPr id="3" name="Text 1"/>
          <p:cNvSpPr/>
          <p:nvPr/>
        </p:nvSpPr>
        <p:spPr>
          <a:xfrm>
            <a:off x="365760" y="777240"/>
            <a:ext cx="8412480" cy="457200"/>
          </a:xfrm>
          <a:prstGeom prst="rect">
            <a:avLst/>
          </a:prstGeom>
          <a:noFill/>
          <a:ln/>
        </p:spPr>
        <p:txBody>
          <a:bodyPr wrap="square" rtlCol="0" anchor="ctr"/>
          <a:lstStyle/>
          <a:p>
            <a:pPr indent="0" marL="0">
              <a:buNone/>
            </a:pPr>
            <a:r>
              <a:rPr lang="en-US" sz="1600" b="1" dirty="0">
                <a:solidFill>
                  <a:srgbClr val="FFFFFF"/>
                </a:solidFill>
              </a:rPr>
              <a:t>Sound out these letters: c-a-t. What word do they make?</a:t>
            </a:r>
            <a:endParaRPr lang="en-US" sz="1600" dirty="0"/>
          </a:p>
        </p:txBody>
      </p:sp>
      <p:sp>
        <p:nvSpPr>
          <p:cNvPr id="4" name="Shape 2"/>
          <p:cNvSpPr/>
          <p:nvPr/>
        </p:nvSpPr>
        <p:spPr>
          <a:xfrm>
            <a:off x="365760" y="1417320"/>
            <a:ext cx="4023360" cy="365760"/>
          </a:xfrm>
          <a:prstGeom prst="rect">
            <a:avLst>
              <a:gd name="adj" fmla="val 25000"/>
            </a:avLst>
          </a:prstGeom>
          <a:solidFill>
            <a:srgbClr val="A8C5DD"/>
          </a:solidFill>
          <a:ln w="12700">
            <a:solidFill>
              <a:srgbClr val="000000"/>
            </a:solidFill>
            <a:prstDash val="solid"/>
          </a:ln>
        </p:spPr>
      </p:sp>
      <p:sp>
        <p:nvSpPr>
          <p:cNvPr id="5" name="Text 3"/>
          <p:cNvSpPr/>
          <p:nvPr/>
        </p:nvSpPr>
        <p:spPr>
          <a:xfrm>
            <a:off x="457200" y="1435608"/>
            <a:ext cx="3840480" cy="329184"/>
          </a:xfrm>
          <a:prstGeom prst="rect">
            <a:avLst/>
          </a:prstGeom>
          <a:noFill/>
          <a:ln/>
        </p:spPr>
        <p:txBody>
          <a:bodyPr wrap="square" rtlCol="0" anchor="ctr"/>
          <a:lstStyle/>
          <a:p>
            <a:pPr algn="l" indent="0" marL="0">
              <a:buNone/>
            </a:pPr>
            <a:r>
              <a:rPr lang="en-US" sz="1400" dirty="0">
                <a:solidFill>
                  <a:srgbClr val="000000"/>
                </a:solidFill>
              </a:rPr>
              <a:t>A. cut</a:t>
            </a:r>
            <a:endParaRPr lang="en-US" sz="1400" dirty="0"/>
          </a:p>
        </p:txBody>
      </p:sp>
      <p:sp>
        <p:nvSpPr>
          <p:cNvPr id="6" name="Shape 4"/>
          <p:cNvSpPr/>
          <p:nvPr/>
        </p:nvSpPr>
        <p:spPr>
          <a:xfrm>
            <a:off x="4754880" y="1417320"/>
            <a:ext cx="4023360" cy="365760"/>
          </a:xfrm>
          <a:prstGeom prst="rect">
            <a:avLst>
              <a:gd name="adj" fmla="val 25000"/>
            </a:avLst>
          </a:prstGeom>
          <a:solidFill>
            <a:srgbClr val="D5F4E6"/>
          </a:solidFill>
          <a:ln w="12700">
            <a:solidFill>
              <a:srgbClr val="27AE60"/>
            </a:solidFill>
            <a:prstDash val="solid"/>
          </a:ln>
        </p:spPr>
      </p:sp>
      <p:sp>
        <p:nvSpPr>
          <p:cNvPr id="7" name="Text 5"/>
          <p:cNvSpPr/>
          <p:nvPr/>
        </p:nvSpPr>
        <p:spPr>
          <a:xfrm>
            <a:off x="4846320" y="1435608"/>
            <a:ext cx="3840480" cy="329184"/>
          </a:xfrm>
          <a:prstGeom prst="rect">
            <a:avLst/>
          </a:prstGeom>
          <a:noFill/>
          <a:ln/>
        </p:spPr>
        <p:txBody>
          <a:bodyPr wrap="square" rtlCol="0" anchor="ctr"/>
          <a:lstStyle/>
          <a:p>
            <a:pPr algn="l" indent="0" marL="0">
              <a:buNone/>
            </a:pPr>
            <a:r>
              <a:rPr lang="en-US" sz="1400" dirty="0">
                <a:solidFill>
                  <a:srgbClr val="000000"/>
                </a:solidFill>
              </a:rPr>
              <a:t>B. cat ✓</a:t>
            </a:r>
            <a:endParaRPr lang="en-US" sz="1400" dirty="0"/>
          </a:p>
        </p:txBody>
      </p:sp>
      <p:sp>
        <p:nvSpPr>
          <p:cNvPr id="8" name="Shape 6"/>
          <p:cNvSpPr/>
          <p:nvPr/>
        </p:nvSpPr>
        <p:spPr>
          <a:xfrm>
            <a:off x="365760" y="1920240"/>
            <a:ext cx="4023360" cy="365760"/>
          </a:xfrm>
          <a:prstGeom prst="rect">
            <a:avLst>
              <a:gd name="adj" fmla="val 25000"/>
            </a:avLst>
          </a:prstGeom>
          <a:solidFill>
            <a:srgbClr val="A8C5DD"/>
          </a:solidFill>
          <a:ln w="12700">
            <a:solidFill>
              <a:srgbClr val="000000"/>
            </a:solidFill>
            <a:prstDash val="solid"/>
          </a:ln>
        </p:spPr>
      </p:sp>
      <p:sp>
        <p:nvSpPr>
          <p:cNvPr id="9" name="Text 7"/>
          <p:cNvSpPr/>
          <p:nvPr/>
        </p:nvSpPr>
        <p:spPr>
          <a:xfrm>
            <a:off x="457200" y="1938528"/>
            <a:ext cx="3840480" cy="329184"/>
          </a:xfrm>
          <a:prstGeom prst="rect">
            <a:avLst/>
          </a:prstGeom>
          <a:noFill/>
          <a:ln/>
        </p:spPr>
        <p:txBody>
          <a:bodyPr wrap="square" rtlCol="0" anchor="ctr"/>
          <a:lstStyle/>
          <a:p>
            <a:pPr algn="l" indent="0" marL="0">
              <a:buNone/>
            </a:pPr>
            <a:r>
              <a:rPr lang="en-US" sz="1400" dirty="0">
                <a:solidFill>
                  <a:srgbClr val="000000"/>
                </a:solidFill>
              </a:rPr>
              <a:t>C. cot</a:t>
            </a:r>
            <a:endParaRPr lang="en-US" sz="1400" dirty="0"/>
          </a:p>
        </p:txBody>
      </p:sp>
      <p:sp>
        <p:nvSpPr>
          <p:cNvPr id="10" name="Shape 8"/>
          <p:cNvSpPr/>
          <p:nvPr/>
        </p:nvSpPr>
        <p:spPr>
          <a:xfrm>
            <a:off x="4754880" y="1920240"/>
            <a:ext cx="4023360" cy="365760"/>
          </a:xfrm>
          <a:prstGeom prst="rect">
            <a:avLst>
              <a:gd name="adj" fmla="val 25000"/>
            </a:avLst>
          </a:prstGeom>
          <a:solidFill>
            <a:srgbClr val="A8C5DD"/>
          </a:solidFill>
          <a:ln w="12700">
            <a:solidFill>
              <a:srgbClr val="000000"/>
            </a:solidFill>
            <a:prstDash val="solid"/>
          </a:ln>
        </p:spPr>
      </p:sp>
      <p:sp>
        <p:nvSpPr>
          <p:cNvPr id="11" name="Text 9"/>
          <p:cNvSpPr/>
          <p:nvPr/>
        </p:nvSpPr>
        <p:spPr>
          <a:xfrm>
            <a:off x="4846320" y="1938528"/>
            <a:ext cx="3840480" cy="329184"/>
          </a:xfrm>
          <a:prstGeom prst="rect">
            <a:avLst/>
          </a:prstGeom>
          <a:noFill/>
          <a:ln/>
        </p:spPr>
        <p:txBody>
          <a:bodyPr wrap="square" rtlCol="0" anchor="ctr"/>
          <a:lstStyle/>
          <a:p>
            <a:pPr algn="l" indent="0" marL="0">
              <a:buNone/>
            </a:pPr>
            <a:r>
              <a:rPr lang="en-US" sz="1400" dirty="0">
                <a:solidFill>
                  <a:srgbClr val="000000"/>
                </a:solidFill>
              </a:rPr>
              <a:t>D. cap</a:t>
            </a:r>
            <a:endParaRPr lang="en-US" sz="1400" dirty="0"/>
          </a:p>
        </p:txBody>
      </p:sp>
      <p:sp>
        <p:nvSpPr>
          <p:cNvPr id="12" name="Text 10"/>
          <p:cNvSpPr/>
          <p:nvPr/>
        </p:nvSpPr>
        <p:spPr>
          <a:xfrm>
            <a:off x="365760" y="2331720"/>
            <a:ext cx="8412480" cy="320040"/>
          </a:xfrm>
          <a:prstGeom prst="rect">
            <a:avLst/>
          </a:prstGeom>
          <a:noFill/>
          <a:ln/>
        </p:spPr>
        <p:txBody>
          <a:bodyPr wrap="square" rtlCol="0" anchor="ctr"/>
          <a:lstStyle/>
          <a:p>
            <a:pPr indent="0" marL="0">
              <a:buNone/>
            </a:pPr>
            <a:r>
              <a:rPr lang="en-US" sz="1400" b="1" dirty="0">
                <a:solidFill>
                  <a:srgbClr val="27AE60"/>
                </a:solidFill>
              </a:rPr>
              <a:t>Correct!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3 of 20</a:t>
            </a:r>
            <a:endParaRPr lang="en-US" sz="1300" dirty="0"/>
          </a:p>
        </p:txBody>
      </p:sp>
      <p:sp>
        <p:nvSpPr>
          <p:cNvPr id="3" name="Text 1"/>
          <p:cNvSpPr/>
          <p:nvPr/>
        </p:nvSpPr>
        <p:spPr>
          <a:xfrm>
            <a:off x="365760" y="777240"/>
            <a:ext cx="8412480" cy="1645920"/>
          </a:xfrm>
          <a:prstGeom prst="rect">
            <a:avLst/>
          </a:prstGeom>
          <a:solidFill>
            <a:srgbClr val="5A3D6A"/>
          </a:solidFill>
          <a:ln/>
        </p:spPr>
        <p:txBody>
          <a:bodyPr wrap="square" lIns="101600" tIns="101600" rIns="101600" bIns="101600" rtlCol="0" anchor="ctr"/>
          <a:lstStyle/>
          <a:p>
            <a:pPr indent="0" marL="0">
              <a:buNone/>
            </a:pPr>
            <a:r>
              <a:rPr lang="en-US" sz="1300" dirty="0">
                <a:solidFill>
                  <a:srgbClr val="FFFFFF"/>
                </a:solidFill>
              </a:rPr>
              <a:t>Fireflies are small insects that glow in the dark. They live in warm places like bushes and trees. On summer nights, you can see them flashing like tiny lights in the sky.</a:t>
            </a:r>
            <a:endParaRPr lang="en-US" sz="1300" dirty="0"/>
          </a:p>
          <a:p>
            <a:pPr indent="0" marL="0">
              <a:buNone/>
            </a:pPr>
            <a:endParaRPr lang="en-US" sz="1300" dirty="0"/>
          </a:p>
          <a:p>
            <a:pPr indent="0" marL="0">
              <a:buNone/>
            </a:pPr>
            <a:r>
              <a:rPr lang="en-US" sz="1300" dirty="0">
                <a:solidFill>
                  <a:srgbClr val="FFFFFF"/>
                </a:solidFill>
              </a:rPr>
              <a:t>Fireflies make light in their bellies. The light helps them talk to other fireflies. Male fireflies flash to find females. Females flash back to say hello.</a:t>
            </a:r>
            <a:endParaRPr lang="en-US" sz="1300" dirty="0"/>
          </a:p>
          <a:p>
            <a:pPr indent="0" marL="0">
              <a:buNone/>
            </a:pPr>
            <a:endParaRPr lang="en-US" sz="1300" dirty="0"/>
          </a:p>
          <a:p>
            <a:pPr indent="0" marL="0">
              <a:buNone/>
            </a:pPr>
            <a:r>
              <a:rPr lang="en-US" sz="1300" dirty="0">
                <a:solidFill>
                  <a:srgbClr val="FFFFFF"/>
                </a:solidFill>
              </a:rPr>
              <a:t>Fireflies eat small bugs. They sleep during the day and wake up at night. This is called being nocturnal. Many animals are nocturnal too.</a:t>
            </a:r>
            <a:endParaRPr lang="en-US" sz="1300" dirty="0"/>
          </a:p>
          <a:p>
            <a:pPr indent="0" marL="0">
              <a:buNone/>
            </a:pPr>
            <a:endParaRPr lang="en-US" sz="1300" dirty="0"/>
          </a:p>
          <a:p>
            <a:pPr indent="0" marL="0">
              <a:buNone/>
            </a:pPr>
            <a:r>
              <a:rPr lang="en-US" sz="1300" dirty="0">
                <a:solidFill>
                  <a:srgbClr val="FFFFFF"/>
                </a:solidFill>
              </a:rPr>
              <a:t>If you see fireflies, watch them carefully. Never touch them because they are delicate. Just enjoy watching their beautiful light show in the night sky!</a:t>
            </a:r>
            <a:endParaRPr lang="en-US" sz="1300" dirty="0"/>
          </a:p>
        </p:txBody>
      </p:sp>
      <p:sp>
        <p:nvSpPr>
          <p:cNvPr id="4" name="Text 2"/>
          <p:cNvSpPr/>
          <p:nvPr/>
        </p:nvSpPr>
        <p:spPr>
          <a:xfrm>
            <a:off x="365760" y="2606040"/>
            <a:ext cx="8412480" cy="457200"/>
          </a:xfrm>
          <a:prstGeom prst="rect">
            <a:avLst/>
          </a:prstGeom>
          <a:noFill/>
          <a:ln/>
        </p:spPr>
        <p:txBody>
          <a:bodyPr wrap="square" rtlCol="0" anchor="ctr"/>
          <a:lstStyle/>
          <a:p>
            <a:pPr indent="0" marL="0">
              <a:buNone/>
            </a:pPr>
            <a:r>
              <a:rPr lang="en-US" sz="1600" b="1" dirty="0">
                <a:solidFill>
                  <a:srgbClr val="FFFFFF"/>
                </a:solidFill>
              </a:rPr>
              <a:t>What is this passage mostly about?</a:t>
            </a:r>
            <a:endParaRPr lang="en-US" sz="1600" dirty="0"/>
          </a:p>
        </p:txBody>
      </p:sp>
      <p:sp>
        <p:nvSpPr>
          <p:cNvPr id="5" name="Shape 3"/>
          <p:cNvSpPr/>
          <p:nvPr/>
        </p:nvSpPr>
        <p:spPr>
          <a:xfrm>
            <a:off x="365760" y="3246120"/>
            <a:ext cx="4023360" cy="365760"/>
          </a:xfrm>
          <a:prstGeom prst="rect">
            <a:avLst>
              <a:gd name="adj" fmla="val 25000"/>
            </a:avLst>
          </a:prstGeom>
          <a:solidFill>
            <a:srgbClr val="A8C5DD"/>
          </a:solidFill>
          <a:ln w="12700">
            <a:solidFill>
              <a:srgbClr val="000000"/>
            </a:solidFill>
            <a:prstDash val="solid"/>
          </a:ln>
        </p:spPr>
      </p:sp>
      <p:sp>
        <p:nvSpPr>
          <p:cNvPr id="6" name="Text 4"/>
          <p:cNvSpPr/>
          <p:nvPr/>
        </p:nvSpPr>
        <p:spPr>
          <a:xfrm>
            <a:off x="457200" y="3264408"/>
            <a:ext cx="3840480" cy="329184"/>
          </a:xfrm>
          <a:prstGeom prst="rect">
            <a:avLst/>
          </a:prstGeom>
          <a:noFill/>
          <a:ln/>
        </p:spPr>
        <p:txBody>
          <a:bodyPr wrap="square" rtlCol="0" anchor="ctr"/>
          <a:lstStyle/>
          <a:p>
            <a:pPr algn="l" indent="0" marL="0">
              <a:buNone/>
            </a:pPr>
            <a:r>
              <a:rPr lang="en-US" sz="1400" dirty="0">
                <a:solidFill>
                  <a:srgbClr val="000000"/>
                </a:solidFill>
              </a:rPr>
              <a:t>A. How fireflies glow in the dark</a:t>
            </a:r>
            <a:endParaRPr lang="en-US" sz="1400" dirty="0"/>
          </a:p>
        </p:txBody>
      </p:sp>
      <p:sp>
        <p:nvSpPr>
          <p:cNvPr id="7" name="Shape 5"/>
          <p:cNvSpPr/>
          <p:nvPr/>
        </p:nvSpPr>
        <p:spPr>
          <a:xfrm>
            <a:off x="4754880" y="3246120"/>
            <a:ext cx="4023360" cy="365760"/>
          </a:xfrm>
          <a:prstGeom prst="rect">
            <a:avLst>
              <a:gd name="adj" fmla="val 25000"/>
            </a:avLst>
          </a:prstGeom>
          <a:solidFill>
            <a:srgbClr val="A8C5DD"/>
          </a:solidFill>
          <a:ln w="12700">
            <a:solidFill>
              <a:srgbClr val="000000"/>
            </a:solidFill>
            <a:prstDash val="solid"/>
          </a:ln>
        </p:spPr>
      </p:sp>
      <p:sp>
        <p:nvSpPr>
          <p:cNvPr id="8" name="Text 6"/>
          <p:cNvSpPr/>
          <p:nvPr/>
        </p:nvSpPr>
        <p:spPr>
          <a:xfrm>
            <a:off x="4846320" y="3264408"/>
            <a:ext cx="3840480" cy="329184"/>
          </a:xfrm>
          <a:prstGeom prst="rect">
            <a:avLst/>
          </a:prstGeom>
          <a:noFill/>
          <a:ln/>
        </p:spPr>
        <p:txBody>
          <a:bodyPr wrap="square" rtlCol="0" anchor="ctr"/>
          <a:lstStyle/>
          <a:p>
            <a:pPr algn="l" indent="0" marL="0">
              <a:buNone/>
            </a:pPr>
            <a:r>
              <a:rPr lang="en-US" sz="1400" dirty="0">
                <a:solidFill>
                  <a:srgbClr val="000000"/>
                </a:solidFill>
              </a:rPr>
              <a:t>B. Different types of insects</a:t>
            </a:r>
            <a:endParaRPr lang="en-US" sz="1400" dirty="0"/>
          </a:p>
        </p:txBody>
      </p:sp>
      <p:sp>
        <p:nvSpPr>
          <p:cNvPr id="9" name="Shape 7"/>
          <p:cNvSpPr/>
          <p:nvPr/>
        </p:nvSpPr>
        <p:spPr>
          <a:xfrm>
            <a:off x="365760" y="3749040"/>
            <a:ext cx="4023360" cy="365760"/>
          </a:xfrm>
          <a:prstGeom prst="rect">
            <a:avLst>
              <a:gd name="adj" fmla="val 25000"/>
            </a:avLst>
          </a:prstGeom>
          <a:solidFill>
            <a:srgbClr val="A8C5DD"/>
          </a:solidFill>
          <a:ln w="12700">
            <a:solidFill>
              <a:srgbClr val="000000"/>
            </a:solidFill>
            <a:prstDash val="solid"/>
          </a:ln>
        </p:spPr>
      </p:sp>
      <p:sp>
        <p:nvSpPr>
          <p:cNvPr id="10" name="Text 8"/>
          <p:cNvSpPr/>
          <p:nvPr/>
        </p:nvSpPr>
        <p:spPr>
          <a:xfrm>
            <a:off x="457200" y="3767328"/>
            <a:ext cx="3840480" cy="329184"/>
          </a:xfrm>
          <a:prstGeom prst="rect">
            <a:avLst/>
          </a:prstGeom>
          <a:noFill/>
          <a:ln/>
        </p:spPr>
        <p:txBody>
          <a:bodyPr wrap="square" rtlCol="0" anchor="ctr"/>
          <a:lstStyle/>
          <a:p>
            <a:pPr algn="l" indent="0" marL="0">
              <a:buNone/>
            </a:pPr>
            <a:r>
              <a:rPr lang="en-US" sz="1400" dirty="0">
                <a:solidFill>
                  <a:srgbClr val="000000"/>
                </a:solidFill>
              </a:rPr>
              <a:t>C. Where bugs live</a:t>
            </a:r>
            <a:endParaRPr lang="en-US" sz="1400" dirty="0"/>
          </a:p>
        </p:txBody>
      </p:sp>
      <p:sp>
        <p:nvSpPr>
          <p:cNvPr id="11" name="Shape 9"/>
          <p:cNvSpPr/>
          <p:nvPr/>
        </p:nvSpPr>
        <p:spPr>
          <a:xfrm>
            <a:off x="4754880" y="3749040"/>
            <a:ext cx="4023360" cy="365760"/>
          </a:xfrm>
          <a:prstGeom prst="rect">
            <a:avLst>
              <a:gd name="adj" fmla="val 25000"/>
            </a:avLst>
          </a:prstGeom>
          <a:solidFill>
            <a:srgbClr val="A8C5DD"/>
          </a:solidFill>
          <a:ln w="12700">
            <a:solidFill>
              <a:srgbClr val="000000"/>
            </a:solidFill>
            <a:prstDash val="solid"/>
          </a:ln>
        </p:spPr>
      </p:sp>
      <p:sp>
        <p:nvSpPr>
          <p:cNvPr id="12" name="Text 10"/>
          <p:cNvSpPr/>
          <p:nvPr/>
        </p:nvSpPr>
        <p:spPr>
          <a:xfrm>
            <a:off x="4846320" y="3767328"/>
            <a:ext cx="3840480" cy="329184"/>
          </a:xfrm>
          <a:prstGeom prst="rect">
            <a:avLst/>
          </a:prstGeom>
          <a:noFill/>
          <a:ln/>
        </p:spPr>
        <p:txBody>
          <a:bodyPr wrap="square" rtlCol="0" anchor="ctr"/>
          <a:lstStyle/>
          <a:p>
            <a:pPr algn="l" indent="0" marL="0">
              <a:buNone/>
            </a:pPr>
            <a:r>
              <a:rPr lang="en-US" sz="1400" dirty="0">
                <a:solidFill>
                  <a:srgbClr val="000000"/>
                </a:solidFill>
              </a:rPr>
              <a:t>D. How to catch fireflies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3 - Answer</a:t>
            </a:r>
            <a:endParaRPr lang="en-US" sz="1300" dirty="0"/>
          </a:p>
        </p:txBody>
      </p:sp>
      <p:sp>
        <p:nvSpPr>
          <p:cNvPr id="3" name="Text 1"/>
          <p:cNvSpPr/>
          <p:nvPr/>
        </p:nvSpPr>
        <p:spPr>
          <a:xfrm>
            <a:off x="365760" y="777240"/>
            <a:ext cx="8412480" cy="1645920"/>
          </a:xfrm>
          <a:prstGeom prst="rect">
            <a:avLst/>
          </a:prstGeom>
          <a:solidFill>
            <a:srgbClr val="5A3D6A"/>
          </a:solidFill>
          <a:ln/>
        </p:spPr>
        <p:txBody>
          <a:bodyPr wrap="square" lIns="101600" tIns="101600" rIns="101600" bIns="101600" rtlCol="0" anchor="ctr"/>
          <a:lstStyle/>
          <a:p>
            <a:pPr indent="0" marL="0">
              <a:buNone/>
            </a:pPr>
            <a:r>
              <a:rPr lang="en-US" sz="1300" dirty="0">
                <a:solidFill>
                  <a:srgbClr val="FFFFFF"/>
                </a:solidFill>
              </a:rPr>
              <a:t>Fireflies are small insects that glow in the dark. They live in warm places like bushes and trees. On summer nights, you can see them flashing like tiny lights in the sky.</a:t>
            </a:r>
            <a:endParaRPr lang="en-US" sz="1300" dirty="0"/>
          </a:p>
          <a:p>
            <a:pPr indent="0" marL="0">
              <a:buNone/>
            </a:pPr>
            <a:endParaRPr lang="en-US" sz="1300" dirty="0"/>
          </a:p>
          <a:p>
            <a:pPr indent="0" marL="0">
              <a:buNone/>
            </a:pPr>
            <a:r>
              <a:rPr lang="en-US" sz="1300" dirty="0">
                <a:solidFill>
                  <a:srgbClr val="FFFFFF"/>
                </a:solidFill>
              </a:rPr>
              <a:t>Fireflies make light in their bellies. The light helps them talk to other fireflies. Male fireflies flash to find females. Females flash back to say hello.</a:t>
            </a:r>
            <a:endParaRPr lang="en-US" sz="1300" dirty="0"/>
          </a:p>
          <a:p>
            <a:pPr indent="0" marL="0">
              <a:buNone/>
            </a:pPr>
            <a:endParaRPr lang="en-US" sz="1300" dirty="0"/>
          </a:p>
          <a:p>
            <a:pPr indent="0" marL="0">
              <a:buNone/>
            </a:pPr>
            <a:r>
              <a:rPr lang="en-US" sz="1300" dirty="0">
                <a:solidFill>
                  <a:srgbClr val="FFFFFF"/>
                </a:solidFill>
              </a:rPr>
              <a:t>Fireflies eat small bugs. They sleep during the day and wake up at night. This is called being nocturnal. Many animals are nocturnal too.</a:t>
            </a:r>
            <a:endParaRPr lang="en-US" sz="1300" dirty="0"/>
          </a:p>
          <a:p>
            <a:pPr indent="0" marL="0">
              <a:buNone/>
            </a:pPr>
            <a:endParaRPr lang="en-US" sz="1300" dirty="0"/>
          </a:p>
          <a:p>
            <a:pPr indent="0" marL="0">
              <a:buNone/>
            </a:pPr>
            <a:r>
              <a:rPr lang="en-US" sz="1300" dirty="0">
                <a:solidFill>
                  <a:srgbClr val="FFFFFF"/>
                </a:solidFill>
              </a:rPr>
              <a:t>If you see fireflies, watch them carefully. Never touch them because they are delicate. Just enjoy watching their beautiful light show in the night sky!</a:t>
            </a:r>
            <a:endParaRPr lang="en-US" sz="1300" dirty="0"/>
          </a:p>
        </p:txBody>
      </p:sp>
      <p:sp>
        <p:nvSpPr>
          <p:cNvPr id="4" name="Text 2"/>
          <p:cNvSpPr/>
          <p:nvPr/>
        </p:nvSpPr>
        <p:spPr>
          <a:xfrm>
            <a:off x="365760" y="2606040"/>
            <a:ext cx="8412480" cy="457200"/>
          </a:xfrm>
          <a:prstGeom prst="rect">
            <a:avLst/>
          </a:prstGeom>
          <a:noFill/>
          <a:ln/>
        </p:spPr>
        <p:txBody>
          <a:bodyPr wrap="square" rtlCol="0" anchor="ctr"/>
          <a:lstStyle/>
          <a:p>
            <a:pPr indent="0" marL="0">
              <a:buNone/>
            </a:pPr>
            <a:r>
              <a:rPr lang="en-US" sz="1600" b="1" dirty="0">
                <a:solidFill>
                  <a:srgbClr val="FFFFFF"/>
                </a:solidFill>
              </a:rPr>
              <a:t>What is this passage mostly about?</a:t>
            </a:r>
            <a:endParaRPr lang="en-US" sz="1600" dirty="0"/>
          </a:p>
        </p:txBody>
      </p:sp>
      <p:sp>
        <p:nvSpPr>
          <p:cNvPr id="5" name="Shape 3"/>
          <p:cNvSpPr/>
          <p:nvPr/>
        </p:nvSpPr>
        <p:spPr>
          <a:xfrm>
            <a:off x="365760" y="3246120"/>
            <a:ext cx="4023360" cy="365760"/>
          </a:xfrm>
          <a:prstGeom prst="rect">
            <a:avLst>
              <a:gd name="adj" fmla="val 25000"/>
            </a:avLst>
          </a:prstGeom>
          <a:solidFill>
            <a:srgbClr val="D5F4E6"/>
          </a:solidFill>
          <a:ln w="12700">
            <a:solidFill>
              <a:srgbClr val="27AE60"/>
            </a:solidFill>
            <a:prstDash val="solid"/>
          </a:ln>
        </p:spPr>
      </p:sp>
      <p:sp>
        <p:nvSpPr>
          <p:cNvPr id="6" name="Text 4"/>
          <p:cNvSpPr/>
          <p:nvPr/>
        </p:nvSpPr>
        <p:spPr>
          <a:xfrm>
            <a:off x="457200" y="3264408"/>
            <a:ext cx="3840480" cy="329184"/>
          </a:xfrm>
          <a:prstGeom prst="rect">
            <a:avLst/>
          </a:prstGeom>
          <a:noFill/>
          <a:ln/>
        </p:spPr>
        <p:txBody>
          <a:bodyPr wrap="square" rtlCol="0" anchor="ctr"/>
          <a:lstStyle/>
          <a:p>
            <a:pPr algn="l" indent="0" marL="0">
              <a:buNone/>
            </a:pPr>
            <a:r>
              <a:rPr lang="en-US" sz="1400" dirty="0">
                <a:solidFill>
                  <a:srgbClr val="000000"/>
                </a:solidFill>
              </a:rPr>
              <a:t>A. How fireflies glow in the dark ✓</a:t>
            </a:r>
            <a:endParaRPr lang="en-US" sz="1400" dirty="0"/>
          </a:p>
        </p:txBody>
      </p:sp>
      <p:sp>
        <p:nvSpPr>
          <p:cNvPr id="7" name="Shape 5"/>
          <p:cNvSpPr/>
          <p:nvPr/>
        </p:nvSpPr>
        <p:spPr>
          <a:xfrm>
            <a:off x="4754880" y="3246120"/>
            <a:ext cx="4023360" cy="365760"/>
          </a:xfrm>
          <a:prstGeom prst="rect">
            <a:avLst>
              <a:gd name="adj" fmla="val 25000"/>
            </a:avLst>
          </a:prstGeom>
          <a:solidFill>
            <a:srgbClr val="A8C5DD"/>
          </a:solidFill>
          <a:ln w="12700">
            <a:solidFill>
              <a:srgbClr val="000000"/>
            </a:solidFill>
            <a:prstDash val="solid"/>
          </a:ln>
        </p:spPr>
      </p:sp>
      <p:sp>
        <p:nvSpPr>
          <p:cNvPr id="8" name="Text 6"/>
          <p:cNvSpPr/>
          <p:nvPr/>
        </p:nvSpPr>
        <p:spPr>
          <a:xfrm>
            <a:off x="4846320" y="3264408"/>
            <a:ext cx="3840480" cy="329184"/>
          </a:xfrm>
          <a:prstGeom prst="rect">
            <a:avLst/>
          </a:prstGeom>
          <a:noFill/>
          <a:ln/>
        </p:spPr>
        <p:txBody>
          <a:bodyPr wrap="square" rtlCol="0" anchor="ctr"/>
          <a:lstStyle/>
          <a:p>
            <a:pPr algn="l" indent="0" marL="0">
              <a:buNone/>
            </a:pPr>
            <a:r>
              <a:rPr lang="en-US" sz="1400" dirty="0">
                <a:solidFill>
                  <a:srgbClr val="000000"/>
                </a:solidFill>
              </a:rPr>
              <a:t>B. Different types of insects</a:t>
            </a:r>
            <a:endParaRPr lang="en-US" sz="1400" dirty="0"/>
          </a:p>
        </p:txBody>
      </p:sp>
      <p:sp>
        <p:nvSpPr>
          <p:cNvPr id="9" name="Shape 7"/>
          <p:cNvSpPr/>
          <p:nvPr/>
        </p:nvSpPr>
        <p:spPr>
          <a:xfrm>
            <a:off x="365760" y="3749040"/>
            <a:ext cx="4023360" cy="365760"/>
          </a:xfrm>
          <a:prstGeom prst="rect">
            <a:avLst>
              <a:gd name="adj" fmla="val 25000"/>
            </a:avLst>
          </a:prstGeom>
          <a:solidFill>
            <a:srgbClr val="A8C5DD"/>
          </a:solidFill>
          <a:ln w="12700">
            <a:solidFill>
              <a:srgbClr val="000000"/>
            </a:solidFill>
            <a:prstDash val="solid"/>
          </a:ln>
        </p:spPr>
      </p:sp>
      <p:sp>
        <p:nvSpPr>
          <p:cNvPr id="10" name="Text 8"/>
          <p:cNvSpPr/>
          <p:nvPr/>
        </p:nvSpPr>
        <p:spPr>
          <a:xfrm>
            <a:off x="457200" y="3767328"/>
            <a:ext cx="3840480" cy="329184"/>
          </a:xfrm>
          <a:prstGeom prst="rect">
            <a:avLst/>
          </a:prstGeom>
          <a:noFill/>
          <a:ln/>
        </p:spPr>
        <p:txBody>
          <a:bodyPr wrap="square" rtlCol="0" anchor="ctr"/>
          <a:lstStyle/>
          <a:p>
            <a:pPr algn="l" indent="0" marL="0">
              <a:buNone/>
            </a:pPr>
            <a:r>
              <a:rPr lang="en-US" sz="1400" dirty="0">
                <a:solidFill>
                  <a:srgbClr val="000000"/>
                </a:solidFill>
              </a:rPr>
              <a:t>C. Where bugs live</a:t>
            </a:r>
            <a:endParaRPr lang="en-US" sz="1400" dirty="0"/>
          </a:p>
        </p:txBody>
      </p:sp>
      <p:sp>
        <p:nvSpPr>
          <p:cNvPr id="11" name="Shape 9"/>
          <p:cNvSpPr/>
          <p:nvPr/>
        </p:nvSpPr>
        <p:spPr>
          <a:xfrm>
            <a:off x="4754880" y="3749040"/>
            <a:ext cx="4023360" cy="365760"/>
          </a:xfrm>
          <a:prstGeom prst="rect">
            <a:avLst>
              <a:gd name="adj" fmla="val 25000"/>
            </a:avLst>
          </a:prstGeom>
          <a:solidFill>
            <a:srgbClr val="A8C5DD"/>
          </a:solidFill>
          <a:ln w="12700">
            <a:solidFill>
              <a:srgbClr val="000000"/>
            </a:solidFill>
            <a:prstDash val="solid"/>
          </a:ln>
        </p:spPr>
      </p:sp>
      <p:sp>
        <p:nvSpPr>
          <p:cNvPr id="12" name="Text 10"/>
          <p:cNvSpPr/>
          <p:nvPr/>
        </p:nvSpPr>
        <p:spPr>
          <a:xfrm>
            <a:off x="4846320" y="3767328"/>
            <a:ext cx="3840480" cy="329184"/>
          </a:xfrm>
          <a:prstGeom prst="rect">
            <a:avLst/>
          </a:prstGeom>
          <a:noFill/>
          <a:ln/>
        </p:spPr>
        <p:txBody>
          <a:bodyPr wrap="square" rtlCol="0" anchor="ctr"/>
          <a:lstStyle/>
          <a:p>
            <a:pPr algn="l" indent="0" marL="0">
              <a:buNone/>
            </a:pPr>
            <a:r>
              <a:rPr lang="en-US" sz="1400" dirty="0">
                <a:solidFill>
                  <a:srgbClr val="000000"/>
                </a:solidFill>
              </a:rPr>
              <a:t>D. How to catch fireflies</a:t>
            </a:r>
            <a:endParaRPr lang="en-US" sz="1400" dirty="0"/>
          </a:p>
        </p:txBody>
      </p:sp>
      <p:sp>
        <p:nvSpPr>
          <p:cNvPr id="13" name="Text 11"/>
          <p:cNvSpPr/>
          <p:nvPr/>
        </p:nvSpPr>
        <p:spPr>
          <a:xfrm>
            <a:off x="365760" y="4160520"/>
            <a:ext cx="8412480" cy="320040"/>
          </a:xfrm>
          <a:prstGeom prst="rect">
            <a:avLst/>
          </a:prstGeom>
          <a:noFill/>
          <a:ln/>
        </p:spPr>
        <p:txBody>
          <a:bodyPr wrap="square" rtlCol="0" anchor="ctr"/>
          <a:lstStyle/>
          <a:p>
            <a:pPr indent="0" marL="0">
              <a:buNone/>
            </a:pPr>
            <a:r>
              <a:rPr lang="en-US" sz="1400" b="1" dirty="0">
                <a:solidFill>
                  <a:srgbClr val="27AE60"/>
                </a:solidFill>
              </a:rPr>
              <a:t>Correct!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4 of 20</a:t>
            </a:r>
            <a:endParaRPr lang="en-US" sz="1300" dirty="0"/>
          </a:p>
        </p:txBody>
      </p:sp>
      <p:sp>
        <p:nvSpPr>
          <p:cNvPr id="3" name="Text 1"/>
          <p:cNvSpPr/>
          <p:nvPr/>
        </p:nvSpPr>
        <p:spPr>
          <a:xfrm>
            <a:off x="365760" y="777240"/>
            <a:ext cx="8412480" cy="1645920"/>
          </a:xfrm>
          <a:prstGeom prst="rect">
            <a:avLst/>
          </a:prstGeom>
          <a:solidFill>
            <a:srgbClr val="5A3D6A"/>
          </a:solidFill>
          <a:ln/>
        </p:spPr>
        <p:txBody>
          <a:bodyPr wrap="square" lIns="101600" tIns="101600" rIns="101600" bIns="101600" rtlCol="0" anchor="ctr"/>
          <a:lstStyle/>
          <a:p>
            <a:pPr indent="0" marL="0">
              <a:buNone/>
            </a:pPr>
            <a:r>
              <a:rPr lang="en-US" sz="1300" dirty="0">
                <a:solidFill>
                  <a:srgbClr val="FFFFFF"/>
                </a:solidFill>
              </a:rPr>
              <a:t>Fireflies are small insects that glow in the dark. They live in warm places like bushes and trees. On summer nights, you can see them flashing like tiny lights in the sky.</a:t>
            </a:r>
            <a:endParaRPr lang="en-US" sz="1300" dirty="0"/>
          </a:p>
          <a:p>
            <a:pPr indent="0" marL="0">
              <a:buNone/>
            </a:pPr>
            <a:endParaRPr lang="en-US" sz="1300" dirty="0"/>
          </a:p>
          <a:p>
            <a:pPr indent="0" marL="0">
              <a:buNone/>
            </a:pPr>
            <a:r>
              <a:rPr lang="en-US" sz="1300" dirty="0">
                <a:solidFill>
                  <a:srgbClr val="FFFFFF"/>
                </a:solidFill>
              </a:rPr>
              <a:t>Fireflies make light in their bellies. The light helps them talk to other fireflies. Male fireflies flash to find females. Females flash back to say hello.</a:t>
            </a:r>
            <a:endParaRPr lang="en-US" sz="1300" dirty="0"/>
          </a:p>
          <a:p>
            <a:pPr indent="0" marL="0">
              <a:buNone/>
            </a:pPr>
            <a:endParaRPr lang="en-US" sz="1300" dirty="0"/>
          </a:p>
          <a:p>
            <a:pPr indent="0" marL="0">
              <a:buNone/>
            </a:pPr>
            <a:r>
              <a:rPr lang="en-US" sz="1300" dirty="0">
                <a:solidFill>
                  <a:srgbClr val="FFFFFF"/>
                </a:solidFill>
              </a:rPr>
              <a:t>Fireflies eat small bugs. They sleep during the day and wake up at night. This is called being nocturnal. Many animals are nocturnal too.</a:t>
            </a:r>
            <a:endParaRPr lang="en-US" sz="1300" dirty="0"/>
          </a:p>
          <a:p>
            <a:pPr indent="0" marL="0">
              <a:buNone/>
            </a:pPr>
            <a:endParaRPr lang="en-US" sz="1300" dirty="0"/>
          </a:p>
          <a:p>
            <a:pPr indent="0" marL="0">
              <a:buNone/>
            </a:pPr>
            <a:r>
              <a:rPr lang="en-US" sz="1300" dirty="0">
                <a:solidFill>
                  <a:srgbClr val="FFFFFF"/>
                </a:solidFill>
              </a:rPr>
              <a:t>If you see fireflies, watch them carefully. Never touch them because they are delicate. Just enjoy watching their beautiful light show in the night sky!</a:t>
            </a:r>
            <a:endParaRPr lang="en-US" sz="1300" dirty="0"/>
          </a:p>
        </p:txBody>
      </p:sp>
      <p:sp>
        <p:nvSpPr>
          <p:cNvPr id="4" name="Text 2"/>
          <p:cNvSpPr/>
          <p:nvPr/>
        </p:nvSpPr>
        <p:spPr>
          <a:xfrm>
            <a:off x="365760" y="2606040"/>
            <a:ext cx="8412480" cy="457200"/>
          </a:xfrm>
          <a:prstGeom prst="rect">
            <a:avLst/>
          </a:prstGeom>
          <a:noFill/>
          <a:ln/>
        </p:spPr>
        <p:txBody>
          <a:bodyPr wrap="square" rtlCol="0" anchor="ctr"/>
          <a:lstStyle/>
          <a:p>
            <a:pPr indent="0" marL="0">
              <a:buNone/>
            </a:pPr>
            <a:r>
              <a:rPr lang="en-US" sz="1600" b="1" dirty="0">
                <a:solidFill>
                  <a:srgbClr val="FFFFFF"/>
                </a:solidFill>
              </a:rPr>
              <a:t>Where do fireflies live?</a:t>
            </a:r>
            <a:endParaRPr lang="en-US" sz="1600" dirty="0"/>
          </a:p>
        </p:txBody>
      </p:sp>
      <p:sp>
        <p:nvSpPr>
          <p:cNvPr id="5" name="Shape 3"/>
          <p:cNvSpPr/>
          <p:nvPr/>
        </p:nvSpPr>
        <p:spPr>
          <a:xfrm>
            <a:off x="365760" y="3246120"/>
            <a:ext cx="4023360" cy="365760"/>
          </a:xfrm>
          <a:prstGeom prst="rect">
            <a:avLst>
              <a:gd name="adj" fmla="val 25000"/>
            </a:avLst>
          </a:prstGeom>
          <a:solidFill>
            <a:srgbClr val="A8C5DD"/>
          </a:solidFill>
          <a:ln w="12700">
            <a:solidFill>
              <a:srgbClr val="000000"/>
            </a:solidFill>
            <a:prstDash val="solid"/>
          </a:ln>
        </p:spPr>
      </p:sp>
      <p:sp>
        <p:nvSpPr>
          <p:cNvPr id="6" name="Text 4"/>
          <p:cNvSpPr/>
          <p:nvPr/>
        </p:nvSpPr>
        <p:spPr>
          <a:xfrm>
            <a:off x="457200" y="3264408"/>
            <a:ext cx="3840480" cy="329184"/>
          </a:xfrm>
          <a:prstGeom prst="rect">
            <a:avLst/>
          </a:prstGeom>
          <a:noFill/>
          <a:ln/>
        </p:spPr>
        <p:txBody>
          <a:bodyPr wrap="square" rtlCol="0" anchor="ctr"/>
          <a:lstStyle/>
          <a:p>
            <a:pPr algn="l" indent="0" marL="0">
              <a:buNone/>
            </a:pPr>
            <a:r>
              <a:rPr lang="en-US" sz="1400" dirty="0">
                <a:solidFill>
                  <a:srgbClr val="000000"/>
                </a:solidFill>
              </a:rPr>
              <a:t>A. In the ocean</a:t>
            </a:r>
            <a:endParaRPr lang="en-US" sz="1400" dirty="0"/>
          </a:p>
        </p:txBody>
      </p:sp>
      <p:sp>
        <p:nvSpPr>
          <p:cNvPr id="7" name="Shape 5"/>
          <p:cNvSpPr/>
          <p:nvPr/>
        </p:nvSpPr>
        <p:spPr>
          <a:xfrm>
            <a:off x="4754880" y="3246120"/>
            <a:ext cx="4023360" cy="365760"/>
          </a:xfrm>
          <a:prstGeom prst="rect">
            <a:avLst>
              <a:gd name="adj" fmla="val 25000"/>
            </a:avLst>
          </a:prstGeom>
          <a:solidFill>
            <a:srgbClr val="A8C5DD"/>
          </a:solidFill>
          <a:ln w="12700">
            <a:solidFill>
              <a:srgbClr val="000000"/>
            </a:solidFill>
            <a:prstDash val="solid"/>
          </a:ln>
        </p:spPr>
      </p:sp>
      <p:sp>
        <p:nvSpPr>
          <p:cNvPr id="8" name="Text 6"/>
          <p:cNvSpPr/>
          <p:nvPr/>
        </p:nvSpPr>
        <p:spPr>
          <a:xfrm>
            <a:off x="4846320" y="3264408"/>
            <a:ext cx="3840480" cy="329184"/>
          </a:xfrm>
          <a:prstGeom prst="rect">
            <a:avLst/>
          </a:prstGeom>
          <a:noFill/>
          <a:ln/>
        </p:spPr>
        <p:txBody>
          <a:bodyPr wrap="square" rtlCol="0" anchor="ctr"/>
          <a:lstStyle/>
          <a:p>
            <a:pPr algn="l" indent="0" marL="0">
              <a:buNone/>
            </a:pPr>
            <a:r>
              <a:rPr lang="en-US" sz="1400" dirty="0">
                <a:solidFill>
                  <a:srgbClr val="000000"/>
                </a:solidFill>
              </a:rPr>
              <a:t>B. In trees and bushes</a:t>
            </a:r>
            <a:endParaRPr lang="en-US" sz="1400" dirty="0"/>
          </a:p>
        </p:txBody>
      </p:sp>
      <p:sp>
        <p:nvSpPr>
          <p:cNvPr id="9" name="Shape 7"/>
          <p:cNvSpPr/>
          <p:nvPr/>
        </p:nvSpPr>
        <p:spPr>
          <a:xfrm>
            <a:off x="365760" y="3749040"/>
            <a:ext cx="4023360" cy="365760"/>
          </a:xfrm>
          <a:prstGeom prst="rect">
            <a:avLst>
              <a:gd name="adj" fmla="val 25000"/>
            </a:avLst>
          </a:prstGeom>
          <a:solidFill>
            <a:srgbClr val="A8C5DD"/>
          </a:solidFill>
          <a:ln w="12700">
            <a:solidFill>
              <a:srgbClr val="000000"/>
            </a:solidFill>
            <a:prstDash val="solid"/>
          </a:ln>
        </p:spPr>
      </p:sp>
      <p:sp>
        <p:nvSpPr>
          <p:cNvPr id="10" name="Text 8"/>
          <p:cNvSpPr/>
          <p:nvPr/>
        </p:nvSpPr>
        <p:spPr>
          <a:xfrm>
            <a:off x="457200" y="3767328"/>
            <a:ext cx="3840480" cy="329184"/>
          </a:xfrm>
          <a:prstGeom prst="rect">
            <a:avLst/>
          </a:prstGeom>
          <a:noFill/>
          <a:ln/>
        </p:spPr>
        <p:txBody>
          <a:bodyPr wrap="square" rtlCol="0" anchor="ctr"/>
          <a:lstStyle/>
          <a:p>
            <a:pPr algn="l" indent="0" marL="0">
              <a:buNone/>
            </a:pPr>
            <a:r>
              <a:rPr lang="en-US" sz="1400" dirty="0">
                <a:solidFill>
                  <a:srgbClr val="000000"/>
                </a:solidFill>
              </a:rPr>
              <a:t>C. Underground</a:t>
            </a:r>
            <a:endParaRPr lang="en-US" sz="1400" dirty="0"/>
          </a:p>
        </p:txBody>
      </p:sp>
      <p:sp>
        <p:nvSpPr>
          <p:cNvPr id="11" name="Shape 9"/>
          <p:cNvSpPr/>
          <p:nvPr/>
        </p:nvSpPr>
        <p:spPr>
          <a:xfrm>
            <a:off x="4754880" y="3749040"/>
            <a:ext cx="4023360" cy="365760"/>
          </a:xfrm>
          <a:prstGeom prst="rect">
            <a:avLst>
              <a:gd name="adj" fmla="val 25000"/>
            </a:avLst>
          </a:prstGeom>
          <a:solidFill>
            <a:srgbClr val="A8C5DD"/>
          </a:solidFill>
          <a:ln w="12700">
            <a:solidFill>
              <a:srgbClr val="000000"/>
            </a:solidFill>
            <a:prstDash val="solid"/>
          </a:ln>
        </p:spPr>
      </p:sp>
      <p:sp>
        <p:nvSpPr>
          <p:cNvPr id="12" name="Text 10"/>
          <p:cNvSpPr/>
          <p:nvPr/>
        </p:nvSpPr>
        <p:spPr>
          <a:xfrm>
            <a:off x="4846320" y="3767328"/>
            <a:ext cx="3840480" cy="329184"/>
          </a:xfrm>
          <a:prstGeom prst="rect">
            <a:avLst/>
          </a:prstGeom>
          <a:noFill/>
          <a:ln/>
        </p:spPr>
        <p:txBody>
          <a:bodyPr wrap="square" rtlCol="0" anchor="ctr"/>
          <a:lstStyle/>
          <a:p>
            <a:pPr algn="l" indent="0" marL="0">
              <a:buNone/>
            </a:pPr>
            <a:r>
              <a:rPr lang="en-US" sz="1400" dirty="0">
                <a:solidFill>
                  <a:srgbClr val="000000"/>
                </a:solidFill>
              </a:rPr>
              <a:t>D. In the snow</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4 - Answer</a:t>
            </a:r>
            <a:endParaRPr lang="en-US" sz="1300" dirty="0"/>
          </a:p>
        </p:txBody>
      </p:sp>
      <p:sp>
        <p:nvSpPr>
          <p:cNvPr id="3" name="Text 1"/>
          <p:cNvSpPr/>
          <p:nvPr/>
        </p:nvSpPr>
        <p:spPr>
          <a:xfrm>
            <a:off x="365760" y="777240"/>
            <a:ext cx="8412480" cy="1645920"/>
          </a:xfrm>
          <a:prstGeom prst="rect">
            <a:avLst/>
          </a:prstGeom>
          <a:solidFill>
            <a:srgbClr val="5A3D6A"/>
          </a:solidFill>
          <a:ln/>
        </p:spPr>
        <p:txBody>
          <a:bodyPr wrap="square" lIns="101600" tIns="101600" rIns="101600" bIns="101600" rtlCol="0" anchor="ctr"/>
          <a:lstStyle/>
          <a:p>
            <a:pPr indent="0" marL="0">
              <a:buNone/>
            </a:pPr>
            <a:r>
              <a:rPr lang="en-US" sz="1300" dirty="0">
                <a:solidFill>
                  <a:srgbClr val="FFFFFF"/>
                </a:solidFill>
              </a:rPr>
              <a:t>Fireflies are small insects that glow in the dark. They live in warm places like bushes and trees. On summer nights, you can see them flashing like tiny lights in the sky.</a:t>
            </a:r>
            <a:endParaRPr lang="en-US" sz="1300" dirty="0"/>
          </a:p>
          <a:p>
            <a:pPr indent="0" marL="0">
              <a:buNone/>
            </a:pPr>
            <a:endParaRPr lang="en-US" sz="1300" dirty="0"/>
          </a:p>
          <a:p>
            <a:pPr indent="0" marL="0">
              <a:buNone/>
            </a:pPr>
            <a:r>
              <a:rPr lang="en-US" sz="1300" dirty="0">
                <a:solidFill>
                  <a:srgbClr val="FFFFFF"/>
                </a:solidFill>
              </a:rPr>
              <a:t>Fireflies make light in their bellies. The light helps them talk to other fireflies. Male fireflies flash to find females. Females flash back to say hello.</a:t>
            </a:r>
            <a:endParaRPr lang="en-US" sz="1300" dirty="0"/>
          </a:p>
          <a:p>
            <a:pPr indent="0" marL="0">
              <a:buNone/>
            </a:pPr>
            <a:endParaRPr lang="en-US" sz="1300" dirty="0"/>
          </a:p>
          <a:p>
            <a:pPr indent="0" marL="0">
              <a:buNone/>
            </a:pPr>
            <a:r>
              <a:rPr lang="en-US" sz="1300" dirty="0">
                <a:solidFill>
                  <a:srgbClr val="FFFFFF"/>
                </a:solidFill>
              </a:rPr>
              <a:t>Fireflies eat small bugs. They sleep during the day and wake up at night. This is called being nocturnal. Many animals are nocturnal too.</a:t>
            </a:r>
            <a:endParaRPr lang="en-US" sz="1300" dirty="0"/>
          </a:p>
          <a:p>
            <a:pPr indent="0" marL="0">
              <a:buNone/>
            </a:pPr>
            <a:endParaRPr lang="en-US" sz="1300" dirty="0"/>
          </a:p>
          <a:p>
            <a:pPr indent="0" marL="0">
              <a:buNone/>
            </a:pPr>
            <a:r>
              <a:rPr lang="en-US" sz="1300" dirty="0">
                <a:solidFill>
                  <a:srgbClr val="FFFFFF"/>
                </a:solidFill>
              </a:rPr>
              <a:t>If you see fireflies, watch them carefully. Never touch them because they are delicate. Just enjoy watching their beautiful light show in the night sky!</a:t>
            </a:r>
            <a:endParaRPr lang="en-US" sz="1300" dirty="0"/>
          </a:p>
        </p:txBody>
      </p:sp>
      <p:sp>
        <p:nvSpPr>
          <p:cNvPr id="4" name="Text 2"/>
          <p:cNvSpPr/>
          <p:nvPr/>
        </p:nvSpPr>
        <p:spPr>
          <a:xfrm>
            <a:off x="365760" y="2606040"/>
            <a:ext cx="8412480" cy="457200"/>
          </a:xfrm>
          <a:prstGeom prst="rect">
            <a:avLst/>
          </a:prstGeom>
          <a:noFill/>
          <a:ln/>
        </p:spPr>
        <p:txBody>
          <a:bodyPr wrap="square" rtlCol="0" anchor="ctr"/>
          <a:lstStyle/>
          <a:p>
            <a:pPr indent="0" marL="0">
              <a:buNone/>
            </a:pPr>
            <a:r>
              <a:rPr lang="en-US" sz="1600" b="1" dirty="0">
                <a:solidFill>
                  <a:srgbClr val="FFFFFF"/>
                </a:solidFill>
              </a:rPr>
              <a:t>Where do fireflies live?</a:t>
            </a:r>
            <a:endParaRPr lang="en-US" sz="1600" dirty="0"/>
          </a:p>
        </p:txBody>
      </p:sp>
      <p:sp>
        <p:nvSpPr>
          <p:cNvPr id="5" name="Shape 3"/>
          <p:cNvSpPr/>
          <p:nvPr/>
        </p:nvSpPr>
        <p:spPr>
          <a:xfrm>
            <a:off x="365760" y="3246120"/>
            <a:ext cx="4023360" cy="365760"/>
          </a:xfrm>
          <a:prstGeom prst="rect">
            <a:avLst>
              <a:gd name="adj" fmla="val 25000"/>
            </a:avLst>
          </a:prstGeom>
          <a:solidFill>
            <a:srgbClr val="A8C5DD"/>
          </a:solidFill>
          <a:ln w="12700">
            <a:solidFill>
              <a:srgbClr val="000000"/>
            </a:solidFill>
            <a:prstDash val="solid"/>
          </a:ln>
        </p:spPr>
      </p:sp>
      <p:sp>
        <p:nvSpPr>
          <p:cNvPr id="6" name="Text 4"/>
          <p:cNvSpPr/>
          <p:nvPr/>
        </p:nvSpPr>
        <p:spPr>
          <a:xfrm>
            <a:off x="457200" y="3264408"/>
            <a:ext cx="3840480" cy="329184"/>
          </a:xfrm>
          <a:prstGeom prst="rect">
            <a:avLst/>
          </a:prstGeom>
          <a:noFill/>
          <a:ln/>
        </p:spPr>
        <p:txBody>
          <a:bodyPr wrap="square" rtlCol="0" anchor="ctr"/>
          <a:lstStyle/>
          <a:p>
            <a:pPr algn="l" indent="0" marL="0">
              <a:buNone/>
            </a:pPr>
            <a:r>
              <a:rPr lang="en-US" sz="1400" dirty="0">
                <a:solidFill>
                  <a:srgbClr val="000000"/>
                </a:solidFill>
              </a:rPr>
              <a:t>A. In the ocean</a:t>
            </a:r>
            <a:endParaRPr lang="en-US" sz="1400" dirty="0"/>
          </a:p>
        </p:txBody>
      </p:sp>
      <p:sp>
        <p:nvSpPr>
          <p:cNvPr id="7" name="Shape 5"/>
          <p:cNvSpPr/>
          <p:nvPr/>
        </p:nvSpPr>
        <p:spPr>
          <a:xfrm>
            <a:off x="4754880" y="3246120"/>
            <a:ext cx="4023360" cy="365760"/>
          </a:xfrm>
          <a:prstGeom prst="rect">
            <a:avLst>
              <a:gd name="adj" fmla="val 25000"/>
            </a:avLst>
          </a:prstGeom>
          <a:solidFill>
            <a:srgbClr val="D5F4E6"/>
          </a:solidFill>
          <a:ln w="12700">
            <a:solidFill>
              <a:srgbClr val="27AE60"/>
            </a:solidFill>
            <a:prstDash val="solid"/>
          </a:ln>
        </p:spPr>
      </p:sp>
      <p:sp>
        <p:nvSpPr>
          <p:cNvPr id="8" name="Text 6"/>
          <p:cNvSpPr/>
          <p:nvPr/>
        </p:nvSpPr>
        <p:spPr>
          <a:xfrm>
            <a:off x="4846320" y="3264408"/>
            <a:ext cx="3840480" cy="329184"/>
          </a:xfrm>
          <a:prstGeom prst="rect">
            <a:avLst/>
          </a:prstGeom>
          <a:noFill/>
          <a:ln/>
        </p:spPr>
        <p:txBody>
          <a:bodyPr wrap="square" rtlCol="0" anchor="ctr"/>
          <a:lstStyle/>
          <a:p>
            <a:pPr algn="l" indent="0" marL="0">
              <a:buNone/>
            </a:pPr>
            <a:r>
              <a:rPr lang="en-US" sz="1400" dirty="0">
                <a:solidFill>
                  <a:srgbClr val="000000"/>
                </a:solidFill>
              </a:rPr>
              <a:t>B. In trees and bushes ✓</a:t>
            </a:r>
            <a:endParaRPr lang="en-US" sz="1400" dirty="0"/>
          </a:p>
        </p:txBody>
      </p:sp>
      <p:sp>
        <p:nvSpPr>
          <p:cNvPr id="9" name="Shape 7"/>
          <p:cNvSpPr/>
          <p:nvPr/>
        </p:nvSpPr>
        <p:spPr>
          <a:xfrm>
            <a:off x="365760" y="3749040"/>
            <a:ext cx="4023360" cy="365760"/>
          </a:xfrm>
          <a:prstGeom prst="rect">
            <a:avLst>
              <a:gd name="adj" fmla="val 25000"/>
            </a:avLst>
          </a:prstGeom>
          <a:solidFill>
            <a:srgbClr val="A8C5DD"/>
          </a:solidFill>
          <a:ln w="12700">
            <a:solidFill>
              <a:srgbClr val="000000"/>
            </a:solidFill>
            <a:prstDash val="solid"/>
          </a:ln>
        </p:spPr>
      </p:sp>
      <p:sp>
        <p:nvSpPr>
          <p:cNvPr id="10" name="Text 8"/>
          <p:cNvSpPr/>
          <p:nvPr/>
        </p:nvSpPr>
        <p:spPr>
          <a:xfrm>
            <a:off x="457200" y="3767328"/>
            <a:ext cx="3840480" cy="329184"/>
          </a:xfrm>
          <a:prstGeom prst="rect">
            <a:avLst/>
          </a:prstGeom>
          <a:noFill/>
          <a:ln/>
        </p:spPr>
        <p:txBody>
          <a:bodyPr wrap="square" rtlCol="0" anchor="ctr"/>
          <a:lstStyle/>
          <a:p>
            <a:pPr algn="l" indent="0" marL="0">
              <a:buNone/>
            </a:pPr>
            <a:r>
              <a:rPr lang="en-US" sz="1400" dirty="0">
                <a:solidFill>
                  <a:srgbClr val="000000"/>
                </a:solidFill>
              </a:rPr>
              <a:t>C. Underground</a:t>
            </a:r>
            <a:endParaRPr lang="en-US" sz="1400" dirty="0"/>
          </a:p>
        </p:txBody>
      </p:sp>
      <p:sp>
        <p:nvSpPr>
          <p:cNvPr id="11" name="Shape 9"/>
          <p:cNvSpPr/>
          <p:nvPr/>
        </p:nvSpPr>
        <p:spPr>
          <a:xfrm>
            <a:off x="4754880" y="3749040"/>
            <a:ext cx="4023360" cy="365760"/>
          </a:xfrm>
          <a:prstGeom prst="rect">
            <a:avLst>
              <a:gd name="adj" fmla="val 25000"/>
            </a:avLst>
          </a:prstGeom>
          <a:solidFill>
            <a:srgbClr val="A8C5DD"/>
          </a:solidFill>
          <a:ln w="12700">
            <a:solidFill>
              <a:srgbClr val="000000"/>
            </a:solidFill>
            <a:prstDash val="solid"/>
          </a:ln>
        </p:spPr>
      </p:sp>
      <p:sp>
        <p:nvSpPr>
          <p:cNvPr id="12" name="Text 10"/>
          <p:cNvSpPr/>
          <p:nvPr/>
        </p:nvSpPr>
        <p:spPr>
          <a:xfrm>
            <a:off x="4846320" y="3767328"/>
            <a:ext cx="3840480" cy="329184"/>
          </a:xfrm>
          <a:prstGeom prst="rect">
            <a:avLst/>
          </a:prstGeom>
          <a:noFill/>
          <a:ln/>
        </p:spPr>
        <p:txBody>
          <a:bodyPr wrap="square" rtlCol="0" anchor="ctr"/>
          <a:lstStyle/>
          <a:p>
            <a:pPr algn="l" indent="0" marL="0">
              <a:buNone/>
            </a:pPr>
            <a:r>
              <a:rPr lang="en-US" sz="1400" dirty="0">
                <a:solidFill>
                  <a:srgbClr val="000000"/>
                </a:solidFill>
              </a:rPr>
              <a:t>D. In the snow</a:t>
            </a:r>
            <a:endParaRPr lang="en-US" sz="1400" dirty="0"/>
          </a:p>
        </p:txBody>
      </p:sp>
      <p:sp>
        <p:nvSpPr>
          <p:cNvPr id="13" name="Text 11"/>
          <p:cNvSpPr/>
          <p:nvPr/>
        </p:nvSpPr>
        <p:spPr>
          <a:xfrm>
            <a:off x="365760" y="4160520"/>
            <a:ext cx="8412480" cy="320040"/>
          </a:xfrm>
          <a:prstGeom prst="rect">
            <a:avLst/>
          </a:prstGeom>
          <a:noFill/>
          <a:ln/>
        </p:spPr>
        <p:txBody>
          <a:bodyPr wrap="square" rtlCol="0" anchor="ctr"/>
          <a:lstStyle/>
          <a:p>
            <a:pPr indent="0" marL="0">
              <a:buNone/>
            </a:pPr>
            <a:r>
              <a:rPr lang="en-US" sz="1400" b="1" dirty="0">
                <a:solidFill>
                  <a:srgbClr val="27AE60"/>
                </a:solidFill>
              </a:rPr>
              <a:t>Correct!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5 of 20</a:t>
            </a:r>
            <a:endParaRPr lang="en-US" sz="1300" dirty="0"/>
          </a:p>
        </p:txBody>
      </p:sp>
      <p:sp>
        <p:nvSpPr>
          <p:cNvPr id="3" name="Text 1"/>
          <p:cNvSpPr/>
          <p:nvPr/>
        </p:nvSpPr>
        <p:spPr>
          <a:xfrm>
            <a:off x="365760" y="777240"/>
            <a:ext cx="8412480" cy="1645920"/>
          </a:xfrm>
          <a:prstGeom prst="rect">
            <a:avLst/>
          </a:prstGeom>
          <a:solidFill>
            <a:srgbClr val="5A3D6A"/>
          </a:solidFill>
          <a:ln/>
        </p:spPr>
        <p:txBody>
          <a:bodyPr wrap="square" lIns="101600" tIns="101600" rIns="101600" bIns="101600" rtlCol="0" anchor="ctr"/>
          <a:lstStyle/>
          <a:p>
            <a:pPr indent="0" marL="0">
              <a:buNone/>
            </a:pPr>
            <a:r>
              <a:rPr lang="en-US" sz="1300" dirty="0">
                <a:solidFill>
                  <a:srgbClr val="FFFFFF"/>
                </a:solidFill>
              </a:rPr>
              <a:t>Fireflies are small insects that glow in the dark. They live in warm places like bushes and trees. On summer nights, you can see them flashing like tiny lights in the sky.</a:t>
            </a:r>
            <a:endParaRPr lang="en-US" sz="1300" dirty="0"/>
          </a:p>
          <a:p>
            <a:pPr indent="0" marL="0">
              <a:buNone/>
            </a:pPr>
            <a:endParaRPr lang="en-US" sz="1300" dirty="0"/>
          </a:p>
          <a:p>
            <a:pPr indent="0" marL="0">
              <a:buNone/>
            </a:pPr>
            <a:r>
              <a:rPr lang="en-US" sz="1300" dirty="0">
                <a:solidFill>
                  <a:srgbClr val="FFFFFF"/>
                </a:solidFill>
              </a:rPr>
              <a:t>Fireflies make light in their bellies. The light helps them talk to other fireflies. Male fireflies flash to find females. Females flash back to say hello.</a:t>
            </a:r>
            <a:endParaRPr lang="en-US" sz="1300" dirty="0"/>
          </a:p>
          <a:p>
            <a:pPr indent="0" marL="0">
              <a:buNone/>
            </a:pPr>
            <a:endParaRPr lang="en-US" sz="1300" dirty="0"/>
          </a:p>
          <a:p>
            <a:pPr indent="0" marL="0">
              <a:buNone/>
            </a:pPr>
            <a:r>
              <a:rPr lang="en-US" sz="1300" dirty="0">
                <a:solidFill>
                  <a:srgbClr val="FFFFFF"/>
                </a:solidFill>
              </a:rPr>
              <a:t>Fireflies eat small bugs. They sleep during the day and wake up at night. This is called being nocturnal. Many animals are nocturnal too.</a:t>
            </a:r>
            <a:endParaRPr lang="en-US" sz="1300" dirty="0"/>
          </a:p>
          <a:p>
            <a:pPr indent="0" marL="0">
              <a:buNone/>
            </a:pPr>
            <a:endParaRPr lang="en-US" sz="1300" dirty="0"/>
          </a:p>
          <a:p>
            <a:pPr indent="0" marL="0">
              <a:buNone/>
            </a:pPr>
            <a:r>
              <a:rPr lang="en-US" sz="1300" dirty="0">
                <a:solidFill>
                  <a:srgbClr val="FFFFFF"/>
                </a:solidFill>
              </a:rPr>
              <a:t>If you see fireflies, watch them carefully. Never touch them because they are delicate. Just enjoy watching their beautiful light show in the night sky!</a:t>
            </a:r>
            <a:endParaRPr lang="en-US" sz="1300" dirty="0"/>
          </a:p>
        </p:txBody>
      </p:sp>
      <p:sp>
        <p:nvSpPr>
          <p:cNvPr id="4" name="Text 2"/>
          <p:cNvSpPr/>
          <p:nvPr/>
        </p:nvSpPr>
        <p:spPr>
          <a:xfrm>
            <a:off x="365760" y="2606040"/>
            <a:ext cx="8412480" cy="457200"/>
          </a:xfrm>
          <a:prstGeom prst="rect">
            <a:avLst/>
          </a:prstGeom>
          <a:noFill/>
          <a:ln/>
        </p:spPr>
        <p:txBody>
          <a:bodyPr wrap="square" rtlCol="0" anchor="ctr"/>
          <a:lstStyle/>
          <a:p>
            <a:pPr indent="0" marL="0">
              <a:buNone/>
            </a:pPr>
            <a:r>
              <a:rPr lang="en-US" sz="1600" b="1" dirty="0">
                <a:solidFill>
                  <a:srgbClr val="FFFFFF"/>
                </a:solidFill>
              </a:rPr>
              <a:t>What does "glow" mean in this passage?</a:t>
            </a:r>
            <a:endParaRPr lang="en-US" sz="1600" dirty="0"/>
          </a:p>
        </p:txBody>
      </p:sp>
      <p:sp>
        <p:nvSpPr>
          <p:cNvPr id="5" name="Shape 3"/>
          <p:cNvSpPr/>
          <p:nvPr/>
        </p:nvSpPr>
        <p:spPr>
          <a:xfrm>
            <a:off x="365760" y="3246120"/>
            <a:ext cx="4023360" cy="365760"/>
          </a:xfrm>
          <a:prstGeom prst="rect">
            <a:avLst>
              <a:gd name="adj" fmla="val 25000"/>
            </a:avLst>
          </a:prstGeom>
          <a:solidFill>
            <a:srgbClr val="A8C5DD"/>
          </a:solidFill>
          <a:ln w="12700">
            <a:solidFill>
              <a:srgbClr val="000000"/>
            </a:solidFill>
            <a:prstDash val="solid"/>
          </a:ln>
        </p:spPr>
      </p:sp>
      <p:sp>
        <p:nvSpPr>
          <p:cNvPr id="6" name="Text 4"/>
          <p:cNvSpPr/>
          <p:nvPr/>
        </p:nvSpPr>
        <p:spPr>
          <a:xfrm>
            <a:off x="457200" y="3264408"/>
            <a:ext cx="3840480" cy="329184"/>
          </a:xfrm>
          <a:prstGeom prst="rect">
            <a:avLst/>
          </a:prstGeom>
          <a:noFill/>
          <a:ln/>
        </p:spPr>
        <p:txBody>
          <a:bodyPr wrap="square" rtlCol="0" anchor="ctr"/>
          <a:lstStyle/>
          <a:p>
            <a:pPr algn="l" indent="0" marL="0">
              <a:buNone/>
            </a:pPr>
            <a:r>
              <a:rPr lang="en-US" sz="1400" dirty="0">
                <a:solidFill>
                  <a:srgbClr val="000000"/>
                </a:solidFill>
              </a:rPr>
              <a:t>A. To move quickly</a:t>
            </a:r>
            <a:endParaRPr lang="en-US" sz="1400" dirty="0"/>
          </a:p>
        </p:txBody>
      </p:sp>
      <p:sp>
        <p:nvSpPr>
          <p:cNvPr id="7" name="Shape 5"/>
          <p:cNvSpPr/>
          <p:nvPr/>
        </p:nvSpPr>
        <p:spPr>
          <a:xfrm>
            <a:off x="4754880" y="3246120"/>
            <a:ext cx="4023360" cy="365760"/>
          </a:xfrm>
          <a:prstGeom prst="rect">
            <a:avLst>
              <a:gd name="adj" fmla="val 25000"/>
            </a:avLst>
          </a:prstGeom>
          <a:solidFill>
            <a:srgbClr val="A8C5DD"/>
          </a:solidFill>
          <a:ln w="12700">
            <a:solidFill>
              <a:srgbClr val="000000"/>
            </a:solidFill>
            <a:prstDash val="solid"/>
          </a:ln>
        </p:spPr>
      </p:sp>
      <p:sp>
        <p:nvSpPr>
          <p:cNvPr id="8" name="Text 6"/>
          <p:cNvSpPr/>
          <p:nvPr/>
        </p:nvSpPr>
        <p:spPr>
          <a:xfrm>
            <a:off x="4846320" y="3264408"/>
            <a:ext cx="3840480" cy="329184"/>
          </a:xfrm>
          <a:prstGeom prst="rect">
            <a:avLst/>
          </a:prstGeom>
          <a:noFill/>
          <a:ln/>
        </p:spPr>
        <p:txBody>
          <a:bodyPr wrap="square" rtlCol="0" anchor="ctr"/>
          <a:lstStyle/>
          <a:p>
            <a:pPr algn="l" indent="0" marL="0">
              <a:buNone/>
            </a:pPr>
            <a:r>
              <a:rPr lang="en-US" sz="1400" dirty="0">
                <a:solidFill>
                  <a:srgbClr val="000000"/>
                </a:solidFill>
              </a:rPr>
              <a:t>B. To shine with light</a:t>
            </a:r>
            <a:endParaRPr lang="en-US" sz="1400" dirty="0"/>
          </a:p>
        </p:txBody>
      </p:sp>
      <p:sp>
        <p:nvSpPr>
          <p:cNvPr id="9" name="Shape 7"/>
          <p:cNvSpPr/>
          <p:nvPr/>
        </p:nvSpPr>
        <p:spPr>
          <a:xfrm>
            <a:off x="365760" y="3749040"/>
            <a:ext cx="4023360" cy="365760"/>
          </a:xfrm>
          <a:prstGeom prst="rect">
            <a:avLst>
              <a:gd name="adj" fmla="val 25000"/>
            </a:avLst>
          </a:prstGeom>
          <a:solidFill>
            <a:srgbClr val="A8C5DD"/>
          </a:solidFill>
          <a:ln w="12700">
            <a:solidFill>
              <a:srgbClr val="000000"/>
            </a:solidFill>
            <a:prstDash val="solid"/>
          </a:ln>
        </p:spPr>
      </p:sp>
      <p:sp>
        <p:nvSpPr>
          <p:cNvPr id="10" name="Text 8"/>
          <p:cNvSpPr/>
          <p:nvPr/>
        </p:nvSpPr>
        <p:spPr>
          <a:xfrm>
            <a:off x="457200" y="3767328"/>
            <a:ext cx="3840480" cy="329184"/>
          </a:xfrm>
          <a:prstGeom prst="rect">
            <a:avLst/>
          </a:prstGeom>
          <a:noFill/>
          <a:ln/>
        </p:spPr>
        <p:txBody>
          <a:bodyPr wrap="square" rtlCol="0" anchor="ctr"/>
          <a:lstStyle/>
          <a:p>
            <a:pPr algn="l" indent="0" marL="0">
              <a:buNone/>
            </a:pPr>
            <a:r>
              <a:rPr lang="en-US" sz="1400" dirty="0">
                <a:solidFill>
                  <a:srgbClr val="000000"/>
                </a:solidFill>
              </a:rPr>
              <a:t>C. To make a sound</a:t>
            </a:r>
            <a:endParaRPr lang="en-US" sz="1400" dirty="0"/>
          </a:p>
        </p:txBody>
      </p:sp>
      <p:sp>
        <p:nvSpPr>
          <p:cNvPr id="11" name="Shape 9"/>
          <p:cNvSpPr/>
          <p:nvPr/>
        </p:nvSpPr>
        <p:spPr>
          <a:xfrm>
            <a:off x="4754880" y="3749040"/>
            <a:ext cx="4023360" cy="365760"/>
          </a:xfrm>
          <a:prstGeom prst="rect">
            <a:avLst>
              <a:gd name="adj" fmla="val 25000"/>
            </a:avLst>
          </a:prstGeom>
          <a:solidFill>
            <a:srgbClr val="A8C5DD"/>
          </a:solidFill>
          <a:ln w="12700">
            <a:solidFill>
              <a:srgbClr val="000000"/>
            </a:solidFill>
            <a:prstDash val="solid"/>
          </a:ln>
        </p:spPr>
      </p:sp>
      <p:sp>
        <p:nvSpPr>
          <p:cNvPr id="12" name="Text 10"/>
          <p:cNvSpPr/>
          <p:nvPr/>
        </p:nvSpPr>
        <p:spPr>
          <a:xfrm>
            <a:off x="4846320" y="3767328"/>
            <a:ext cx="3840480" cy="329184"/>
          </a:xfrm>
          <a:prstGeom prst="rect">
            <a:avLst/>
          </a:prstGeom>
          <a:noFill/>
          <a:ln/>
        </p:spPr>
        <p:txBody>
          <a:bodyPr wrap="square" rtlCol="0" anchor="ctr"/>
          <a:lstStyle/>
          <a:p>
            <a:pPr algn="l" indent="0" marL="0">
              <a:buNone/>
            </a:pPr>
            <a:r>
              <a:rPr lang="en-US" sz="1400" dirty="0">
                <a:solidFill>
                  <a:srgbClr val="000000"/>
                </a:solidFill>
              </a:rPr>
              <a:t>D. To fly in circles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5 - Answer</a:t>
            </a:r>
            <a:endParaRPr lang="en-US" sz="1300" dirty="0"/>
          </a:p>
        </p:txBody>
      </p:sp>
      <p:sp>
        <p:nvSpPr>
          <p:cNvPr id="3" name="Text 1"/>
          <p:cNvSpPr/>
          <p:nvPr/>
        </p:nvSpPr>
        <p:spPr>
          <a:xfrm>
            <a:off x="365760" y="777240"/>
            <a:ext cx="8412480" cy="1645920"/>
          </a:xfrm>
          <a:prstGeom prst="rect">
            <a:avLst/>
          </a:prstGeom>
          <a:solidFill>
            <a:srgbClr val="5A3D6A"/>
          </a:solidFill>
          <a:ln/>
        </p:spPr>
        <p:txBody>
          <a:bodyPr wrap="square" lIns="101600" tIns="101600" rIns="101600" bIns="101600" rtlCol="0" anchor="ctr"/>
          <a:lstStyle/>
          <a:p>
            <a:pPr indent="0" marL="0">
              <a:buNone/>
            </a:pPr>
            <a:r>
              <a:rPr lang="en-US" sz="1300" dirty="0">
                <a:solidFill>
                  <a:srgbClr val="FFFFFF"/>
                </a:solidFill>
              </a:rPr>
              <a:t>Fireflies are small insects that glow in the dark. They live in warm places like bushes and trees. On summer nights, you can see them flashing like tiny lights in the sky.</a:t>
            </a:r>
            <a:endParaRPr lang="en-US" sz="1300" dirty="0"/>
          </a:p>
          <a:p>
            <a:pPr indent="0" marL="0">
              <a:buNone/>
            </a:pPr>
            <a:endParaRPr lang="en-US" sz="1300" dirty="0"/>
          </a:p>
          <a:p>
            <a:pPr indent="0" marL="0">
              <a:buNone/>
            </a:pPr>
            <a:r>
              <a:rPr lang="en-US" sz="1300" dirty="0">
                <a:solidFill>
                  <a:srgbClr val="FFFFFF"/>
                </a:solidFill>
              </a:rPr>
              <a:t>Fireflies make light in their bellies. The light helps them talk to other fireflies. Male fireflies flash to find females. Females flash back to say hello.</a:t>
            </a:r>
            <a:endParaRPr lang="en-US" sz="1300" dirty="0"/>
          </a:p>
          <a:p>
            <a:pPr indent="0" marL="0">
              <a:buNone/>
            </a:pPr>
            <a:endParaRPr lang="en-US" sz="1300" dirty="0"/>
          </a:p>
          <a:p>
            <a:pPr indent="0" marL="0">
              <a:buNone/>
            </a:pPr>
            <a:r>
              <a:rPr lang="en-US" sz="1300" dirty="0">
                <a:solidFill>
                  <a:srgbClr val="FFFFFF"/>
                </a:solidFill>
              </a:rPr>
              <a:t>Fireflies eat small bugs. They sleep during the day and wake up at night. This is called being nocturnal. Many animals are nocturnal too.</a:t>
            </a:r>
            <a:endParaRPr lang="en-US" sz="1300" dirty="0"/>
          </a:p>
          <a:p>
            <a:pPr indent="0" marL="0">
              <a:buNone/>
            </a:pPr>
            <a:endParaRPr lang="en-US" sz="1300" dirty="0"/>
          </a:p>
          <a:p>
            <a:pPr indent="0" marL="0">
              <a:buNone/>
            </a:pPr>
            <a:r>
              <a:rPr lang="en-US" sz="1300" dirty="0">
                <a:solidFill>
                  <a:srgbClr val="FFFFFF"/>
                </a:solidFill>
              </a:rPr>
              <a:t>If you see fireflies, watch them carefully. Never touch them because they are delicate. Just enjoy watching their beautiful light show in the night sky!</a:t>
            </a:r>
            <a:endParaRPr lang="en-US" sz="1300" dirty="0"/>
          </a:p>
        </p:txBody>
      </p:sp>
      <p:sp>
        <p:nvSpPr>
          <p:cNvPr id="4" name="Text 2"/>
          <p:cNvSpPr/>
          <p:nvPr/>
        </p:nvSpPr>
        <p:spPr>
          <a:xfrm>
            <a:off x="365760" y="2606040"/>
            <a:ext cx="8412480" cy="457200"/>
          </a:xfrm>
          <a:prstGeom prst="rect">
            <a:avLst/>
          </a:prstGeom>
          <a:noFill/>
          <a:ln/>
        </p:spPr>
        <p:txBody>
          <a:bodyPr wrap="square" rtlCol="0" anchor="ctr"/>
          <a:lstStyle/>
          <a:p>
            <a:pPr indent="0" marL="0">
              <a:buNone/>
            </a:pPr>
            <a:r>
              <a:rPr lang="en-US" sz="1600" b="1" dirty="0">
                <a:solidFill>
                  <a:srgbClr val="FFFFFF"/>
                </a:solidFill>
              </a:rPr>
              <a:t>What does "glow" mean in this passage?</a:t>
            </a:r>
            <a:endParaRPr lang="en-US" sz="1600" dirty="0"/>
          </a:p>
        </p:txBody>
      </p:sp>
      <p:sp>
        <p:nvSpPr>
          <p:cNvPr id="5" name="Shape 3"/>
          <p:cNvSpPr/>
          <p:nvPr/>
        </p:nvSpPr>
        <p:spPr>
          <a:xfrm>
            <a:off x="365760" y="3246120"/>
            <a:ext cx="4023360" cy="365760"/>
          </a:xfrm>
          <a:prstGeom prst="rect">
            <a:avLst>
              <a:gd name="adj" fmla="val 25000"/>
            </a:avLst>
          </a:prstGeom>
          <a:solidFill>
            <a:srgbClr val="A8C5DD"/>
          </a:solidFill>
          <a:ln w="12700">
            <a:solidFill>
              <a:srgbClr val="000000"/>
            </a:solidFill>
            <a:prstDash val="solid"/>
          </a:ln>
        </p:spPr>
      </p:sp>
      <p:sp>
        <p:nvSpPr>
          <p:cNvPr id="6" name="Text 4"/>
          <p:cNvSpPr/>
          <p:nvPr/>
        </p:nvSpPr>
        <p:spPr>
          <a:xfrm>
            <a:off x="457200" y="3264408"/>
            <a:ext cx="3840480" cy="329184"/>
          </a:xfrm>
          <a:prstGeom prst="rect">
            <a:avLst/>
          </a:prstGeom>
          <a:noFill/>
          <a:ln/>
        </p:spPr>
        <p:txBody>
          <a:bodyPr wrap="square" rtlCol="0" anchor="ctr"/>
          <a:lstStyle/>
          <a:p>
            <a:pPr algn="l" indent="0" marL="0">
              <a:buNone/>
            </a:pPr>
            <a:r>
              <a:rPr lang="en-US" sz="1400" dirty="0">
                <a:solidFill>
                  <a:srgbClr val="000000"/>
                </a:solidFill>
              </a:rPr>
              <a:t>A. To move quickly</a:t>
            </a:r>
            <a:endParaRPr lang="en-US" sz="1400" dirty="0"/>
          </a:p>
        </p:txBody>
      </p:sp>
      <p:sp>
        <p:nvSpPr>
          <p:cNvPr id="7" name="Shape 5"/>
          <p:cNvSpPr/>
          <p:nvPr/>
        </p:nvSpPr>
        <p:spPr>
          <a:xfrm>
            <a:off x="4754880" y="3246120"/>
            <a:ext cx="4023360" cy="365760"/>
          </a:xfrm>
          <a:prstGeom prst="rect">
            <a:avLst>
              <a:gd name="adj" fmla="val 25000"/>
            </a:avLst>
          </a:prstGeom>
          <a:solidFill>
            <a:srgbClr val="D5F4E6"/>
          </a:solidFill>
          <a:ln w="12700">
            <a:solidFill>
              <a:srgbClr val="27AE60"/>
            </a:solidFill>
            <a:prstDash val="solid"/>
          </a:ln>
        </p:spPr>
      </p:sp>
      <p:sp>
        <p:nvSpPr>
          <p:cNvPr id="8" name="Text 6"/>
          <p:cNvSpPr/>
          <p:nvPr/>
        </p:nvSpPr>
        <p:spPr>
          <a:xfrm>
            <a:off x="4846320" y="3264408"/>
            <a:ext cx="3840480" cy="329184"/>
          </a:xfrm>
          <a:prstGeom prst="rect">
            <a:avLst/>
          </a:prstGeom>
          <a:noFill/>
          <a:ln/>
        </p:spPr>
        <p:txBody>
          <a:bodyPr wrap="square" rtlCol="0" anchor="ctr"/>
          <a:lstStyle/>
          <a:p>
            <a:pPr algn="l" indent="0" marL="0">
              <a:buNone/>
            </a:pPr>
            <a:r>
              <a:rPr lang="en-US" sz="1400" dirty="0">
                <a:solidFill>
                  <a:srgbClr val="000000"/>
                </a:solidFill>
              </a:rPr>
              <a:t>B. To shine with light ✓</a:t>
            </a:r>
            <a:endParaRPr lang="en-US" sz="1400" dirty="0"/>
          </a:p>
        </p:txBody>
      </p:sp>
      <p:sp>
        <p:nvSpPr>
          <p:cNvPr id="9" name="Shape 7"/>
          <p:cNvSpPr/>
          <p:nvPr/>
        </p:nvSpPr>
        <p:spPr>
          <a:xfrm>
            <a:off x="365760" y="3749040"/>
            <a:ext cx="4023360" cy="365760"/>
          </a:xfrm>
          <a:prstGeom prst="rect">
            <a:avLst>
              <a:gd name="adj" fmla="val 25000"/>
            </a:avLst>
          </a:prstGeom>
          <a:solidFill>
            <a:srgbClr val="A8C5DD"/>
          </a:solidFill>
          <a:ln w="12700">
            <a:solidFill>
              <a:srgbClr val="000000"/>
            </a:solidFill>
            <a:prstDash val="solid"/>
          </a:ln>
        </p:spPr>
      </p:sp>
      <p:sp>
        <p:nvSpPr>
          <p:cNvPr id="10" name="Text 8"/>
          <p:cNvSpPr/>
          <p:nvPr/>
        </p:nvSpPr>
        <p:spPr>
          <a:xfrm>
            <a:off x="457200" y="3767328"/>
            <a:ext cx="3840480" cy="329184"/>
          </a:xfrm>
          <a:prstGeom prst="rect">
            <a:avLst/>
          </a:prstGeom>
          <a:noFill/>
          <a:ln/>
        </p:spPr>
        <p:txBody>
          <a:bodyPr wrap="square" rtlCol="0" anchor="ctr"/>
          <a:lstStyle/>
          <a:p>
            <a:pPr algn="l" indent="0" marL="0">
              <a:buNone/>
            </a:pPr>
            <a:r>
              <a:rPr lang="en-US" sz="1400" dirty="0">
                <a:solidFill>
                  <a:srgbClr val="000000"/>
                </a:solidFill>
              </a:rPr>
              <a:t>C. To make a sound</a:t>
            </a:r>
            <a:endParaRPr lang="en-US" sz="1400" dirty="0"/>
          </a:p>
        </p:txBody>
      </p:sp>
      <p:sp>
        <p:nvSpPr>
          <p:cNvPr id="11" name="Shape 9"/>
          <p:cNvSpPr/>
          <p:nvPr/>
        </p:nvSpPr>
        <p:spPr>
          <a:xfrm>
            <a:off x="4754880" y="3749040"/>
            <a:ext cx="4023360" cy="365760"/>
          </a:xfrm>
          <a:prstGeom prst="rect">
            <a:avLst>
              <a:gd name="adj" fmla="val 25000"/>
            </a:avLst>
          </a:prstGeom>
          <a:solidFill>
            <a:srgbClr val="A8C5DD"/>
          </a:solidFill>
          <a:ln w="12700">
            <a:solidFill>
              <a:srgbClr val="000000"/>
            </a:solidFill>
            <a:prstDash val="solid"/>
          </a:ln>
        </p:spPr>
      </p:sp>
      <p:sp>
        <p:nvSpPr>
          <p:cNvPr id="12" name="Text 10"/>
          <p:cNvSpPr/>
          <p:nvPr/>
        </p:nvSpPr>
        <p:spPr>
          <a:xfrm>
            <a:off x="4846320" y="3767328"/>
            <a:ext cx="3840480" cy="329184"/>
          </a:xfrm>
          <a:prstGeom prst="rect">
            <a:avLst/>
          </a:prstGeom>
          <a:noFill/>
          <a:ln/>
        </p:spPr>
        <p:txBody>
          <a:bodyPr wrap="square" rtlCol="0" anchor="ctr"/>
          <a:lstStyle/>
          <a:p>
            <a:pPr algn="l" indent="0" marL="0">
              <a:buNone/>
            </a:pPr>
            <a:r>
              <a:rPr lang="en-US" sz="1400" dirty="0">
                <a:solidFill>
                  <a:srgbClr val="000000"/>
                </a:solidFill>
              </a:rPr>
              <a:t>D. To fly in circles</a:t>
            </a:r>
            <a:endParaRPr lang="en-US" sz="1400" dirty="0"/>
          </a:p>
        </p:txBody>
      </p:sp>
      <p:sp>
        <p:nvSpPr>
          <p:cNvPr id="13" name="Text 11"/>
          <p:cNvSpPr/>
          <p:nvPr/>
        </p:nvSpPr>
        <p:spPr>
          <a:xfrm>
            <a:off x="365760" y="4160520"/>
            <a:ext cx="8412480" cy="320040"/>
          </a:xfrm>
          <a:prstGeom prst="rect">
            <a:avLst/>
          </a:prstGeom>
          <a:noFill/>
          <a:ln/>
        </p:spPr>
        <p:txBody>
          <a:bodyPr wrap="square" rtlCol="0" anchor="ctr"/>
          <a:lstStyle/>
          <a:p>
            <a:pPr indent="0" marL="0">
              <a:buNone/>
            </a:pPr>
            <a:r>
              <a:rPr lang="en-US" sz="1400" b="1" dirty="0">
                <a:solidFill>
                  <a:srgbClr val="27AE60"/>
                </a:solidFill>
              </a:rPr>
              <a:t>Correct!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6 of 20</a:t>
            </a:r>
            <a:endParaRPr lang="en-US" sz="1300" dirty="0"/>
          </a:p>
        </p:txBody>
      </p:sp>
      <p:sp>
        <p:nvSpPr>
          <p:cNvPr id="3" name="Text 1"/>
          <p:cNvSpPr/>
          <p:nvPr/>
        </p:nvSpPr>
        <p:spPr>
          <a:xfrm>
            <a:off x="365760" y="777240"/>
            <a:ext cx="8412480" cy="1645920"/>
          </a:xfrm>
          <a:prstGeom prst="rect">
            <a:avLst/>
          </a:prstGeom>
          <a:solidFill>
            <a:srgbClr val="5A3D6A"/>
          </a:solidFill>
          <a:ln/>
        </p:spPr>
        <p:txBody>
          <a:bodyPr wrap="square" lIns="101600" tIns="101600" rIns="101600" bIns="101600" rtlCol="0" anchor="ctr"/>
          <a:lstStyle/>
          <a:p>
            <a:pPr indent="0" marL="0">
              <a:buNone/>
            </a:pPr>
            <a:r>
              <a:rPr lang="en-US" sz="1300" dirty="0">
                <a:solidFill>
                  <a:srgbClr val="FFFFFF"/>
                </a:solidFill>
              </a:rPr>
              <a:t>Max woke up early on Saturday morning. He was excited because his best friend was his dog, Buddy. Today they were going to the park!</a:t>
            </a:r>
            <a:endParaRPr lang="en-US" sz="1300" dirty="0"/>
          </a:p>
          <a:p>
            <a:pPr indent="0" marL="0">
              <a:buNone/>
            </a:pPr>
            <a:endParaRPr lang="en-US" sz="1300" dirty="0"/>
          </a:p>
          <a:p>
            <a:pPr indent="0" marL="0">
              <a:buNone/>
            </a:pPr>
            <a:r>
              <a:rPr lang="en-US" sz="1300" dirty="0">
                <a:solidFill>
                  <a:srgbClr val="FFFFFF"/>
                </a:solidFill>
              </a:rPr>
              <a:t>"Buddy! Time to go to the park!" Max called. Buddy wagged his tail and ran to the door. The two friends got in the car together.</a:t>
            </a:r>
            <a:endParaRPr lang="en-US" sz="1300" dirty="0"/>
          </a:p>
          <a:p>
            <a:pPr indent="0" marL="0">
              <a:buNone/>
            </a:pPr>
            <a:endParaRPr lang="en-US" sz="1300" dirty="0"/>
          </a:p>
          <a:p>
            <a:pPr indent="0" marL="0">
              <a:buNone/>
            </a:pPr>
            <a:r>
              <a:rPr lang="en-US" sz="1300" dirty="0">
                <a:solidFill>
                  <a:srgbClr val="FFFFFF"/>
                </a:solidFill>
              </a:rPr>
              <a:t>At the park, Max and Buddy ran to the playground. Max went down the slide. Buddy barked and played nearby. Then they went to the big open field. Max threw a ball and Buddy raced to get it. They played fetch for a long time.</a:t>
            </a:r>
            <a:endParaRPr lang="en-US" sz="1300" dirty="0"/>
          </a:p>
          <a:p>
            <a:pPr indent="0" marL="0">
              <a:buNone/>
            </a:pPr>
            <a:endParaRPr lang="en-US" sz="1300" dirty="0"/>
          </a:p>
          <a:p>
            <a:pPr indent="0" marL="0">
              <a:buNone/>
            </a:pPr>
            <a:r>
              <a:rPr lang="en-US" sz="1300" dirty="0">
                <a:solidFill>
                  <a:srgbClr val="FFFFFF"/>
                </a:solidFill>
              </a:rPr>
              <a:t>After playing, Max and Buddy sat under a shady tree. They shared a snack. Max was tired but happy. "This was the best day ever, Buddy!" Max said, hugging his dog.</a:t>
            </a:r>
            <a:endParaRPr lang="en-US" sz="1300" dirty="0"/>
          </a:p>
        </p:txBody>
      </p:sp>
      <p:sp>
        <p:nvSpPr>
          <p:cNvPr id="4" name="Text 2"/>
          <p:cNvSpPr/>
          <p:nvPr/>
        </p:nvSpPr>
        <p:spPr>
          <a:xfrm>
            <a:off x="365760" y="2606040"/>
            <a:ext cx="8412480" cy="457200"/>
          </a:xfrm>
          <a:prstGeom prst="rect">
            <a:avLst/>
          </a:prstGeom>
          <a:noFill/>
          <a:ln/>
        </p:spPr>
        <p:txBody>
          <a:bodyPr wrap="square" rtlCol="0" anchor="ctr"/>
          <a:lstStyle/>
          <a:p>
            <a:pPr indent="0" marL="0">
              <a:buNone/>
            </a:pPr>
            <a:r>
              <a:rPr lang="en-US" sz="1600" b="1" dirty="0">
                <a:solidFill>
                  <a:srgbClr val="FFFFFF"/>
                </a:solidFill>
              </a:rPr>
              <a:t>Who is the story about?</a:t>
            </a:r>
            <a:endParaRPr lang="en-US" sz="1600" dirty="0"/>
          </a:p>
        </p:txBody>
      </p:sp>
      <p:sp>
        <p:nvSpPr>
          <p:cNvPr id="5" name="Shape 3"/>
          <p:cNvSpPr/>
          <p:nvPr/>
        </p:nvSpPr>
        <p:spPr>
          <a:xfrm>
            <a:off x="365760" y="3246120"/>
            <a:ext cx="4023360" cy="365760"/>
          </a:xfrm>
          <a:prstGeom prst="rect">
            <a:avLst>
              <a:gd name="adj" fmla="val 25000"/>
            </a:avLst>
          </a:prstGeom>
          <a:solidFill>
            <a:srgbClr val="A8C5DD"/>
          </a:solidFill>
          <a:ln w="12700">
            <a:solidFill>
              <a:srgbClr val="000000"/>
            </a:solidFill>
            <a:prstDash val="solid"/>
          </a:ln>
        </p:spPr>
      </p:sp>
      <p:sp>
        <p:nvSpPr>
          <p:cNvPr id="6" name="Text 4"/>
          <p:cNvSpPr/>
          <p:nvPr/>
        </p:nvSpPr>
        <p:spPr>
          <a:xfrm>
            <a:off x="457200" y="3264408"/>
            <a:ext cx="3840480" cy="329184"/>
          </a:xfrm>
          <a:prstGeom prst="rect">
            <a:avLst/>
          </a:prstGeom>
          <a:noFill/>
          <a:ln/>
        </p:spPr>
        <p:txBody>
          <a:bodyPr wrap="square" rtlCol="0" anchor="ctr"/>
          <a:lstStyle/>
          <a:p>
            <a:pPr algn="l" indent="0" marL="0">
              <a:buNone/>
            </a:pPr>
            <a:r>
              <a:rPr lang="en-US" sz="1400" dirty="0">
                <a:solidFill>
                  <a:srgbClr val="000000"/>
                </a:solidFill>
              </a:rPr>
              <a:t>A. A girl named Sarah</a:t>
            </a:r>
            <a:endParaRPr lang="en-US" sz="1400" dirty="0"/>
          </a:p>
        </p:txBody>
      </p:sp>
      <p:sp>
        <p:nvSpPr>
          <p:cNvPr id="7" name="Shape 5"/>
          <p:cNvSpPr/>
          <p:nvPr/>
        </p:nvSpPr>
        <p:spPr>
          <a:xfrm>
            <a:off x="4754880" y="3246120"/>
            <a:ext cx="4023360" cy="365760"/>
          </a:xfrm>
          <a:prstGeom prst="rect">
            <a:avLst>
              <a:gd name="adj" fmla="val 25000"/>
            </a:avLst>
          </a:prstGeom>
          <a:solidFill>
            <a:srgbClr val="A8C5DD"/>
          </a:solidFill>
          <a:ln w="12700">
            <a:solidFill>
              <a:srgbClr val="000000"/>
            </a:solidFill>
            <a:prstDash val="solid"/>
          </a:ln>
        </p:spPr>
      </p:sp>
      <p:sp>
        <p:nvSpPr>
          <p:cNvPr id="8" name="Text 6"/>
          <p:cNvSpPr/>
          <p:nvPr/>
        </p:nvSpPr>
        <p:spPr>
          <a:xfrm>
            <a:off x="4846320" y="3264408"/>
            <a:ext cx="3840480" cy="329184"/>
          </a:xfrm>
          <a:prstGeom prst="rect">
            <a:avLst/>
          </a:prstGeom>
          <a:noFill/>
          <a:ln/>
        </p:spPr>
        <p:txBody>
          <a:bodyPr wrap="square" rtlCol="0" anchor="ctr"/>
          <a:lstStyle/>
          <a:p>
            <a:pPr algn="l" indent="0" marL="0">
              <a:buNone/>
            </a:pPr>
            <a:r>
              <a:rPr lang="en-US" sz="1400" dirty="0">
                <a:solidFill>
                  <a:srgbClr val="000000"/>
                </a:solidFill>
              </a:rPr>
              <a:t>B. A boy named Max and his dog</a:t>
            </a:r>
            <a:endParaRPr lang="en-US" sz="1400" dirty="0"/>
          </a:p>
        </p:txBody>
      </p:sp>
      <p:sp>
        <p:nvSpPr>
          <p:cNvPr id="9" name="Shape 7"/>
          <p:cNvSpPr/>
          <p:nvPr/>
        </p:nvSpPr>
        <p:spPr>
          <a:xfrm>
            <a:off x="365760" y="3749040"/>
            <a:ext cx="4023360" cy="365760"/>
          </a:xfrm>
          <a:prstGeom prst="rect">
            <a:avLst>
              <a:gd name="adj" fmla="val 25000"/>
            </a:avLst>
          </a:prstGeom>
          <a:solidFill>
            <a:srgbClr val="A8C5DD"/>
          </a:solidFill>
          <a:ln w="12700">
            <a:solidFill>
              <a:srgbClr val="000000"/>
            </a:solidFill>
            <a:prstDash val="solid"/>
          </a:ln>
        </p:spPr>
      </p:sp>
      <p:sp>
        <p:nvSpPr>
          <p:cNvPr id="10" name="Text 8"/>
          <p:cNvSpPr/>
          <p:nvPr/>
        </p:nvSpPr>
        <p:spPr>
          <a:xfrm>
            <a:off x="457200" y="3767328"/>
            <a:ext cx="3840480" cy="329184"/>
          </a:xfrm>
          <a:prstGeom prst="rect">
            <a:avLst/>
          </a:prstGeom>
          <a:noFill/>
          <a:ln/>
        </p:spPr>
        <p:txBody>
          <a:bodyPr wrap="square" rtlCol="0" anchor="ctr"/>
          <a:lstStyle/>
          <a:p>
            <a:pPr algn="l" indent="0" marL="0">
              <a:buNone/>
            </a:pPr>
            <a:r>
              <a:rPr lang="en-US" sz="1400" dirty="0">
                <a:solidFill>
                  <a:srgbClr val="000000"/>
                </a:solidFill>
              </a:rPr>
              <a:t>C. A dog named Scout</a:t>
            </a:r>
            <a:endParaRPr lang="en-US" sz="1400" dirty="0"/>
          </a:p>
        </p:txBody>
      </p:sp>
      <p:sp>
        <p:nvSpPr>
          <p:cNvPr id="11" name="Shape 9"/>
          <p:cNvSpPr/>
          <p:nvPr/>
        </p:nvSpPr>
        <p:spPr>
          <a:xfrm>
            <a:off x="4754880" y="3749040"/>
            <a:ext cx="4023360" cy="365760"/>
          </a:xfrm>
          <a:prstGeom prst="rect">
            <a:avLst>
              <a:gd name="adj" fmla="val 25000"/>
            </a:avLst>
          </a:prstGeom>
          <a:solidFill>
            <a:srgbClr val="A8C5DD"/>
          </a:solidFill>
          <a:ln w="12700">
            <a:solidFill>
              <a:srgbClr val="000000"/>
            </a:solidFill>
            <a:prstDash val="solid"/>
          </a:ln>
        </p:spPr>
      </p:sp>
      <p:sp>
        <p:nvSpPr>
          <p:cNvPr id="12" name="Text 10"/>
          <p:cNvSpPr/>
          <p:nvPr/>
        </p:nvSpPr>
        <p:spPr>
          <a:xfrm>
            <a:off x="4846320" y="3767328"/>
            <a:ext cx="3840480" cy="329184"/>
          </a:xfrm>
          <a:prstGeom prst="rect">
            <a:avLst/>
          </a:prstGeom>
          <a:noFill/>
          <a:ln/>
        </p:spPr>
        <p:txBody>
          <a:bodyPr wrap="square" rtlCol="0" anchor="ctr"/>
          <a:lstStyle/>
          <a:p>
            <a:pPr algn="l" indent="0" marL="0">
              <a:buNone/>
            </a:pPr>
            <a:r>
              <a:rPr lang="en-US" sz="1400" dirty="0">
                <a:solidFill>
                  <a:srgbClr val="000000"/>
                </a:solidFill>
              </a:rPr>
              <a:t>D. A teacher at school</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6 - Answer</a:t>
            </a:r>
            <a:endParaRPr lang="en-US" sz="1300" dirty="0"/>
          </a:p>
        </p:txBody>
      </p:sp>
      <p:sp>
        <p:nvSpPr>
          <p:cNvPr id="3" name="Text 1"/>
          <p:cNvSpPr/>
          <p:nvPr/>
        </p:nvSpPr>
        <p:spPr>
          <a:xfrm>
            <a:off x="365760" y="777240"/>
            <a:ext cx="8412480" cy="1645920"/>
          </a:xfrm>
          <a:prstGeom prst="rect">
            <a:avLst/>
          </a:prstGeom>
          <a:solidFill>
            <a:srgbClr val="5A3D6A"/>
          </a:solidFill>
          <a:ln/>
        </p:spPr>
        <p:txBody>
          <a:bodyPr wrap="square" lIns="101600" tIns="101600" rIns="101600" bIns="101600" rtlCol="0" anchor="ctr"/>
          <a:lstStyle/>
          <a:p>
            <a:pPr indent="0" marL="0">
              <a:buNone/>
            </a:pPr>
            <a:r>
              <a:rPr lang="en-US" sz="1300" dirty="0">
                <a:solidFill>
                  <a:srgbClr val="FFFFFF"/>
                </a:solidFill>
              </a:rPr>
              <a:t>Max woke up early on Saturday morning. He was excited because his best friend was his dog, Buddy. Today they were going to the park!</a:t>
            </a:r>
            <a:endParaRPr lang="en-US" sz="1300" dirty="0"/>
          </a:p>
          <a:p>
            <a:pPr indent="0" marL="0">
              <a:buNone/>
            </a:pPr>
            <a:endParaRPr lang="en-US" sz="1300" dirty="0"/>
          </a:p>
          <a:p>
            <a:pPr indent="0" marL="0">
              <a:buNone/>
            </a:pPr>
            <a:r>
              <a:rPr lang="en-US" sz="1300" dirty="0">
                <a:solidFill>
                  <a:srgbClr val="FFFFFF"/>
                </a:solidFill>
              </a:rPr>
              <a:t>"Buddy! Time to go to the park!" Max called. Buddy wagged his tail and ran to the door. The two friends got in the car together.</a:t>
            </a:r>
            <a:endParaRPr lang="en-US" sz="1300" dirty="0"/>
          </a:p>
          <a:p>
            <a:pPr indent="0" marL="0">
              <a:buNone/>
            </a:pPr>
            <a:endParaRPr lang="en-US" sz="1300" dirty="0"/>
          </a:p>
          <a:p>
            <a:pPr indent="0" marL="0">
              <a:buNone/>
            </a:pPr>
            <a:r>
              <a:rPr lang="en-US" sz="1300" dirty="0">
                <a:solidFill>
                  <a:srgbClr val="FFFFFF"/>
                </a:solidFill>
              </a:rPr>
              <a:t>At the park, Max and Buddy ran to the playground. Max went down the slide. Buddy barked and played nearby. Then they went to the big open field. Max threw a ball and Buddy raced to get it. They played fetch for a long time.</a:t>
            </a:r>
            <a:endParaRPr lang="en-US" sz="1300" dirty="0"/>
          </a:p>
          <a:p>
            <a:pPr indent="0" marL="0">
              <a:buNone/>
            </a:pPr>
            <a:endParaRPr lang="en-US" sz="1300" dirty="0"/>
          </a:p>
          <a:p>
            <a:pPr indent="0" marL="0">
              <a:buNone/>
            </a:pPr>
            <a:r>
              <a:rPr lang="en-US" sz="1300" dirty="0">
                <a:solidFill>
                  <a:srgbClr val="FFFFFF"/>
                </a:solidFill>
              </a:rPr>
              <a:t>After playing, Max and Buddy sat under a shady tree. They shared a snack. Max was tired but happy. "This was the best day ever, Buddy!" Max said, hugging his dog.</a:t>
            </a:r>
            <a:endParaRPr lang="en-US" sz="1300" dirty="0"/>
          </a:p>
        </p:txBody>
      </p:sp>
      <p:sp>
        <p:nvSpPr>
          <p:cNvPr id="4" name="Text 2"/>
          <p:cNvSpPr/>
          <p:nvPr/>
        </p:nvSpPr>
        <p:spPr>
          <a:xfrm>
            <a:off x="365760" y="2606040"/>
            <a:ext cx="8412480" cy="457200"/>
          </a:xfrm>
          <a:prstGeom prst="rect">
            <a:avLst/>
          </a:prstGeom>
          <a:noFill/>
          <a:ln/>
        </p:spPr>
        <p:txBody>
          <a:bodyPr wrap="square" rtlCol="0" anchor="ctr"/>
          <a:lstStyle/>
          <a:p>
            <a:pPr indent="0" marL="0">
              <a:buNone/>
            </a:pPr>
            <a:r>
              <a:rPr lang="en-US" sz="1600" b="1" dirty="0">
                <a:solidFill>
                  <a:srgbClr val="FFFFFF"/>
                </a:solidFill>
              </a:rPr>
              <a:t>Who is the story about?</a:t>
            </a:r>
            <a:endParaRPr lang="en-US" sz="1600" dirty="0"/>
          </a:p>
        </p:txBody>
      </p:sp>
      <p:sp>
        <p:nvSpPr>
          <p:cNvPr id="5" name="Shape 3"/>
          <p:cNvSpPr/>
          <p:nvPr/>
        </p:nvSpPr>
        <p:spPr>
          <a:xfrm>
            <a:off x="365760" y="3246120"/>
            <a:ext cx="4023360" cy="365760"/>
          </a:xfrm>
          <a:prstGeom prst="rect">
            <a:avLst>
              <a:gd name="adj" fmla="val 25000"/>
            </a:avLst>
          </a:prstGeom>
          <a:solidFill>
            <a:srgbClr val="A8C5DD"/>
          </a:solidFill>
          <a:ln w="12700">
            <a:solidFill>
              <a:srgbClr val="000000"/>
            </a:solidFill>
            <a:prstDash val="solid"/>
          </a:ln>
        </p:spPr>
      </p:sp>
      <p:sp>
        <p:nvSpPr>
          <p:cNvPr id="6" name="Text 4"/>
          <p:cNvSpPr/>
          <p:nvPr/>
        </p:nvSpPr>
        <p:spPr>
          <a:xfrm>
            <a:off x="457200" y="3264408"/>
            <a:ext cx="3840480" cy="329184"/>
          </a:xfrm>
          <a:prstGeom prst="rect">
            <a:avLst/>
          </a:prstGeom>
          <a:noFill/>
          <a:ln/>
        </p:spPr>
        <p:txBody>
          <a:bodyPr wrap="square" rtlCol="0" anchor="ctr"/>
          <a:lstStyle/>
          <a:p>
            <a:pPr algn="l" indent="0" marL="0">
              <a:buNone/>
            </a:pPr>
            <a:r>
              <a:rPr lang="en-US" sz="1400" dirty="0">
                <a:solidFill>
                  <a:srgbClr val="000000"/>
                </a:solidFill>
              </a:rPr>
              <a:t>A. A girl named Sarah</a:t>
            </a:r>
            <a:endParaRPr lang="en-US" sz="1400" dirty="0"/>
          </a:p>
        </p:txBody>
      </p:sp>
      <p:sp>
        <p:nvSpPr>
          <p:cNvPr id="7" name="Shape 5"/>
          <p:cNvSpPr/>
          <p:nvPr/>
        </p:nvSpPr>
        <p:spPr>
          <a:xfrm>
            <a:off x="4754880" y="3246120"/>
            <a:ext cx="4023360" cy="365760"/>
          </a:xfrm>
          <a:prstGeom prst="rect">
            <a:avLst>
              <a:gd name="adj" fmla="val 25000"/>
            </a:avLst>
          </a:prstGeom>
          <a:solidFill>
            <a:srgbClr val="D5F4E6"/>
          </a:solidFill>
          <a:ln w="12700">
            <a:solidFill>
              <a:srgbClr val="27AE60"/>
            </a:solidFill>
            <a:prstDash val="solid"/>
          </a:ln>
        </p:spPr>
      </p:sp>
      <p:sp>
        <p:nvSpPr>
          <p:cNvPr id="8" name="Text 6"/>
          <p:cNvSpPr/>
          <p:nvPr/>
        </p:nvSpPr>
        <p:spPr>
          <a:xfrm>
            <a:off x="4846320" y="3264408"/>
            <a:ext cx="3840480" cy="329184"/>
          </a:xfrm>
          <a:prstGeom prst="rect">
            <a:avLst/>
          </a:prstGeom>
          <a:noFill/>
          <a:ln/>
        </p:spPr>
        <p:txBody>
          <a:bodyPr wrap="square" rtlCol="0" anchor="ctr"/>
          <a:lstStyle/>
          <a:p>
            <a:pPr algn="l" indent="0" marL="0">
              <a:buNone/>
            </a:pPr>
            <a:r>
              <a:rPr lang="en-US" sz="1400" dirty="0">
                <a:solidFill>
                  <a:srgbClr val="000000"/>
                </a:solidFill>
              </a:rPr>
              <a:t>B. A boy named Max and his dog ✓</a:t>
            </a:r>
            <a:endParaRPr lang="en-US" sz="1400" dirty="0"/>
          </a:p>
        </p:txBody>
      </p:sp>
      <p:sp>
        <p:nvSpPr>
          <p:cNvPr id="9" name="Shape 7"/>
          <p:cNvSpPr/>
          <p:nvPr/>
        </p:nvSpPr>
        <p:spPr>
          <a:xfrm>
            <a:off x="365760" y="3749040"/>
            <a:ext cx="4023360" cy="365760"/>
          </a:xfrm>
          <a:prstGeom prst="rect">
            <a:avLst>
              <a:gd name="adj" fmla="val 25000"/>
            </a:avLst>
          </a:prstGeom>
          <a:solidFill>
            <a:srgbClr val="A8C5DD"/>
          </a:solidFill>
          <a:ln w="12700">
            <a:solidFill>
              <a:srgbClr val="000000"/>
            </a:solidFill>
            <a:prstDash val="solid"/>
          </a:ln>
        </p:spPr>
      </p:sp>
      <p:sp>
        <p:nvSpPr>
          <p:cNvPr id="10" name="Text 8"/>
          <p:cNvSpPr/>
          <p:nvPr/>
        </p:nvSpPr>
        <p:spPr>
          <a:xfrm>
            <a:off x="457200" y="3767328"/>
            <a:ext cx="3840480" cy="329184"/>
          </a:xfrm>
          <a:prstGeom prst="rect">
            <a:avLst/>
          </a:prstGeom>
          <a:noFill/>
          <a:ln/>
        </p:spPr>
        <p:txBody>
          <a:bodyPr wrap="square" rtlCol="0" anchor="ctr"/>
          <a:lstStyle/>
          <a:p>
            <a:pPr algn="l" indent="0" marL="0">
              <a:buNone/>
            </a:pPr>
            <a:r>
              <a:rPr lang="en-US" sz="1400" dirty="0">
                <a:solidFill>
                  <a:srgbClr val="000000"/>
                </a:solidFill>
              </a:rPr>
              <a:t>C. A dog named Scout</a:t>
            </a:r>
            <a:endParaRPr lang="en-US" sz="1400" dirty="0"/>
          </a:p>
        </p:txBody>
      </p:sp>
      <p:sp>
        <p:nvSpPr>
          <p:cNvPr id="11" name="Shape 9"/>
          <p:cNvSpPr/>
          <p:nvPr/>
        </p:nvSpPr>
        <p:spPr>
          <a:xfrm>
            <a:off x="4754880" y="3749040"/>
            <a:ext cx="4023360" cy="365760"/>
          </a:xfrm>
          <a:prstGeom prst="rect">
            <a:avLst>
              <a:gd name="adj" fmla="val 25000"/>
            </a:avLst>
          </a:prstGeom>
          <a:solidFill>
            <a:srgbClr val="A8C5DD"/>
          </a:solidFill>
          <a:ln w="12700">
            <a:solidFill>
              <a:srgbClr val="000000"/>
            </a:solidFill>
            <a:prstDash val="solid"/>
          </a:ln>
        </p:spPr>
      </p:sp>
      <p:sp>
        <p:nvSpPr>
          <p:cNvPr id="12" name="Text 10"/>
          <p:cNvSpPr/>
          <p:nvPr/>
        </p:nvSpPr>
        <p:spPr>
          <a:xfrm>
            <a:off x="4846320" y="3767328"/>
            <a:ext cx="3840480" cy="329184"/>
          </a:xfrm>
          <a:prstGeom prst="rect">
            <a:avLst/>
          </a:prstGeom>
          <a:noFill/>
          <a:ln/>
        </p:spPr>
        <p:txBody>
          <a:bodyPr wrap="square" rtlCol="0" anchor="ctr"/>
          <a:lstStyle/>
          <a:p>
            <a:pPr algn="l" indent="0" marL="0">
              <a:buNone/>
            </a:pPr>
            <a:r>
              <a:rPr lang="en-US" sz="1400" dirty="0">
                <a:solidFill>
                  <a:srgbClr val="000000"/>
                </a:solidFill>
              </a:rPr>
              <a:t>D. A teacher at school</a:t>
            </a:r>
            <a:endParaRPr lang="en-US" sz="1400" dirty="0"/>
          </a:p>
        </p:txBody>
      </p:sp>
      <p:sp>
        <p:nvSpPr>
          <p:cNvPr id="13" name="Text 11"/>
          <p:cNvSpPr/>
          <p:nvPr/>
        </p:nvSpPr>
        <p:spPr>
          <a:xfrm>
            <a:off x="365760" y="4160520"/>
            <a:ext cx="8412480" cy="320040"/>
          </a:xfrm>
          <a:prstGeom prst="rect">
            <a:avLst/>
          </a:prstGeom>
          <a:noFill/>
          <a:ln/>
        </p:spPr>
        <p:txBody>
          <a:bodyPr wrap="square" rtlCol="0" anchor="ctr"/>
          <a:lstStyle/>
          <a:p>
            <a:pPr indent="0" marL="0">
              <a:buNone/>
            </a:pPr>
            <a:r>
              <a:rPr lang="en-US" sz="1400" b="1" dirty="0">
                <a:solidFill>
                  <a:srgbClr val="27AE60"/>
                </a:solidFill>
              </a:rPr>
              <a:t>Correct!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7 of 20</a:t>
            </a:r>
            <a:endParaRPr lang="en-US" sz="1300" dirty="0"/>
          </a:p>
        </p:txBody>
      </p:sp>
      <p:sp>
        <p:nvSpPr>
          <p:cNvPr id="3" name="Text 1"/>
          <p:cNvSpPr/>
          <p:nvPr/>
        </p:nvSpPr>
        <p:spPr>
          <a:xfrm>
            <a:off x="365760" y="777240"/>
            <a:ext cx="8412480" cy="1645920"/>
          </a:xfrm>
          <a:prstGeom prst="rect">
            <a:avLst/>
          </a:prstGeom>
          <a:solidFill>
            <a:srgbClr val="5A3D6A"/>
          </a:solidFill>
          <a:ln/>
        </p:spPr>
        <p:txBody>
          <a:bodyPr wrap="square" lIns="101600" tIns="101600" rIns="101600" bIns="101600" rtlCol="0" anchor="ctr"/>
          <a:lstStyle/>
          <a:p>
            <a:pPr indent="0" marL="0">
              <a:buNone/>
            </a:pPr>
            <a:r>
              <a:rPr lang="en-US" sz="1300" dirty="0">
                <a:solidFill>
                  <a:srgbClr val="FFFFFF"/>
                </a:solidFill>
              </a:rPr>
              <a:t>Max woke up early on Saturday morning. He was excited because his best friend was his dog, Buddy. Today they were going to the park!</a:t>
            </a:r>
            <a:endParaRPr lang="en-US" sz="1300" dirty="0"/>
          </a:p>
          <a:p>
            <a:pPr indent="0" marL="0">
              <a:buNone/>
            </a:pPr>
            <a:endParaRPr lang="en-US" sz="1300" dirty="0"/>
          </a:p>
          <a:p>
            <a:pPr indent="0" marL="0">
              <a:buNone/>
            </a:pPr>
            <a:r>
              <a:rPr lang="en-US" sz="1300" dirty="0">
                <a:solidFill>
                  <a:srgbClr val="FFFFFF"/>
                </a:solidFill>
              </a:rPr>
              <a:t>"Buddy! Time to go to the park!" Max called. Buddy wagged his tail and ran to the door. The two friends got in the car together.</a:t>
            </a:r>
            <a:endParaRPr lang="en-US" sz="1300" dirty="0"/>
          </a:p>
          <a:p>
            <a:pPr indent="0" marL="0">
              <a:buNone/>
            </a:pPr>
            <a:endParaRPr lang="en-US" sz="1300" dirty="0"/>
          </a:p>
          <a:p>
            <a:pPr indent="0" marL="0">
              <a:buNone/>
            </a:pPr>
            <a:r>
              <a:rPr lang="en-US" sz="1300" dirty="0">
                <a:solidFill>
                  <a:srgbClr val="FFFFFF"/>
                </a:solidFill>
              </a:rPr>
              <a:t>At the park, Max and Buddy ran to the playground. Max went down the slide. Buddy barked and played nearby. Then they went to the big open field. Max threw a ball and Buddy raced to get it. They played fetch for a long time.</a:t>
            </a:r>
            <a:endParaRPr lang="en-US" sz="1300" dirty="0"/>
          </a:p>
          <a:p>
            <a:pPr indent="0" marL="0">
              <a:buNone/>
            </a:pPr>
            <a:endParaRPr lang="en-US" sz="1300" dirty="0"/>
          </a:p>
          <a:p>
            <a:pPr indent="0" marL="0">
              <a:buNone/>
            </a:pPr>
            <a:r>
              <a:rPr lang="en-US" sz="1300" dirty="0">
                <a:solidFill>
                  <a:srgbClr val="FFFFFF"/>
                </a:solidFill>
              </a:rPr>
              <a:t>After playing, Max and Buddy sat under a shady tree. They shared a snack. Max was tired but happy. "This was the best day ever, Buddy!" Max said, hugging his dog.</a:t>
            </a:r>
            <a:endParaRPr lang="en-US" sz="1300" dirty="0"/>
          </a:p>
        </p:txBody>
      </p:sp>
      <p:sp>
        <p:nvSpPr>
          <p:cNvPr id="4" name="Text 2"/>
          <p:cNvSpPr/>
          <p:nvPr/>
        </p:nvSpPr>
        <p:spPr>
          <a:xfrm>
            <a:off x="365760" y="2606040"/>
            <a:ext cx="8412480" cy="457200"/>
          </a:xfrm>
          <a:prstGeom prst="rect">
            <a:avLst/>
          </a:prstGeom>
          <a:noFill/>
          <a:ln/>
        </p:spPr>
        <p:txBody>
          <a:bodyPr wrap="square" rtlCol="0" anchor="ctr"/>
          <a:lstStyle/>
          <a:p>
            <a:pPr indent="0" marL="0">
              <a:buNone/>
            </a:pPr>
            <a:r>
              <a:rPr lang="en-US" sz="1600" b="1" dirty="0">
                <a:solidFill>
                  <a:srgbClr val="FFFFFF"/>
                </a:solidFill>
              </a:rPr>
              <a:t>What does Max do FIRST at the park?</a:t>
            </a:r>
            <a:endParaRPr lang="en-US" sz="1600" dirty="0"/>
          </a:p>
        </p:txBody>
      </p:sp>
      <p:sp>
        <p:nvSpPr>
          <p:cNvPr id="5" name="Shape 3"/>
          <p:cNvSpPr/>
          <p:nvPr/>
        </p:nvSpPr>
        <p:spPr>
          <a:xfrm>
            <a:off x="365760" y="3246120"/>
            <a:ext cx="4023360" cy="365760"/>
          </a:xfrm>
          <a:prstGeom prst="rect">
            <a:avLst>
              <a:gd name="adj" fmla="val 25000"/>
            </a:avLst>
          </a:prstGeom>
          <a:solidFill>
            <a:srgbClr val="A8C5DD"/>
          </a:solidFill>
          <a:ln w="12700">
            <a:solidFill>
              <a:srgbClr val="000000"/>
            </a:solidFill>
            <a:prstDash val="solid"/>
          </a:ln>
        </p:spPr>
      </p:sp>
      <p:sp>
        <p:nvSpPr>
          <p:cNvPr id="6" name="Text 4"/>
          <p:cNvSpPr/>
          <p:nvPr/>
        </p:nvSpPr>
        <p:spPr>
          <a:xfrm>
            <a:off x="457200" y="3264408"/>
            <a:ext cx="3840480" cy="329184"/>
          </a:xfrm>
          <a:prstGeom prst="rect">
            <a:avLst/>
          </a:prstGeom>
          <a:noFill/>
          <a:ln/>
        </p:spPr>
        <p:txBody>
          <a:bodyPr wrap="square" rtlCol="0" anchor="ctr"/>
          <a:lstStyle/>
          <a:p>
            <a:pPr algn="l" indent="0" marL="0">
              <a:buNone/>
            </a:pPr>
            <a:r>
              <a:rPr lang="en-US" sz="1400" dirty="0">
                <a:solidFill>
                  <a:srgbClr val="000000"/>
                </a:solidFill>
              </a:rPr>
              <a:t>A. Go down the slide</a:t>
            </a:r>
            <a:endParaRPr lang="en-US" sz="1400" dirty="0"/>
          </a:p>
        </p:txBody>
      </p:sp>
      <p:sp>
        <p:nvSpPr>
          <p:cNvPr id="7" name="Shape 5"/>
          <p:cNvSpPr/>
          <p:nvPr/>
        </p:nvSpPr>
        <p:spPr>
          <a:xfrm>
            <a:off x="4754880" y="3246120"/>
            <a:ext cx="4023360" cy="365760"/>
          </a:xfrm>
          <a:prstGeom prst="rect">
            <a:avLst>
              <a:gd name="adj" fmla="val 25000"/>
            </a:avLst>
          </a:prstGeom>
          <a:solidFill>
            <a:srgbClr val="A8C5DD"/>
          </a:solidFill>
          <a:ln w="12700">
            <a:solidFill>
              <a:srgbClr val="000000"/>
            </a:solidFill>
            <a:prstDash val="solid"/>
          </a:ln>
        </p:spPr>
      </p:sp>
      <p:sp>
        <p:nvSpPr>
          <p:cNvPr id="8" name="Text 6"/>
          <p:cNvSpPr/>
          <p:nvPr/>
        </p:nvSpPr>
        <p:spPr>
          <a:xfrm>
            <a:off x="4846320" y="3264408"/>
            <a:ext cx="3840480" cy="329184"/>
          </a:xfrm>
          <a:prstGeom prst="rect">
            <a:avLst/>
          </a:prstGeom>
          <a:noFill/>
          <a:ln/>
        </p:spPr>
        <p:txBody>
          <a:bodyPr wrap="square" rtlCol="0" anchor="ctr"/>
          <a:lstStyle/>
          <a:p>
            <a:pPr algn="l" indent="0" marL="0">
              <a:buNone/>
            </a:pPr>
            <a:r>
              <a:rPr lang="en-US" sz="1400" dirty="0">
                <a:solidFill>
                  <a:srgbClr val="000000"/>
                </a:solidFill>
              </a:rPr>
              <a:t>B. Eat lunch</a:t>
            </a:r>
            <a:endParaRPr lang="en-US" sz="1400" dirty="0"/>
          </a:p>
        </p:txBody>
      </p:sp>
      <p:sp>
        <p:nvSpPr>
          <p:cNvPr id="9" name="Shape 7"/>
          <p:cNvSpPr/>
          <p:nvPr/>
        </p:nvSpPr>
        <p:spPr>
          <a:xfrm>
            <a:off x="365760" y="3749040"/>
            <a:ext cx="4023360" cy="365760"/>
          </a:xfrm>
          <a:prstGeom prst="rect">
            <a:avLst>
              <a:gd name="adj" fmla="val 25000"/>
            </a:avLst>
          </a:prstGeom>
          <a:solidFill>
            <a:srgbClr val="A8C5DD"/>
          </a:solidFill>
          <a:ln w="12700">
            <a:solidFill>
              <a:srgbClr val="000000"/>
            </a:solidFill>
            <a:prstDash val="solid"/>
          </a:ln>
        </p:spPr>
      </p:sp>
      <p:sp>
        <p:nvSpPr>
          <p:cNvPr id="10" name="Text 8"/>
          <p:cNvSpPr/>
          <p:nvPr/>
        </p:nvSpPr>
        <p:spPr>
          <a:xfrm>
            <a:off x="457200" y="3767328"/>
            <a:ext cx="3840480" cy="329184"/>
          </a:xfrm>
          <a:prstGeom prst="rect">
            <a:avLst/>
          </a:prstGeom>
          <a:noFill/>
          <a:ln/>
        </p:spPr>
        <p:txBody>
          <a:bodyPr wrap="square" rtlCol="0" anchor="ctr"/>
          <a:lstStyle/>
          <a:p>
            <a:pPr algn="l" indent="0" marL="0">
              <a:buNone/>
            </a:pPr>
            <a:r>
              <a:rPr lang="en-US" sz="1400" dirty="0">
                <a:solidFill>
                  <a:srgbClr val="000000"/>
                </a:solidFill>
              </a:rPr>
              <a:t>C. Go home</a:t>
            </a:r>
            <a:endParaRPr lang="en-US" sz="1400" dirty="0"/>
          </a:p>
        </p:txBody>
      </p:sp>
      <p:sp>
        <p:nvSpPr>
          <p:cNvPr id="11" name="Shape 9"/>
          <p:cNvSpPr/>
          <p:nvPr/>
        </p:nvSpPr>
        <p:spPr>
          <a:xfrm>
            <a:off x="4754880" y="3749040"/>
            <a:ext cx="4023360" cy="365760"/>
          </a:xfrm>
          <a:prstGeom prst="rect">
            <a:avLst>
              <a:gd name="adj" fmla="val 25000"/>
            </a:avLst>
          </a:prstGeom>
          <a:solidFill>
            <a:srgbClr val="A8C5DD"/>
          </a:solidFill>
          <a:ln w="12700">
            <a:solidFill>
              <a:srgbClr val="000000"/>
            </a:solidFill>
            <a:prstDash val="solid"/>
          </a:ln>
        </p:spPr>
      </p:sp>
      <p:sp>
        <p:nvSpPr>
          <p:cNvPr id="12" name="Text 10"/>
          <p:cNvSpPr/>
          <p:nvPr/>
        </p:nvSpPr>
        <p:spPr>
          <a:xfrm>
            <a:off x="4846320" y="3767328"/>
            <a:ext cx="3840480" cy="329184"/>
          </a:xfrm>
          <a:prstGeom prst="rect">
            <a:avLst/>
          </a:prstGeom>
          <a:noFill/>
          <a:ln/>
        </p:spPr>
        <p:txBody>
          <a:bodyPr wrap="square" rtlCol="0" anchor="ctr"/>
          <a:lstStyle/>
          <a:p>
            <a:pPr algn="l" indent="0" marL="0">
              <a:buNone/>
            </a:pPr>
            <a:r>
              <a:rPr lang="en-US" sz="1400" dirty="0">
                <a:solidFill>
                  <a:srgbClr val="000000"/>
                </a:solidFill>
              </a:rPr>
              <a:t>D. Play with his friend</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7 - Answer</a:t>
            </a:r>
            <a:endParaRPr lang="en-US" sz="1300" dirty="0"/>
          </a:p>
        </p:txBody>
      </p:sp>
      <p:sp>
        <p:nvSpPr>
          <p:cNvPr id="3" name="Text 1"/>
          <p:cNvSpPr/>
          <p:nvPr/>
        </p:nvSpPr>
        <p:spPr>
          <a:xfrm>
            <a:off x="365760" y="777240"/>
            <a:ext cx="8412480" cy="1645920"/>
          </a:xfrm>
          <a:prstGeom prst="rect">
            <a:avLst/>
          </a:prstGeom>
          <a:solidFill>
            <a:srgbClr val="5A3D6A"/>
          </a:solidFill>
          <a:ln/>
        </p:spPr>
        <p:txBody>
          <a:bodyPr wrap="square" lIns="101600" tIns="101600" rIns="101600" bIns="101600" rtlCol="0" anchor="ctr"/>
          <a:lstStyle/>
          <a:p>
            <a:pPr indent="0" marL="0">
              <a:buNone/>
            </a:pPr>
            <a:r>
              <a:rPr lang="en-US" sz="1300" dirty="0">
                <a:solidFill>
                  <a:srgbClr val="FFFFFF"/>
                </a:solidFill>
              </a:rPr>
              <a:t>Max woke up early on Saturday morning. He was excited because his best friend was his dog, Buddy. Today they were going to the park!</a:t>
            </a:r>
            <a:endParaRPr lang="en-US" sz="1300" dirty="0"/>
          </a:p>
          <a:p>
            <a:pPr indent="0" marL="0">
              <a:buNone/>
            </a:pPr>
            <a:endParaRPr lang="en-US" sz="1300" dirty="0"/>
          </a:p>
          <a:p>
            <a:pPr indent="0" marL="0">
              <a:buNone/>
            </a:pPr>
            <a:r>
              <a:rPr lang="en-US" sz="1300" dirty="0">
                <a:solidFill>
                  <a:srgbClr val="FFFFFF"/>
                </a:solidFill>
              </a:rPr>
              <a:t>"Buddy! Time to go to the park!" Max called. Buddy wagged his tail and ran to the door. The two friends got in the car together.</a:t>
            </a:r>
            <a:endParaRPr lang="en-US" sz="1300" dirty="0"/>
          </a:p>
          <a:p>
            <a:pPr indent="0" marL="0">
              <a:buNone/>
            </a:pPr>
            <a:endParaRPr lang="en-US" sz="1300" dirty="0"/>
          </a:p>
          <a:p>
            <a:pPr indent="0" marL="0">
              <a:buNone/>
            </a:pPr>
            <a:r>
              <a:rPr lang="en-US" sz="1300" dirty="0">
                <a:solidFill>
                  <a:srgbClr val="FFFFFF"/>
                </a:solidFill>
              </a:rPr>
              <a:t>At the park, Max and Buddy ran to the playground. Max went down the slide. Buddy barked and played nearby. Then they went to the big open field. Max threw a ball and Buddy raced to get it. They played fetch for a long time.</a:t>
            </a:r>
            <a:endParaRPr lang="en-US" sz="1300" dirty="0"/>
          </a:p>
          <a:p>
            <a:pPr indent="0" marL="0">
              <a:buNone/>
            </a:pPr>
            <a:endParaRPr lang="en-US" sz="1300" dirty="0"/>
          </a:p>
          <a:p>
            <a:pPr indent="0" marL="0">
              <a:buNone/>
            </a:pPr>
            <a:r>
              <a:rPr lang="en-US" sz="1300" dirty="0">
                <a:solidFill>
                  <a:srgbClr val="FFFFFF"/>
                </a:solidFill>
              </a:rPr>
              <a:t>After playing, Max and Buddy sat under a shady tree. They shared a snack. Max was tired but happy. "This was the best day ever, Buddy!" Max said, hugging his dog.</a:t>
            </a:r>
            <a:endParaRPr lang="en-US" sz="1300" dirty="0"/>
          </a:p>
        </p:txBody>
      </p:sp>
      <p:sp>
        <p:nvSpPr>
          <p:cNvPr id="4" name="Text 2"/>
          <p:cNvSpPr/>
          <p:nvPr/>
        </p:nvSpPr>
        <p:spPr>
          <a:xfrm>
            <a:off x="365760" y="2606040"/>
            <a:ext cx="8412480" cy="457200"/>
          </a:xfrm>
          <a:prstGeom prst="rect">
            <a:avLst/>
          </a:prstGeom>
          <a:noFill/>
          <a:ln/>
        </p:spPr>
        <p:txBody>
          <a:bodyPr wrap="square" rtlCol="0" anchor="ctr"/>
          <a:lstStyle/>
          <a:p>
            <a:pPr indent="0" marL="0">
              <a:buNone/>
            </a:pPr>
            <a:r>
              <a:rPr lang="en-US" sz="1600" b="1" dirty="0">
                <a:solidFill>
                  <a:srgbClr val="FFFFFF"/>
                </a:solidFill>
              </a:rPr>
              <a:t>What does Max do FIRST at the park?</a:t>
            </a:r>
            <a:endParaRPr lang="en-US" sz="1600" dirty="0"/>
          </a:p>
        </p:txBody>
      </p:sp>
      <p:sp>
        <p:nvSpPr>
          <p:cNvPr id="5" name="Shape 3"/>
          <p:cNvSpPr/>
          <p:nvPr/>
        </p:nvSpPr>
        <p:spPr>
          <a:xfrm>
            <a:off x="365760" y="3246120"/>
            <a:ext cx="4023360" cy="365760"/>
          </a:xfrm>
          <a:prstGeom prst="rect">
            <a:avLst>
              <a:gd name="adj" fmla="val 25000"/>
            </a:avLst>
          </a:prstGeom>
          <a:solidFill>
            <a:srgbClr val="D5F4E6"/>
          </a:solidFill>
          <a:ln w="12700">
            <a:solidFill>
              <a:srgbClr val="27AE60"/>
            </a:solidFill>
            <a:prstDash val="solid"/>
          </a:ln>
        </p:spPr>
      </p:sp>
      <p:sp>
        <p:nvSpPr>
          <p:cNvPr id="6" name="Text 4"/>
          <p:cNvSpPr/>
          <p:nvPr/>
        </p:nvSpPr>
        <p:spPr>
          <a:xfrm>
            <a:off x="457200" y="3264408"/>
            <a:ext cx="3840480" cy="329184"/>
          </a:xfrm>
          <a:prstGeom prst="rect">
            <a:avLst/>
          </a:prstGeom>
          <a:noFill/>
          <a:ln/>
        </p:spPr>
        <p:txBody>
          <a:bodyPr wrap="square" rtlCol="0" anchor="ctr"/>
          <a:lstStyle/>
          <a:p>
            <a:pPr algn="l" indent="0" marL="0">
              <a:buNone/>
            </a:pPr>
            <a:r>
              <a:rPr lang="en-US" sz="1400" dirty="0">
                <a:solidFill>
                  <a:srgbClr val="000000"/>
                </a:solidFill>
              </a:rPr>
              <a:t>A. Go down the slide ✓</a:t>
            </a:r>
            <a:endParaRPr lang="en-US" sz="1400" dirty="0"/>
          </a:p>
        </p:txBody>
      </p:sp>
      <p:sp>
        <p:nvSpPr>
          <p:cNvPr id="7" name="Shape 5"/>
          <p:cNvSpPr/>
          <p:nvPr/>
        </p:nvSpPr>
        <p:spPr>
          <a:xfrm>
            <a:off x="4754880" y="3246120"/>
            <a:ext cx="4023360" cy="365760"/>
          </a:xfrm>
          <a:prstGeom prst="rect">
            <a:avLst>
              <a:gd name="adj" fmla="val 25000"/>
            </a:avLst>
          </a:prstGeom>
          <a:solidFill>
            <a:srgbClr val="A8C5DD"/>
          </a:solidFill>
          <a:ln w="12700">
            <a:solidFill>
              <a:srgbClr val="000000"/>
            </a:solidFill>
            <a:prstDash val="solid"/>
          </a:ln>
        </p:spPr>
      </p:sp>
      <p:sp>
        <p:nvSpPr>
          <p:cNvPr id="8" name="Text 6"/>
          <p:cNvSpPr/>
          <p:nvPr/>
        </p:nvSpPr>
        <p:spPr>
          <a:xfrm>
            <a:off x="4846320" y="3264408"/>
            <a:ext cx="3840480" cy="329184"/>
          </a:xfrm>
          <a:prstGeom prst="rect">
            <a:avLst/>
          </a:prstGeom>
          <a:noFill/>
          <a:ln/>
        </p:spPr>
        <p:txBody>
          <a:bodyPr wrap="square" rtlCol="0" anchor="ctr"/>
          <a:lstStyle/>
          <a:p>
            <a:pPr algn="l" indent="0" marL="0">
              <a:buNone/>
            </a:pPr>
            <a:r>
              <a:rPr lang="en-US" sz="1400" dirty="0">
                <a:solidFill>
                  <a:srgbClr val="000000"/>
                </a:solidFill>
              </a:rPr>
              <a:t>B. Eat lunch</a:t>
            </a:r>
            <a:endParaRPr lang="en-US" sz="1400" dirty="0"/>
          </a:p>
        </p:txBody>
      </p:sp>
      <p:sp>
        <p:nvSpPr>
          <p:cNvPr id="9" name="Shape 7"/>
          <p:cNvSpPr/>
          <p:nvPr/>
        </p:nvSpPr>
        <p:spPr>
          <a:xfrm>
            <a:off x="365760" y="3749040"/>
            <a:ext cx="4023360" cy="365760"/>
          </a:xfrm>
          <a:prstGeom prst="rect">
            <a:avLst>
              <a:gd name="adj" fmla="val 25000"/>
            </a:avLst>
          </a:prstGeom>
          <a:solidFill>
            <a:srgbClr val="A8C5DD"/>
          </a:solidFill>
          <a:ln w="12700">
            <a:solidFill>
              <a:srgbClr val="000000"/>
            </a:solidFill>
            <a:prstDash val="solid"/>
          </a:ln>
        </p:spPr>
      </p:sp>
      <p:sp>
        <p:nvSpPr>
          <p:cNvPr id="10" name="Text 8"/>
          <p:cNvSpPr/>
          <p:nvPr/>
        </p:nvSpPr>
        <p:spPr>
          <a:xfrm>
            <a:off x="457200" y="3767328"/>
            <a:ext cx="3840480" cy="329184"/>
          </a:xfrm>
          <a:prstGeom prst="rect">
            <a:avLst/>
          </a:prstGeom>
          <a:noFill/>
          <a:ln/>
        </p:spPr>
        <p:txBody>
          <a:bodyPr wrap="square" rtlCol="0" anchor="ctr"/>
          <a:lstStyle/>
          <a:p>
            <a:pPr algn="l" indent="0" marL="0">
              <a:buNone/>
            </a:pPr>
            <a:r>
              <a:rPr lang="en-US" sz="1400" dirty="0">
                <a:solidFill>
                  <a:srgbClr val="000000"/>
                </a:solidFill>
              </a:rPr>
              <a:t>C. Go home</a:t>
            </a:r>
            <a:endParaRPr lang="en-US" sz="1400" dirty="0"/>
          </a:p>
        </p:txBody>
      </p:sp>
      <p:sp>
        <p:nvSpPr>
          <p:cNvPr id="11" name="Shape 9"/>
          <p:cNvSpPr/>
          <p:nvPr/>
        </p:nvSpPr>
        <p:spPr>
          <a:xfrm>
            <a:off x="4754880" y="3749040"/>
            <a:ext cx="4023360" cy="365760"/>
          </a:xfrm>
          <a:prstGeom prst="rect">
            <a:avLst>
              <a:gd name="adj" fmla="val 25000"/>
            </a:avLst>
          </a:prstGeom>
          <a:solidFill>
            <a:srgbClr val="A8C5DD"/>
          </a:solidFill>
          <a:ln w="12700">
            <a:solidFill>
              <a:srgbClr val="000000"/>
            </a:solidFill>
            <a:prstDash val="solid"/>
          </a:ln>
        </p:spPr>
      </p:sp>
      <p:sp>
        <p:nvSpPr>
          <p:cNvPr id="12" name="Text 10"/>
          <p:cNvSpPr/>
          <p:nvPr/>
        </p:nvSpPr>
        <p:spPr>
          <a:xfrm>
            <a:off x="4846320" y="3767328"/>
            <a:ext cx="3840480" cy="329184"/>
          </a:xfrm>
          <a:prstGeom prst="rect">
            <a:avLst/>
          </a:prstGeom>
          <a:noFill/>
          <a:ln/>
        </p:spPr>
        <p:txBody>
          <a:bodyPr wrap="square" rtlCol="0" anchor="ctr"/>
          <a:lstStyle/>
          <a:p>
            <a:pPr algn="l" indent="0" marL="0">
              <a:buNone/>
            </a:pPr>
            <a:r>
              <a:rPr lang="en-US" sz="1400" dirty="0">
                <a:solidFill>
                  <a:srgbClr val="000000"/>
                </a:solidFill>
              </a:rPr>
              <a:t>D. Play with his friend</a:t>
            </a:r>
            <a:endParaRPr lang="en-US" sz="1400" dirty="0"/>
          </a:p>
        </p:txBody>
      </p:sp>
      <p:sp>
        <p:nvSpPr>
          <p:cNvPr id="13" name="Text 11"/>
          <p:cNvSpPr/>
          <p:nvPr/>
        </p:nvSpPr>
        <p:spPr>
          <a:xfrm>
            <a:off x="365760" y="4160520"/>
            <a:ext cx="8412480" cy="320040"/>
          </a:xfrm>
          <a:prstGeom prst="rect">
            <a:avLst/>
          </a:prstGeom>
          <a:noFill/>
          <a:ln/>
        </p:spPr>
        <p:txBody>
          <a:bodyPr wrap="square" rtlCol="0" anchor="ctr"/>
          <a:lstStyle/>
          <a:p>
            <a:pPr indent="0" marL="0">
              <a:buNone/>
            </a:pPr>
            <a:r>
              <a:rPr lang="en-US" sz="1400" b="1" dirty="0">
                <a:solidFill>
                  <a:srgbClr val="27AE60"/>
                </a:solidFill>
              </a:rPr>
              <a:t>Correct!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8 of 20</a:t>
            </a:r>
            <a:endParaRPr lang="en-US" sz="1300" dirty="0"/>
          </a:p>
        </p:txBody>
      </p:sp>
      <p:sp>
        <p:nvSpPr>
          <p:cNvPr id="3" name="Text 1"/>
          <p:cNvSpPr/>
          <p:nvPr/>
        </p:nvSpPr>
        <p:spPr>
          <a:xfrm>
            <a:off x="365760" y="777240"/>
            <a:ext cx="8412480" cy="1645920"/>
          </a:xfrm>
          <a:prstGeom prst="rect">
            <a:avLst/>
          </a:prstGeom>
          <a:solidFill>
            <a:srgbClr val="5A3D6A"/>
          </a:solidFill>
          <a:ln/>
        </p:spPr>
        <p:txBody>
          <a:bodyPr wrap="square" lIns="101600" tIns="101600" rIns="101600" bIns="101600" rtlCol="0" anchor="ctr"/>
          <a:lstStyle/>
          <a:p>
            <a:pPr indent="0" marL="0">
              <a:buNone/>
            </a:pPr>
            <a:r>
              <a:rPr lang="en-US" sz="1300" dirty="0">
                <a:solidFill>
                  <a:srgbClr val="FFFFFF"/>
                </a:solidFill>
              </a:rPr>
              <a:t>Max woke up early on Saturday morning. He was excited because his best friend was his dog, Buddy. Today they were going to the park!</a:t>
            </a:r>
            <a:endParaRPr lang="en-US" sz="1300" dirty="0"/>
          </a:p>
          <a:p>
            <a:pPr indent="0" marL="0">
              <a:buNone/>
            </a:pPr>
            <a:endParaRPr lang="en-US" sz="1300" dirty="0"/>
          </a:p>
          <a:p>
            <a:pPr indent="0" marL="0">
              <a:buNone/>
            </a:pPr>
            <a:r>
              <a:rPr lang="en-US" sz="1300" dirty="0">
                <a:solidFill>
                  <a:srgbClr val="FFFFFF"/>
                </a:solidFill>
              </a:rPr>
              <a:t>"Buddy! Time to go to the park!" Max called. Buddy wagged his tail and ran to the door. The two friends got in the car together.</a:t>
            </a:r>
            <a:endParaRPr lang="en-US" sz="1300" dirty="0"/>
          </a:p>
          <a:p>
            <a:pPr indent="0" marL="0">
              <a:buNone/>
            </a:pPr>
            <a:endParaRPr lang="en-US" sz="1300" dirty="0"/>
          </a:p>
          <a:p>
            <a:pPr indent="0" marL="0">
              <a:buNone/>
            </a:pPr>
            <a:r>
              <a:rPr lang="en-US" sz="1300" dirty="0">
                <a:solidFill>
                  <a:srgbClr val="FFFFFF"/>
                </a:solidFill>
              </a:rPr>
              <a:t>At the park, Max and Buddy ran to the playground. Max went down the slide. Buddy barked and played nearby. Then they went to the big open field. Max threw a ball and Buddy raced to get it. They played fetch for a long time.</a:t>
            </a:r>
            <a:endParaRPr lang="en-US" sz="1300" dirty="0"/>
          </a:p>
          <a:p>
            <a:pPr indent="0" marL="0">
              <a:buNone/>
            </a:pPr>
            <a:endParaRPr lang="en-US" sz="1300" dirty="0"/>
          </a:p>
          <a:p>
            <a:pPr indent="0" marL="0">
              <a:buNone/>
            </a:pPr>
            <a:r>
              <a:rPr lang="en-US" sz="1300" dirty="0">
                <a:solidFill>
                  <a:srgbClr val="FFFFFF"/>
                </a:solidFill>
              </a:rPr>
              <a:t>After playing, Max and Buddy sat under a shady tree. They shared a snack. Max was tired but happy. "This was the best day ever, Buddy!" Max said, hugging his dog.</a:t>
            </a:r>
            <a:endParaRPr lang="en-US" sz="1300" dirty="0"/>
          </a:p>
        </p:txBody>
      </p:sp>
      <p:sp>
        <p:nvSpPr>
          <p:cNvPr id="4" name="Text 2"/>
          <p:cNvSpPr/>
          <p:nvPr/>
        </p:nvSpPr>
        <p:spPr>
          <a:xfrm>
            <a:off x="365760" y="2606040"/>
            <a:ext cx="8412480" cy="457200"/>
          </a:xfrm>
          <a:prstGeom prst="rect">
            <a:avLst/>
          </a:prstGeom>
          <a:noFill/>
          <a:ln/>
        </p:spPr>
        <p:txBody>
          <a:bodyPr wrap="square" rtlCol="0" anchor="ctr"/>
          <a:lstStyle/>
          <a:p>
            <a:pPr indent="0" marL="0">
              <a:buNone/>
            </a:pPr>
            <a:r>
              <a:rPr lang="en-US" sz="1600" b="1" dirty="0">
                <a:solidFill>
                  <a:srgbClr val="FFFFFF"/>
                </a:solidFill>
              </a:rPr>
              <a:t>Why does Max feel happy at the end of the story?</a:t>
            </a:r>
            <a:endParaRPr lang="en-US" sz="1600" dirty="0"/>
          </a:p>
        </p:txBody>
      </p:sp>
      <p:sp>
        <p:nvSpPr>
          <p:cNvPr id="5" name="Shape 3"/>
          <p:cNvSpPr/>
          <p:nvPr/>
        </p:nvSpPr>
        <p:spPr>
          <a:xfrm>
            <a:off x="365760" y="3246120"/>
            <a:ext cx="4023360" cy="365760"/>
          </a:xfrm>
          <a:prstGeom prst="rect">
            <a:avLst>
              <a:gd name="adj" fmla="val 25000"/>
            </a:avLst>
          </a:prstGeom>
          <a:solidFill>
            <a:srgbClr val="A8C5DD"/>
          </a:solidFill>
          <a:ln w="12700">
            <a:solidFill>
              <a:srgbClr val="000000"/>
            </a:solidFill>
            <a:prstDash val="solid"/>
          </a:ln>
        </p:spPr>
      </p:sp>
      <p:sp>
        <p:nvSpPr>
          <p:cNvPr id="6" name="Text 4"/>
          <p:cNvSpPr/>
          <p:nvPr/>
        </p:nvSpPr>
        <p:spPr>
          <a:xfrm>
            <a:off x="457200" y="3264408"/>
            <a:ext cx="3840480" cy="329184"/>
          </a:xfrm>
          <a:prstGeom prst="rect">
            <a:avLst/>
          </a:prstGeom>
          <a:noFill/>
          <a:ln/>
        </p:spPr>
        <p:txBody>
          <a:bodyPr wrap="square" rtlCol="0" anchor="ctr"/>
          <a:lstStyle/>
          <a:p>
            <a:pPr algn="l" indent="0" marL="0">
              <a:buNone/>
            </a:pPr>
            <a:r>
              <a:rPr lang="en-US" sz="1400" dirty="0">
                <a:solidFill>
                  <a:srgbClr val="000000"/>
                </a:solidFill>
              </a:rPr>
              <a:t>A. Because he went to school</a:t>
            </a:r>
            <a:endParaRPr lang="en-US" sz="1400" dirty="0"/>
          </a:p>
        </p:txBody>
      </p:sp>
      <p:sp>
        <p:nvSpPr>
          <p:cNvPr id="7" name="Shape 5"/>
          <p:cNvSpPr/>
          <p:nvPr/>
        </p:nvSpPr>
        <p:spPr>
          <a:xfrm>
            <a:off x="4754880" y="3246120"/>
            <a:ext cx="4023360" cy="365760"/>
          </a:xfrm>
          <a:prstGeom prst="rect">
            <a:avLst>
              <a:gd name="adj" fmla="val 25000"/>
            </a:avLst>
          </a:prstGeom>
          <a:solidFill>
            <a:srgbClr val="A8C5DD"/>
          </a:solidFill>
          <a:ln w="12700">
            <a:solidFill>
              <a:srgbClr val="000000"/>
            </a:solidFill>
            <a:prstDash val="solid"/>
          </a:ln>
        </p:spPr>
      </p:sp>
      <p:sp>
        <p:nvSpPr>
          <p:cNvPr id="8" name="Text 6"/>
          <p:cNvSpPr/>
          <p:nvPr/>
        </p:nvSpPr>
        <p:spPr>
          <a:xfrm>
            <a:off x="4846320" y="3264408"/>
            <a:ext cx="3840480" cy="329184"/>
          </a:xfrm>
          <a:prstGeom prst="rect">
            <a:avLst/>
          </a:prstGeom>
          <a:noFill/>
          <a:ln/>
        </p:spPr>
        <p:txBody>
          <a:bodyPr wrap="square" rtlCol="0" anchor="ctr"/>
          <a:lstStyle/>
          <a:p>
            <a:pPr algn="l" indent="0" marL="0">
              <a:buNone/>
            </a:pPr>
            <a:r>
              <a:rPr lang="en-US" sz="1400" dirty="0">
                <a:solidFill>
                  <a:srgbClr val="000000"/>
                </a:solidFill>
              </a:rPr>
              <a:t>B. Because he had fun at the park with his dog</a:t>
            </a:r>
            <a:endParaRPr lang="en-US" sz="1400" dirty="0"/>
          </a:p>
        </p:txBody>
      </p:sp>
      <p:sp>
        <p:nvSpPr>
          <p:cNvPr id="9" name="Shape 7"/>
          <p:cNvSpPr/>
          <p:nvPr/>
        </p:nvSpPr>
        <p:spPr>
          <a:xfrm>
            <a:off x="365760" y="3749040"/>
            <a:ext cx="4023360" cy="365760"/>
          </a:xfrm>
          <a:prstGeom prst="rect">
            <a:avLst>
              <a:gd name="adj" fmla="val 25000"/>
            </a:avLst>
          </a:prstGeom>
          <a:solidFill>
            <a:srgbClr val="A8C5DD"/>
          </a:solidFill>
          <a:ln w="12700">
            <a:solidFill>
              <a:srgbClr val="000000"/>
            </a:solidFill>
            <a:prstDash val="solid"/>
          </a:ln>
        </p:spPr>
      </p:sp>
      <p:sp>
        <p:nvSpPr>
          <p:cNvPr id="10" name="Text 8"/>
          <p:cNvSpPr/>
          <p:nvPr/>
        </p:nvSpPr>
        <p:spPr>
          <a:xfrm>
            <a:off x="457200" y="3767328"/>
            <a:ext cx="3840480" cy="329184"/>
          </a:xfrm>
          <a:prstGeom prst="rect">
            <a:avLst/>
          </a:prstGeom>
          <a:noFill/>
          <a:ln/>
        </p:spPr>
        <p:txBody>
          <a:bodyPr wrap="square" rtlCol="0" anchor="ctr"/>
          <a:lstStyle/>
          <a:p>
            <a:pPr algn="l" indent="0" marL="0">
              <a:buNone/>
            </a:pPr>
            <a:r>
              <a:rPr lang="en-US" sz="1400" dirty="0">
                <a:solidFill>
                  <a:srgbClr val="000000"/>
                </a:solidFill>
              </a:rPr>
              <a:t>C. Because it was lunch time</a:t>
            </a:r>
            <a:endParaRPr lang="en-US" sz="1400" dirty="0"/>
          </a:p>
        </p:txBody>
      </p:sp>
      <p:sp>
        <p:nvSpPr>
          <p:cNvPr id="11" name="Shape 9"/>
          <p:cNvSpPr/>
          <p:nvPr/>
        </p:nvSpPr>
        <p:spPr>
          <a:xfrm>
            <a:off x="4754880" y="3749040"/>
            <a:ext cx="4023360" cy="365760"/>
          </a:xfrm>
          <a:prstGeom prst="rect">
            <a:avLst>
              <a:gd name="adj" fmla="val 25000"/>
            </a:avLst>
          </a:prstGeom>
          <a:solidFill>
            <a:srgbClr val="A8C5DD"/>
          </a:solidFill>
          <a:ln w="12700">
            <a:solidFill>
              <a:srgbClr val="000000"/>
            </a:solidFill>
            <a:prstDash val="solid"/>
          </a:ln>
        </p:spPr>
      </p:sp>
      <p:sp>
        <p:nvSpPr>
          <p:cNvPr id="12" name="Text 10"/>
          <p:cNvSpPr/>
          <p:nvPr/>
        </p:nvSpPr>
        <p:spPr>
          <a:xfrm>
            <a:off x="4846320" y="3767328"/>
            <a:ext cx="3840480" cy="329184"/>
          </a:xfrm>
          <a:prstGeom prst="rect">
            <a:avLst/>
          </a:prstGeom>
          <a:noFill/>
          <a:ln/>
        </p:spPr>
        <p:txBody>
          <a:bodyPr wrap="square" rtlCol="0" anchor="ctr"/>
          <a:lstStyle/>
          <a:p>
            <a:pPr algn="l" indent="0" marL="0">
              <a:buNone/>
            </a:pPr>
            <a:r>
              <a:rPr lang="en-US" sz="1400" dirty="0">
                <a:solidFill>
                  <a:srgbClr val="000000"/>
                </a:solidFill>
              </a:rPr>
              <a:t>D. Because he was tired</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8 - Answer</a:t>
            </a:r>
            <a:endParaRPr lang="en-US" sz="1300" dirty="0"/>
          </a:p>
        </p:txBody>
      </p:sp>
      <p:sp>
        <p:nvSpPr>
          <p:cNvPr id="3" name="Text 1"/>
          <p:cNvSpPr/>
          <p:nvPr/>
        </p:nvSpPr>
        <p:spPr>
          <a:xfrm>
            <a:off x="365760" y="777240"/>
            <a:ext cx="8412480" cy="1645920"/>
          </a:xfrm>
          <a:prstGeom prst="rect">
            <a:avLst/>
          </a:prstGeom>
          <a:solidFill>
            <a:srgbClr val="5A3D6A"/>
          </a:solidFill>
          <a:ln/>
        </p:spPr>
        <p:txBody>
          <a:bodyPr wrap="square" lIns="101600" tIns="101600" rIns="101600" bIns="101600" rtlCol="0" anchor="ctr"/>
          <a:lstStyle/>
          <a:p>
            <a:pPr indent="0" marL="0">
              <a:buNone/>
            </a:pPr>
            <a:r>
              <a:rPr lang="en-US" sz="1300" dirty="0">
                <a:solidFill>
                  <a:srgbClr val="FFFFFF"/>
                </a:solidFill>
              </a:rPr>
              <a:t>Max woke up early on Saturday morning. He was excited because his best friend was his dog, Buddy. Today they were going to the park!</a:t>
            </a:r>
            <a:endParaRPr lang="en-US" sz="1300" dirty="0"/>
          </a:p>
          <a:p>
            <a:pPr indent="0" marL="0">
              <a:buNone/>
            </a:pPr>
            <a:endParaRPr lang="en-US" sz="1300" dirty="0"/>
          </a:p>
          <a:p>
            <a:pPr indent="0" marL="0">
              <a:buNone/>
            </a:pPr>
            <a:r>
              <a:rPr lang="en-US" sz="1300" dirty="0">
                <a:solidFill>
                  <a:srgbClr val="FFFFFF"/>
                </a:solidFill>
              </a:rPr>
              <a:t>"Buddy! Time to go to the park!" Max called. Buddy wagged his tail and ran to the door. The two friends got in the car together.</a:t>
            </a:r>
            <a:endParaRPr lang="en-US" sz="1300" dirty="0"/>
          </a:p>
          <a:p>
            <a:pPr indent="0" marL="0">
              <a:buNone/>
            </a:pPr>
            <a:endParaRPr lang="en-US" sz="1300" dirty="0"/>
          </a:p>
          <a:p>
            <a:pPr indent="0" marL="0">
              <a:buNone/>
            </a:pPr>
            <a:r>
              <a:rPr lang="en-US" sz="1300" dirty="0">
                <a:solidFill>
                  <a:srgbClr val="FFFFFF"/>
                </a:solidFill>
              </a:rPr>
              <a:t>At the park, Max and Buddy ran to the playground. Max went down the slide. Buddy barked and played nearby. Then they went to the big open field. Max threw a ball and Buddy raced to get it. They played fetch for a long time.</a:t>
            </a:r>
            <a:endParaRPr lang="en-US" sz="1300" dirty="0"/>
          </a:p>
          <a:p>
            <a:pPr indent="0" marL="0">
              <a:buNone/>
            </a:pPr>
            <a:endParaRPr lang="en-US" sz="1300" dirty="0"/>
          </a:p>
          <a:p>
            <a:pPr indent="0" marL="0">
              <a:buNone/>
            </a:pPr>
            <a:r>
              <a:rPr lang="en-US" sz="1300" dirty="0">
                <a:solidFill>
                  <a:srgbClr val="FFFFFF"/>
                </a:solidFill>
              </a:rPr>
              <a:t>After playing, Max and Buddy sat under a shady tree. They shared a snack. Max was tired but happy. "This was the best day ever, Buddy!" Max said, hugging his dog.</a:t>
            </a:r>
            <a:endParaRPr lang="en-US" sz="1300" dirty="0"/>
          </a:p>
        </p:txBody>
      </p:sp>
      <p:sp>
        <p:nvSpPr>
          <p:cNvPr id="4" name="Text 2"/>
          <p:cNvSpPr/>
          <p:nvPr/>
        </p:nvSpPr>
        <p:spPr>
          <a:xfrm>
            <a:off x="365760" y="2606040"/>
            <a:ext cx="8412480" cy="457200"/>
          </a:xfrm>
          <a:prstGeom prst="rect">
            <a:avLst/>
          </a:prstGeom>
          <a:noFill/>
          <a:ln/>
        </p:spPr>
        <p:txBody>
          <a:bodyPr wrap="square" rtlCol="0" anchor="ctr"/>
          <a:lstStyle/>
          <a:p>
            <a:pPr indent="0" marL="0">
              <a:buNone/>
            </a:pPr>
            <a:r>
              <a:rPr lang="en-US" sz="1600" b="1" dirty="0">
                <a:solidFill>
                  <a:srgbClr val="FFFFFF"/>
                </a:solidFill>
              </a:rPr>
              <a:t>Why does Max feel happy at the end of the story?</a:t>
            </a:r>
            <a:endParaRPr lang="en-US" sz="1600" dirty="0"/>
          </a:p>
        </p:txBody>
      </p:sp>
      <p:sp>
        <p:nvSpPr>
          <p:cNvPr id="5" name="Shape 3"/>
          <p:cNvSpPr/>
          <p:nvPr/>
        </p:nvSpPr>
        <p:spPr>
          <a:xfrm>
            <a:off x="365760" y="3246120"/>
            <a:ext cx="4023360" cy="365760"/>
          </a:xfrm>
          <a:prstGeom prst="rect">
            <a:avLst>
              <a:gd name="adj" fmla="val 25000"/>
            </a:avLst>
          </a:prstGeom>
          <a:solidFill>
            <a:srgbClr val="A8C5DD"/>
          </a:solidFill>
          <a:ln w="12700">
            <a:solidFill>
              <a:srgbClr val="000000"/>
            </a:solidFill>
            <a:prstDash val="solid"/>
          </a:ln>
        </p:spPr>
      </p:sp>
      <p:sp>
        <p:nvSpPr>
          <p:cNvPr id="6" name="Text 4"/>
          <p:cNvSpPr/>
          <p:nvPr/>
        </p:nvSpPr>
        <p:spPr>
          <a:xfrm>
            <a:off x="457200" y="3264408"/>
            <a:ext cx="3840480" cy="329184"/>
          </a:xfrm>
          <a:prstGeom prst="rect">
            <a:avLst/>
          </a:prstGeom>
          <a:noFill/>
          <a:ln/>
        </p:spPr>
        <p:txBody>
          <a:bodyPr wrap="square" rtlCol="0" anchor="ctr"/>
          <a:lstStyle/>
          <a:p>
            <a:pPr algn="l" indent="0" marL="0">
              <a:buNone/>
            </a:pPr>
            <a:r>
              <a:rPr lang="en-US" sz="1400" dirty="0">
                <a:solidFill>
                  <a:srgbClr val="000000"/>
                </a:solidFill>
              </a:rPr>
              <a:t>A. Because he went to school</a:t>
            </a:r>
            <a:endParaRPr lang="en-US" sz="1400" dirty="0"/>
          </a:p>
        </p:txBody>
      </p:sp>
      <p:sp>
        <p:nvSpPr>
          <p:cNvPr id="7" name="Shape 5"/>
          <p:cNvSpPr/>
          <p:nvPr/>
        </p:nvSpPr>
        <p:spPr>
          <a:xfrm>
            <a:off x="4754880" y="3246120"/>
            <a:ext cx="4023360" cy="365760"/>
          </a:xfrm>
          <a:prstGeom prst="rect">
            <a:avLst>
              <a:gd name="adj" fmla="val 25000"/>
            </a:avLst>
          </a:prstGeom>
          <a:solidFill>
            <a:srgbClr val="D5F4E6"/>
          </a:solidFill>
          <a:ln w="12700">
            <a:solidFill>
              <a:srgbClr val="27AE60"/>
            </a:solidFill>
            <a:prstDash val="solid"/>
          </a:ln>
        </p:spPr>
      </p:sp>
      <p:sp>
        <p:nvSpPr>
          <p:cNvPr id="8" name="Text 6"/>
          <p:cNvSpPr/>
          <p:nvPr/>
        </p:nvSpPr>
        <p:spPr>
          <a:xfrm>
            <a:off x="4846320" y="3264408"/>
            <a:ext cx="3840480" cy="329184"/>
          </a:xfrm>
          <a:prstGeom prst="rect">
            <a:avLst/>
          </a:prstGeom>
          <a:noFill/>
          <a:ln/>
        </p:spPr>
        <p:txBody>
          <a:bodyPr wrap="square" rtlCol="0" anchor="ctr"/>
          <a:lstStyle/>
          <a:p>
            <a:pPr algn="l" indent="0" marL="0">
              <a:buNone/>
            </a:pPr>
            <a:r>
              <a:rPr lang="en-US" sz="1400" dirty="0">
                <a:solidFill>
                  <a:srgbClr val="000000"/>
                </a:solidFill>
              </a:rPr>
              <a:t>B. Because he had fun at the park with his dog ✓</a:t>
            </a:r>
            <a:endParaRPr lang="en-US" sz="1400" dirty="0"/>
          </a:p>
        </p:txBody>
      </p:sp>
      <p:sp>
        <p:nvSpPr>
          <p:cNvPr id="9" name="Shape 7"/>
          <p:cNvSpPr/>
          <p:nvPr/>
        </p:nvSpPr>
        <p:spPr>
          <a:xfrm>
            <a:off x="365760" y="3749040"/>
            <a:ext cx="4023360" cy="365760"/>
          </a:xfrm>
          <a:prstGeom prst="rect">
            <a:avLst>
              <a:gd name="adj" fmla="val 25000"/>
            </a:avLst>
          </a:prstGeom>
          <a:solidFill>
            <a:srgbClr val="A8C5DD"/>
          </a:solidFill>
          <a:ln w="12700">
            <a:solidFill>
              <a:srgbClr val="000000"/>
            </a:solidFill>
            <a:prstDash val="solid"/>
          </a:ln>
        </p:spPr>
      </p:sp>
      <p:sp>
        <p:nvSpPr>
          <p:cNvPr id="10" name="Text 8"/>
          <p:cNvSpPr/>
          <p:nvPr/>
        </p:nvSpPr>
        <p:spPr>
          <a:xfrm>
            <a:off x="457200" y="3767328"/>
            <a:ext cx="3840480" cy="329184"/>
          </a:xfrm>
          <a:prstGeom prst="rect">
            <a:avLst/>
          </a:prstGeom>
          <a:noFill/>
          <a:ln/>
        </p:spPr>
        <p:txBody>
          <a:bodyPr wrap="square" rtlCol="0" anchor="ctr"/>
          <a:lstStyle/>
          <a:p>
            <a:pPr algn="l" indent="0" marL="0">
              <a:buNone/>
            </a:pPr>
            <a:r>
              <a:rPr lang="en-US" sz="1400" dirty="0">
                <a:solidFill>
                  <a:srgbClr val="000000"/>
                </a:solidFill>
              </a:rPr>
              <a:t>C. Because it was lunch time</a:t>
            </a:r>
            <a:endParaRPr lang="en-US" sz="1400" dirty="0"/>
          </a:p>
        </p:txBody>
      </p:sp>
      <p:sp>
        <p:nvSpPr>
          <p:cNvPr id="11" name="Shape 9"/>
          <p:cNvSpPr/>
          <p:nvPr/>
        </p:nvSpPr>
        <p:spPr>
          <a:xfrm>
            <a:off x="4754880" y="3749040"/>
            <a:ext cx="4023360" cy="365760"/>
          </a:xfrm>
          <a:prstGeom prst="rect">
            <a:avLst>
              <a:gd name="adj" fmla="val 25000"/>
            </a:avLst>
          </a:prstGeom>
          <a:solidFill>
            <a:srgbClr val="A8C5DD"/>
          </a:solidFill>
          <a:ln w="12700">
            <a:solidFill>
              <a:srgbClr val="000000"/>
            </a:solidFill>
            <a:prstDash val="solid"/>
          </a:ln>
        </p:spPr>
      </p:sp>
      <p:sp>
        <p:nvSpPr>
          <p:cNvPr id="12" name="Text 10"/>
          <p:cNvSpPr/>
          <p:nvPr/>
        </p:nvSpPr>
        <p:spPr>
          <a:xfrm>
            <a:off x="4846320" y="3767328"/>
            <a:ext cx="3840480" cy="329184"/>
          </a:xfrm>
          <a:prstGeom prst="rect">
            <a:avLst/>
          </a:prstGeom>
          <a:noFill/>
          <a:ln/>
        </p:spPr>
        <p:txBody>
          <a:bodyPr wrap="square" rtlCol="0" anchor="ctr"/>
          <a:lstStyle/>
          <a:p>
            <a:pPr algn="l" indent="0" marL="0">
              <a:buNone/>
            </a:pPr>
            <a:r>
              <a:rPr lang="en-US" sz="1400" dirty="0">
                <a:solidFill>
                  <a:srgbClr val="000000"/>
                </a:solidFill>
              </a:rPr>
              <a:t>D. Because he was tired</a:t>
            </a:r>
            <a:endParaRPr lang="en-US" sz="1400" dirty="0"/>
          </a:p>
        </p:txBody>
      </p:sp>
      <p:sp>
        <p:nvSpPr>
          <p:cNvPr id="13" name="Text 11"/>
          <p:cNvSpPr/>
          <p:nvPr/>
        </p:nvSpPr>
        <p:spPr>
          <a:xfrm>
            <a:off x="365760" y="4160520"/>
            <a:ext cx="8412480" cy="320040"/>
          </a:xfrm>
          <a:prstGeom prst="rect">
            <a:avLst/>
          </a:prstGeom>
          <a:noFill/>
          <a:ln/>
        </p:spPr>
        <p:txBody>
          <a:bodyPr wrap="square" rtlCol="0" anchor="ctr"/>
          <a:lstStyle/>
          <a:p>
            <a:pPr indent="0" marL="0">
              <a:buNone/>
            </a:pPr>
            <a:r>
              <a:rPr lang="en-US" sz="1400" b="1" dirty="0">
                <a:solidFill>
                  <a:srgbClr val="27AE60"/>
                </a:solidFill>
              </a:rPr>
              <a:t>Correct!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9 of 20</a:t>
            </a:r>
            <a:endParaRPr lang="en-US" sz="1300" dirty="0"/>
          </a:p>
        </p:txBody>
      </p:sp>
      <p:sp>
        <p:nvSpPr>
          <p:cNvPr id="3" name="Text 1"/>
          <p:cNvSpPr/>
          <p:nvPr/>
        </p:nvSpPr>
        <p:spPr>
          <a:xfrm>
            <a:off x="365760" y="777240"/>
            <a:ext cx="8412480" cy="1645920"/>
          </a:xfrm>
          <a:prstGeom prst="rect">
            <a:avLst/>
          </a:prstGeom>
          <a:solidFill>
            <a:srgbClr val="5A3D6A"/>
          </a:solidFill>
          <a:ln/>
        </p:spPr>
        <p:txBody>
          <a:bodyPr wrap="square" lIns="101600" tIns="101600" rIns="101600" bIns="101600" rtlCol="0" anchor="ctr"/>
          <a:lstStyle/>
          <a:p>
            <a:pPr indent="0" marL="0">
              <a:buNone/>
            </a:pPr>
            <a:r>
              <a:rPr lang="en-US" sz="1300" dirty="0">
                <a:solidFill>
                  <a:srgbClr val="FFFFFF"/>
                </a:solidFill>
              </a:rPr>
              <a:t>In a busy town, there was a special robot named Beep. Beep loved to help people. Every day, Beep would go around the town looking for people who needed help.</a:t>
            </a:r>
            <a:endParaRPr lang="en-US" sz="1300" dirty="0"/>
          </a:p>
          <a:p>
            <a:pPr indent="0" marL="0">
              <a:buNone/>
            </a:pPr>
            <a:endParaRPr lang="en-US" sz="1300" dirty="0"/>
          </a:p>
          <a:p>
            <a:pPr indent="0" marL="0">
              <a:buNone/>
            </a:pPr>
            <a:r>
              <a:rPr lang="en-US" sz="1300" dirty="0">
                <a:solidFill>
                  <a:srgbClr val="FFFFFF"/>
                </a:solidFill>
              </a:rPr>
              <a:t>One day, an old woman dropped her groceries. Beep quickly helped her pick them up. "Thank you, kind robot!" she said.</a:t>
            </a:r>
            <a:endParaRPr lang="en-US" sz="1300" dirty="0"/>
          </a:p>
          <a:p>
            <a:pPr indent="0" marL="0">
              <a:buNone/>
            </a:pPr>
            <a:endParaRPr lang="en-US" sz="1300" dirty="0"/>
          </a:p>
          <a:p>
            <a:pPr indent="0" marL="0">
              <a:buNone/>
            </a:pPr>
            <a:r>
              <a:rPr lang="en-US" sz="1300" dirty="0">
                <a:solidFill>
                  <a:srgbClr val="FFFFFF"/>
                </a:solidFill>
              </a:rPr>
              <a:t>Another day, a little girl was sad because she lost her toy. Beep found the toy under a park bench and gave it back. The girl hugged Beep happily.</a:t>
            </a:r>
            <a:endParaRPr lang="en-US" sz="1300" dirty="0"/>
          </a:p>
          <a:p>
            <a:pPr indent="0" marL="0">
              <a:buNone/>
            </a:pPr>
            <a:endParaRPr lang="en-US" sz="1300" dirty="0"/>
          </a:p>
          <a:p>
            <a:pPr indent="0" marL="0">
              <a:buNone/>
            </a:pPr>
            <a:r>
              <a:rPr lang="en-US" sz="1300" dirty="0">
                <a:solidFill>
                  <a:srgbClr val="FFFFFF"/>
                </a:solidFill>
              </a:rPr>
              <a:t>Soon, everyone in town knew about Beep. They all loved the helpful robot. Beep felt proud and happy. "I am so glad I can help my friends," Beep said. The whole town was better because Beep was there.</a:t>
            </a:r>
            <a:endParaRPr lang="en-US" sz="1300" dirty="0"/>
          </a:p>
        </p:txBody>
      </p:sp>
      <p:sp>
        <p:nvSpPr>
          <p:cNvPr id="4" name="Text 2"/>
          <p:cNvSpPr/>
          <p:nvPr/>
        </p:nvSpPr>
        <p:spPr>
          <a:xfrm>
            <a:off x="365760" y="2606040"/>
            <a:ext cx="8412480" cy="457200"/>
          </a:xfrm>
          <a:prstGeom prst="rect">
            <a:avLst/>
          </a:prstGeom>
          <a:noFill/>
          <a:ln/>
        </p:spPr>
        <p:txBody>
          <a:bodyPr wrap="square" rtlCol="0" anchor="ctr"/>
          <a:lstStyle/>
          <a:p>
            <a:pPr indent="0" marL="0">
              <a:buNone/>
            </a:pPr>
            <a:r>
              <a:rPr lang="en-US" sz="1600" b="1" dirty="0">
                <a:solidFill>
                  <a:srgbClr val="FFFFFF"/>
                </a:solidFill>
              </a:rPr>
              <a:t>How is the robot Beep in the story?</a:t>
            </a:r>
            <a:endParaRPr lang="en-US" sz="1600" dirty="0"/>
          </a:p>
        </p:txBody>
      </p:sp>
      <p:sp>
        <p:nvSpPr>
          <p:cNvPr id="5" name="Shape 3"/>
          <p:cNvSpPr/>
          <p:nvPr/>
        </p:nvSpPr>
        <p:spPr>
          <a:xfrm>
            <a:off x="365760" y="3246120"/>
            <a:ext cx="4023360" cy="365760"/>
          </a:xfrm>
          <a:prstGeom prst="rect">
            <a:avLst>
              <a:gd name="adj" fmla="val 25000"/>
            </a:avLst>
          </a:prstGeom>
          <a:solidFill>
            <a:srgbClr val="A8C5DD"/>
          </a:solidFill>
          <a:ln w="12700">
            <a:solidFill>
              <a:srgbClr val="000000"/>
            </a:solidFill>
            <a:prstDash val="solid"/>
          </a:ln>
        </p:spPr>
      </p:sp>
      <p:sp>
        <p:nvSpPr>
          <p:cNvPr id="6" name="Text 4"/>
          <p:cNvSpPr/>
          <p:nvPr/>
        </p:nvSpPr>
        <p:spPr>
          <a:xfrm>
            <a:off x="457200" y="3264408"/>
            <a:ext cx="3840480" cy="329184"/>
          </a:xfrm>
          <a:prstGeom prst="rect">
            <a:avLst/>
          </a:prstGeom>
          <a:noFill/>
          <a:ln/>
        </p:spPr>
        <p:txBody>
          <a:bodyPr wrap="square" rtlCol="0" anchor="ctr"/>
          <a:lstStyle/>
          <a:p>
            <a:pPr algn="l" indent="0" marL="0">
              <a:buNone/>
            </a:pPr>
            <a:r>
              <a:rPr lang="en-US" sz="1400" dirty="0">
                <a:solidFill>
                  <a:srgbClr val="000000"/>
                </a:solidFill>
              </a:rPr>
              <a:t>A. Angry and mean</a:t>
            </a:r>
            <a:endParaRPr lang="en-US" sz="1400" dirty="0"/>
          </a:p>
        </p:txBody>
      </p:sp>
      <p:sp>
        <p:nvSpPr>
          <p:cNvPr id="7" name="Shape 5"/>
          <p:cNvSpPr/>
          <p:nvPr/>
        </p:nvSpPr>
        <p:spPr>
          <a:xfrm>
            <a:off x="4754880" y="3246120"/>
            <a:ext cx="4023360" cy="365760"/>
          </a:xfrm>
          <a:prstGeom prst="rect">
            <a:avLst>
              <a:gd name="adj" fmla="val 25000"/>
            </a:avLst>
          </a:prstGeom>
          <a:solidFill>
            <a:srgbClr val="A8C5DD"/>
          </a:solidFill>
          <a:ln w="12700">
            <a:solidFill>
              <a:srgbClr val="000000"/>
            </a:solidFill>
            <a:prstDash val="solid"/>
          </a:ln>
        </p:spPr>
      </p:sp>
      <p:sp>
        <p:nvSpPr>
          <p:cNvPr id="8" name="Text 6"/>
          <p:cNvSpPr/>
          <p:nvPr/>
        </p:nvSpPr>
        <p:spPr>
          <a:xfrm>
            <a:off x="4846320" y="3264408"/>
            <a:ext cx="3840480" cy="329184"/>
          </a:xfrm>
          <a:prstGeom prst="rect">
            <a:avLst/>
          </a:prstGeom>
          <a:noFill/>
          <a:ln/>
        </p:spPr>
        <p:txBody>
          <a:bodyPr wrap="square" rtlCol="0" anchor="ctr"/>
          <a:lstStyle/>
          <a:p>
            <a:pPr algn="l" indent="0" marL="0">
              <a:buNone/>
            </a:pPr>
            <a:r>
              <a:rPr lang="en-US" sz="1400" dirty="0">
                <a:solidFill>
                  <a:srgbClr val="000000"/>
                </a:solidFill>
              </a:rPr>
              <a:t>B. Helpful and kind</a:t>
            </a:r>
            <a:endParaRPr lang="en-US" sz="1400" dirty="0"/>
          </a:p>
        </p:txBody>
      </p:sp>
      <p:sp>
        <p:nvSpPr>
          <p:cNvPr id="9" name="Shape 7"/>
          <p:cNvSpPr/>
          <p:nvPr/>
        </p:nvSpPr>
        <p:spPr>
          <a:xfrm>
            <a:off x="365760" y="3749040"/>
            <a:ext cx="4023360" cy="365760"/>
          </a:xfrm>
          <a:prstGeom prst="rect">
            <a:avLst>
              <a:gd name="adj" fmla="val 25000"/>
            </a:avLst>
          </a:prstGeom>
          <a:solidFill>
            <a:srgbClr val="A8C5DD"/>
          </a:solidFill>
          <a:ln w="12700">
            <a:solidFill>
              <a:srgbClr val="000000"/>
            </a:solidFill>
            <a:prstDash val="solid"/>
          </a:ln>
        </p:spPr>
      </p:sp>
      <p:sp>
        <p:nvSpPr>
          <p:cNvPr id="10" name="Text 8"/>
          <p:cNvSpPr/>
          <p:nvPr/>
        </p:nvSpPr>
        <p:spPr>
          <a:xfrm>
            <a:off x="457200" y="3767328"/>
            <a:ext cx="3840480" cy="329184"/>
          </a:xfrm>
          <a:prstGeom prst="rect">
            <a:avLst/>
          </a:prstGeom>
          <a:noFill/>
          <a:ln/>
        </p:spPr>
        <p:txBody>
          <a:bodyPr wrap="square" rtlCol="0" anchor="ctr"/>
          <a:lstStyle/>
          <a:p>
            <a:pPr algn="l" indent="0" marL="0">
              <a:buNone/>
            </a:pPr>
            <a:r>
              <a:rPr lang="en-US" sz="1400" dirty="0">
                <a:solidFill>
                  <a:srgbClr val="000000"/>
                </a:solidFill>
              </a:rPr>
              <a:t>C. Tired and lazy</a:t>
            </a:r>
            <a:endParaRPr lang="en-US" sz="1400" dirty="0"/>
          </a:p>
        </p:txBody>
      </p:sp>
      <p:sp>
        <p:nvSpPr>
          <p:cNvPr id="11" name="Shape 9"/>
          <p:cNvSpPr/>
          <p:nvPr/>
        </p:nvSpPr>
        <p:spPr>
          <a:xfrm>
            <a:off x="4754880" y="3749040"/>
            <a:ext cx="4023360" cy="365760"/>
          </a:xfrm>
          <a:prstGeom prst="rect">
            <a:avLst>
              <a:gd name="adj" fmla="val 25000"/>
            </a:avLst>
          </a:prstGeom>
          <a:solidFill>
            <a:srgbClr val="A8C5DD"/>
          </a:solidFill>
          <a:ln w="12700">
            <a:solidFill>
              <a:srgbClr val="000000"/>
            </a:solidFill>
            <a:prstDash val="solid"/>
          </a:ln>
        </p:spPr>
      </p:sp>
      <p:sp>
        <p:nvSpPr>
          <p:cNvPr id="12" name="Text 10"/>
          <p:cNvSpPr/>
          <p:nvPr/>
        </p:nvSpPr>
        <p:spPr>
          <a:xfrm>
            <a:off x="4846320" y="3767328"/>
            <a:ext cx="3840480" cy="329184"/>
          </a:xfrm>
          <a:prstGeom prst="rect">
            <a:avLst/>
          </a:prstGeom>
          <a:noFill/>
          <a:ln/>
        </p:spPr>
        <p:txBody>
          <a:bodyPr wrap="square" rtlCol="0" anchor="ctr"/>
          <a:lstStyle/>
          <a:p>
            <a:pPr algn="l" indent="0" marL="0">
              <a:buNone/>
            </a:pPr>
            <a:r>
              <a:rPr lang="en-US" sz="1400" dirty="0">
                <a:solidFill>
                  <a:srgbClr val="000000"/>
                </a:solidFill>
              </a:rPr>
              <a:t>D. Scared and sad</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9 - Answer</a:t>
            </a:r>
            <a:endParaRPr lang="en-US" sz="1300" dirty="0"/>
          </a:p>
        </p:txBody>
      </p:sp>
      <p:sp>
        <p:nvSpPr>
          <p:cNvPr id="3" name="Text 1"/>
          <p:cNvSpPr/>
          <p:nvPr/>
        </p:nvSpPr>
        <p:spPr>
          <a:xfrm>
            <a:off x="365760" y="777240"/>
            <a:ext cx="8412480" cy="1645920"/>
          </a:xfrm>
          <a:prstGeom prst="rect">
            <a:avLst/>
          </a:prstGeom>
          <a:solidFill>
            <a:srgbClr val="5A3D6A"/>
          </a:solidFill>
          <a:ln/>
        </p:spPr>
        <p:txBody>
          <a:bodyPr wrap="square" lIns="101600" tIns="101600" rIns="101600" bIns="101600" rtlCol="0" anchor="ctr"/>
          <a:lstStyle/>
          <a:p>
            <a:pPr indent="0" marL="0">
              <a:buNone/>
            </a:pPr>
            <a:r>
              <a:rPr lang="en-US" sz="1300" dirty="0">
                <a:solidFill>
                  <a:srgbClr val="FFFFFF"/>
                </a:solidFill>
              </a:rPr>
              <a:t>In a busy town, there was a special robot named Beep. Beep loved to help people. Every day, Beep would go around the town looking for people who needed help.</a:t>
            </a:r>
            <a:endParaRPr lang="en-US" sz="1300" dirty="0"/>
          </a:p>
          <a:p>
            <a:pPr indent="0" marL="0">
              <a:buNone/>
            </a:pPr>
            <a:endParaRPr lang="en-US" sz="1300" dirty="0"/>
          </a:p>
          <a:p>
            <a:pPr indent="0" marL="0">
              <a:buNone/>
            </a:pPr>
            <a:r>
              <a:rPr lang="en-US" sz="1300" dirty="0">
                <a:solidFill>
                  <a:srgbClr val="FFFFFF"/>
                </a:solidFill>
              </a:rPr>
              <a:t>One day, an old woman dropped her groceries. Beep quickly helped her pick them up. "Thank you, kind robot!" she said.</a:t>
            </a:r>
            <a:endParaRPr lang="en-US" sz="1300" dirty="0"/>
          </a:p>
          <a:p>
            <a:pPr indent="0" marL="0">
              <a:buNone/>
            </a:pPr>
            <a:endParaRPr lang="en-US" sz="1300" dirty="0"/>
          </a:p>
          <a:p>
            <a:pPr indent="0" marL="0">
              <a:buNone/>
            </a:pPr>
            <a:r>
              <a:rPr lang="en-US" sz="1300" dirty="0">
                <a:solidFill>
                  <a:srgbClr val="FFFFFF"/>
                </a:solidFill>
              </a:rPr>
              <a:t>Another day, a little girl was sad because she lost her toy. Beep found the toy under a park bench and gave it back. The girl hugged Beep happily.</a:t>
            </a:r>
            <a:endParaRPr lang="en-US" sz="1300" dirty="0"/>
          </a:p>
          <a:p>
            <a:pPr indent="0" marL="0">
              <a:buNone/>
            </a:pPr>
            <a:endParaRPr lang="en-US" sz="1300" dirty="0"/>
          </a:p>
          <a:p>
            <a:pPr indent="0" marL="0">
              <a:buNone/>
            </a:pPr>
            <a:r>
              <a:rPr lang="en-US" sz="1300" dirty="0">
                <a:solidFill>
                  <a:srgbClr val="FFFFFF"/>
                </a:solidFill>
              </a:rPr>
              <a:t>Soon, everyone in town knew about Beep. They all loved the helpful robot. Beep felt proud and happy. "I am so glad I can help my friends," Beep said. The whole town was better because Beep was there.</a:t>
            </a:r>
            <a:endParaRPr lang="en-US" sz="1300" dirty="0"/>
          </a:p>
        </p:txBody>
      </p:sp>
      <p:sp>
        <p:nvSpPr>
          <p:cNvPr id="4" name="Text 2"/>
          <p:cNvSpPr/>
          <p:nvPr/>
        </p:nvSpPr>
        <p:spPr>
          <a:xfrm>
            <a:off x="365760" y="2606040"/>
            <a:ext cx="8412480" cy="457200"/>
          </a:xfrm>
          <a:prstGeom prst="rect">
            <a:avLst/>
          </a:prstGeom>
          <a:noFill/>
          <a:ln/>
        </p:spPr>
        <p:txBody>
          <a:bodyPr wrap="square" rtlCol="0" anchor="ctr"/>
          <a:lstStyle/>
          <a:p>
            <a:pPr indent="0" marL="0">
              <a:buNone/>
            </a:pPr>
            <a:r>
              <a:rPr lang="en-US" sz="1600" b="1" dirty="0">
                <a:solidFill>
                  <a:srgbClr val="FFFFFF"/>
                </a:solidFill>
              </a:rPr>
              <a:t>How is the robot Beep in the story?</a:t>
            </a:r>
            <a:endParaRPr lang="en-US" sz="1600" dirty="0"/>
          </a:p>
        </p:txBody>
      </p:sp>
      <p:sp>
        <p:nvSpPr>
          <p:cNvPr id="5" name="Shape 3"/>
          <p:cNvSpPr/>
          <p:nvPr/>
        </p:nvSpPr>
        <p:spPr>
          <a:xfrm>
            <a:off x="365760" y="3246120"/>
            <a:ext cx="4023360" cy="365760"/>
          </a:xfrm>
          <a:prstGeom prst="rect">
            <a:avLst>
              <a:gd name="adj" fmla="val 25000"/>
            </a:avLst>
          </a:prstGeom>
          <a:solidFill>
            <a:srgbClr val="A8C5DD"/>
          </a:solidFill>
          <a:ln w="12700">
            <a:solidFill>
              <a:srgbClr val="000000"/>
            </a:solidFill>
            <a:prstDash val="solid"/>
          </a:ln>
        </p:spPr>
      </p:sp>
      <p:sp>
        <p:nvSpPr>
          <p:cNvPr id="6" name="Text 4"/>
          <p:cNvSpPr/>
          <p:nvPr/>
        </p:nvSpPr>
        <p:spPr>
          <a:xfrm>
            <a:off x="457200" y="3264408"/>
            <a:ext cx="3840480" cy="329184"/>
          </a:xfrm>
          <a:prstGeom prst="rect">
            <a:avLst/>
          </a:prstGeom>
          <a:noFill/>
          <a:ln/>
        </p:spPr>
        <p:txBody>
          <a:bodyPr wrap="square" rtlCol="0" anchor="ctr"/>
          <a:lstStyle/>
          <a:p>
            <a:pPr algn="l" indent="0" marL="0">
              <a:buNone/>
            </a:pPr>
            <a:r>
              <a:rPr lang="en-US" sz="1400" dirty="0">
                <a:solidFill>
                  <a:srgbClr val="000000"/>
                </a:solidFill>
              </a:rPr>
              <a:t>A. Angry and mean</a:t>
            </a:r>
            <a:endParaRPr lang="en-US" sz="1400" dirty="0"/>
          </a:p>
        </p:txBody>
      </p:sp>
      <p:sp>
        <p:nvSpPr>
          <p:cNvPr id="7" name="Shape 5"/>
          <p:cNvSpPr/>
          <p:nvPr/>
        </p:nvSpPr>
        <p:spPr>
          <a:xfrm>
            <a:off x="4754880" y="3246120"/>
            <a:ext cx="4023360" cy="365760"/>
          </a:xfrm>
          <a:prstGeom prst="rect">
            <a:avLst>
              <a:gd name="adj" fmla="val 25000"/>
            </a:avLst>
          </a:prstGeom>
          <a:solidFill>
            <a:srgbClr val="D5F4E6"/>
          </a:solidFill>
          <a:ln w="12700">
            <a:solidFill>
              <a:srgbClr val="27AE60"/>
            </a:solidFill>
            <a:prstDash val="solid"/>
          </a:ln>
        </p:spPr>
      </p:sp>
      <p:sp>
        <p:nvSpPr>
          <p:cNvPr id="8" name="Text 6"/>
          <p:cNvSpPr/>
          <p:nvPr/>
        </p:nvSpPr>
        <p:spPr>
          <a:xfrm>
            <a:off x="4846320" y="3264408"/>
            <a:ext cx="3840480" cy="329184"/>
          </a:xfrm>
          <a:prstGeom prst="rect">
            <a:avLst/>
          </a:prstGeom>
          <a:noFill/>
          <a:ln/>
        </p:spPr>
        <p:txBody>
          <a:bodyPr wrap="square" rtlCol="0" anchor="ctr"/>
          <a:lstStyle/>
          <a:p>
            <a:pPr algn="l" indent="0" marL="0">
              <a:buNone/>
            </a:pPr>
            <a:r>
              <a:rPr lang="en-US" sz="1400" dirty="0">
                <a:solidFill>
                  <a:srgbClr val="000000"/>
                </a:solidFill>
              </a:rPr>
              <a:t>B. Helpful and kind ✓</a:t>
            </a:r>
            <a:endParaRPr lang="en-US" sz="1400" dirty="0"/>
          </a:p>
        </p:txBody>
      </p:sp>
      <p:sp>
        <p:nvSpPr>
          <p:cNvPr id="9" name="Shape 7"/>
          <p:cNvSpPr/>
          <p:nvPr/>
        </p:nvSpPr>
        <p:spPr>
          <a:xfrm>
            <a:off x="365760" y="3749040"/>
            <a:ext cx="4023360" cy="365760"/>
          </a:xfrm>
          <a:prstGeom prst="rect">
            <a:avLst>
              <a:gd name="adj" fmla="val 25000"/>
            </a:avLst>
          </a:prstGeom>
          <a:solidFill>
            <a:srgbClr val="A8C5DD"/>
          </a:solidFill>
          <a:ln w="12700">
            <a:solidFill>
              <a:srgbClr val="000000"/>
            </a:solidFill>
            <a:prstDash val="solid"/>
          </a:ln>
        </p:spPr>
      </p:sp>
      <p:sp>
        <p:nvSpPr>
          <p:cNvPr id="10" name="Text 8"/>
          <p:cNvSpPr/>
          <p:nvPr/>
        </p:nvSpPr>
        <p:spPr>
          <a:xfrm>
            <a:off x="457200" y="3767328"/>
            <a:ext cx="3840480" cy="329184"/>
          </a:xfrm>
          <a:prstGeom prst="rect">
            <a:avLst/>
          </a:prstGeom>
          <a:noFill/>
          <a:ln/>
        </p:spPr>
        <p:txBody>
          <a:bodyPr wrap="square" rtlCol="0" anchor="ctr"/>
          <a:lstStyle/>
          <a:p>
            <a:pPr algn="l" indent="0" marL="0">
              <a:buNone/>
            </a:pPr>
            <a:r>
              <a:rPr lang="en-US" sz="1400" dirty="0">
                <a:solidFill>
                  <a:srgbClr val="000000"/>
                </a:solidFill>
              </a:rPr>
              <a:t>C. Tired and lazy</a:t>
            </a:r>
            <a:endParaRPr lang="en-US" sz="1400" dirty="0"/>
          </a:p>
        </p:txBody>
      </p:sp>
      <p:sp>
        <p:nvSpPr>
          <p:cNvPr id="11" name="Shape 9"/>
          <p:cNvSpPr/>
          <p:nvPr/>
        </p:nvSpPr>
        <p:spPr>
          <a:xfrm>
            <a:off x="4754880" y="3749040"/>
            <a:ext cx="4023360" cy="365760"/>
          </a:xfrm>
          <a:prstGeom prst="rect">
            <a:avLst>
              <a:gd name="adj" fmla="val 25000"/>
            </a:avLst>
          </a:prstGeom>
          <a:solidFill>
            <a:srgbClr val="A8C5DD"/>
          </a:solidFill>
          <a:ln w="12700">
            <a:solidFill>
              <a:srgbClr val="000000"/>
            </a:solidFill>
            <a:prstDash val="solid"/>
          </a:ln>
        </p:spPr>
      </p:sp>
      <p:sp>
        <p:nvSpPr>
          <p:cNvPr id="12" name="Text 10"/>
          <p:cNvSpPr/>
          <p:nvPr/>
        </p:nvSpPr>
        <p:spPr>
          <a:xfrm>
            <a:off x="4846320" y="3767328"/>
            <a:ext cx="3840480" cy="329184"/>
          </a:xfrm>
          <a:prstGeom prst="rect">
            <a:avLst/>
          </a:prstGeom>
          <a:noFill/>
          <a:ln/>
        </p:spPr>
        <p:txBody>
          <a:bodyPr wrap="square" rtlCol="0" anchor="ctr"/>
          <a:lstStyle/>
          <a:p>
            <a:pPr algn="l" indent="0" marL="0">
              <a:buNone/>
            </a:pPr>
            <a:r>
              <a:rPr lang="en-US" sz="1400" dirty="0">
                <a:solidFill>
                  <a:srgbClr val="000000"/>
                </a:solidFill>
              </a:rPr>
              <a:t>D. Scared and sad</a:t>
            </a:r>
            <a:endParaRPr lang="en-US" sz="1400" dirty="0"/>
          </a:p>
        </p:txBody>
      </p:sp>
      <p:sp>
        <p:nvSpPr>
          <p:cNvPr id="13" name="Text 11"/>
          <p:cNvSpPr/>
          <p:nvPr/>
        </p:nvSpPr>
        <p:spPr>
          <a:xfrm>
            <a:off x="365760" y="4160520"/>
            <a:ext cx="8412480" cy="320040"/>
          </a:xfrm>
          <a:prstGeom prst="rect">
            <a:avLst/>
          </a:prstGeom>
          <a:noFill/>
          <a:ln/>
        </p:spPr>
        <p:txBody>
          <a:bodyPr wrap="square" rtlCol="0" anchor="ctr"/>
          <a:lstStyle/>
          <a:p>
            <a:pPr indent="0" marL="0">
              <a:buNone/>
            </a:pPr>
            <a:r>
              <a:rPr lang="en-US" sz="1400" b="1" dirty="0">
                <a:solidFill>
                  <a:srgbClr val="27AE60"/>
                </a:solidFill>
              </a:rPr>
              <a:t>Correct!</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10 of 20</a:t>
            </a:r>
            <a:endParaRPr lang="en-US" sz="1300" dirty="0"/>
          </a:p>
        </p:txBody>
      </p:sp>
      <p:sp>
        <p:nvSpPr>
          <p:cNvPr id="3" name="Text 1"/>
          <p:cNvSpPr/>
          <p:nvPr/>
        </p:nvSpPr>
        <p:spPr>
          <a:xfrm>
            <a:off x="365760" y="777240"/>
            <a:ext cx="8412480" cy="1645920"/>
          </a:xfrm>
          <a:prstGeom prst="rect">
            <a:avLst/>
          </a:prstGeom>
          <a:solidFill>
            <a:srgbClr val="5A3D6A"/>
          </a:solidFill>
          <a:ln/>
        </p:spPr>
        <p:txBody>
          <a:bodyPr wrap="square" lIns="101600" tIns="101600" rIns="101600" bIns="101600" rtlCol="0" anchor="ctr"/>
          <a:lstStyle/>
          <a:p>
            <a:pPr indent="0" marL="0">
              <a:buNone/>
            </a:pPr>
            <a:r>
              <a:rPr lang="en-US" sz="1300" dirty="0">
                <a:solidFill>
                  <a:srgbClr val="FFFFFF"/>
                </a:solidFill>
              </a:rPr>
              <a:t>In a busy town, there was a special robot named Beep. Beep loved to help people. Every day, Beep would go around the town looking for people who needed help.</a:t>
            </a:r>
            <a:endParaRPr lang="en-US" sz="1300" dirty="0"/>
          </a:p>
          <a:p>
            <a:pPr indent="0" marL="0">
              <a:buNone/>
            </a:pPr>
            <a:endParaRPr lang="en-US" sz="1300" dirty="0"/>
          </a:p>
          <a:p>
            <a:pPr indent="0" marL="0">
              <a:buNone/>
            </a:pPr>
            <a:r>
              <a:rPr lang="en-US" sz="1300" dirty="0">
                <a:solidFill>
                  <a:srgbClr val="FFFFFF"/>
                </a:solidFill>
              </a:rPr>
              <a:t>One day, an old woman dropped her groceries. Beep quickly helped her pick them up. "Thank you, kind robot!" she said.</a:t>
            </a:r>
            <a:endParaRPr lang="en-US" sz="1300" dirty="0"/>
          </a:p>
          <a:p>
            <a:pPr indent="0" marL="0">
              <a:buNone/>
            </a:pPr>
            <a:endParaRPr lang="en-US" sz="1300" dirty="0"/>
          </a:p>
          <a:p>
            <a:pPr indent="0" marL="0">
              <a:buNone/>
            </a:pPr>
            <a:r>
              <a:rPr lang="en-US" sz="1300" dirty="0">
                <a:solidFill>
                  <a:srgbClr val="FFFFFF"/>
                </a:solidFill>
              </a:rPr>
              <a:t>Another day, a little girl was sad because she lost her toy. Beep found the toy under a park bench and gave it back. The girl hugged Beep happily.</a:t>
            </a:r>
            <a:endParaRPr lang="en-US" sz="1300" dirty="0"/>
          </a:p>
          <a:p>
            <a:pPr indent="0" marL="0">
              <a:buNone/>
            </a:pPr>
            <a:endParaRPr lang="en-US" sz="1300" dirty="0"/>
          </a:p>
          <a:p>
            <a:pPr indent="0" marL="0">
              <a:buNone/>
            </a:pPr>
            <a:r>
              <a:rPr lang="en-US" sz="1300" dirty="0">
                <a:solidFill>
                  <a:srgbClr val="FFFFFF"/>
                </a:solidFill>
              </a:rPr>
              <a:t>Soon, everyone in town knew about Beep. They all loved the helpful robot. Beep felt proud and happy. "I am so glad I can help my friends," Beep said. The whole town was better because Beep was there.</a:t>
            </a:r>
            <a:endParaRPr lang="en-US" sz="1300" dirty="0"/>
          </a:p>
        </p:txBody>
      </p:sp>
      <p:sp>
        <p:nvSpPr>
          <p:cNvPr id="4" name="Text 2"/>
          <p:cNvSpPr/>
          <p:nvPr/>
        </p:nvSpPr>
        <p:spPr>
          <a:xfrm>
            <a:off x="365760" y="2606040"/>
            <a:ext cx="8412480" cy="457200"/>
          </a:xfrm>
          <a:prstGeom prst="rect">
            <a:avLst/>
          </a:prstGeom>
          <a:noFill/>
          <a:ln/>
        </p:spPr>
        <p:txBody>
          <a:bodyPr wrap="square" rtlCol="0" anchor="ctr"/>
          <a:lstStyle/>
          <a:p>
            <a:pPr indent="0" marL="0">
              <a:buNone/>
            </a:pPr>
            <a:r>
              <a:rPr lang="en-US" sz="1600" b="1" dirty="0">
                <a:solidFill>
                  <a:srgbClr val="FFFFFF"/>
                </a:solidFill>
              </a:rPr>
              <a:t>How does the story end for Beep?</a:t>
            </a:r>
            <a:endParaRPr lang="en-US" sz="1600" dirty="0"/>
          </a:p>
        </p:txBody>
      </p:sp>
      <p:sp>
        <p:nvSpPr>
          <p:cNvPr id="5" name="Shape 3"/>
          <p:cNvSpPr/>
          <p:nvPr/>
        </p:nvSpPr>
        <p:spPr>
          <a:xfrm>
            <a:off x="365760" y="3246120"/>
            <a:ext cx="4023360" cy="365760"/>
          </a:xfrm>
          <a:prstGeom prst="rect">
            <a:avLst>
              <a:gd name="adj" fmla="val 25000"/>
            </a:avLst>
          </a:prstGeom>
          <a:solidFill>
            <a:srgbClr val="A8C5DD"/>
          </a:solidFill>
          <a:ln w="12700">
            <a:solidFill>
              <a:srgbClr val="000000"/>
            </a:solidFill>
            <a:prstDash val="solid"/>
          </a:ln>
        </p:spPr>
      </p:sp>
      <p:sp>
        <p:nvSpPr>
          <p:cNvPr id="6" name="Text 4"/>
          <p:cNvSpPr/>
          <p:nvPr/>
        </p:nvSpPr>
        <p:spPr>
          <a:xfrm>
            <a:off x="457200" y="3264408"/>
            <a:ext cx="3840480" cy="329184"/>
          </a:xfrm>
          <a:prstGeom prst="rect">
            <a:avLst/>
          </a:prstGeom>
          <a:noFill/>
          <a:ln/>
        </p:spPr>
        <p:txBody>
          <a:bodyPr wrap="square" rtlCol="0" anchor="ctr"/>
          <a:lstStyle/>
          <a:p>
            <a:pPr algn="l" indent="0" marL="0">
              <a:buNone/>
            </a:pPr>
            <a:r>
              <a:rPr lang="en-US" sz="1400" dirty="0">
                <a:solidFill>
                  <a:srgbClr val="000000"/>
                </a:solidFill>
              </a:rPr>
              <a:t>A. The robot breaks down</a:t>
            </a:r>
            <a:endParaRPr lang="en-US" sz="1400" dirty="0"/>
          </a:p>
        </p:txBody>
      </p:sp>
      <p:sp>
        <p:nvSpPr>
          <p:cNvPr id="7" name="Shape 5"/>
          <p:cNvSpPr/>
          <p:nvPr/>
        </p:nvSpPr>
        <p:spPr>
          <a:xfrm>
            <a:off x="4754880" y="3246120"/>
            <a:ext cx="4023360" cy="365760"/>
          </a:xfrm>
          <a:prstGeom prst="rect">
            <a:avLst>
              <a:gd name="adj" fmla="val 25000"/>
            </a:avLst>
          </a:prstGeom>
          <a:solidFill>
            <a:srgbClr val="A8C5DD"/>
          </a:solidFill>
          <a:ln w="12700">
            <a:solidFill>
              <a:srgbClr val="000000"/>
            </a:solidFill>
            <a:prstDash val="solid"/>
          </a:ln>
        </p:spPr>
      </p:sp>
      <p:sp>
        <p:nvSpPr>
          <p:cNvPr id="8" name="Text 6"/>
          <p:cNvSpPr/>
          <p:nvPr/>
        </p:nvSpPr>
        <p:spPr>
          <a:xfrm>
            <a:off x="4846320" y="3264408"/>
            <a:ext cx="3840480" cy="329184"/>
          </a:xfrm>
          <a:prstGeom prst="rect">
            <a:avLst/>
          </a:prstGeom>
          <a:noFill/>
          <a:ln/>
        </p:spPr>
        <p:txBody>
          <a:bodyPr wrap="square" rtlCol="0" anchor="ctr"/>
          <a:lstStyle/>
          <a:p>
            <a:pPr algn="l" indent="0" marL="0">
              <a:buNone/>
            </a:pPr>
            <a:r>
              <a:rPr lang="en-US" sz="1400" dirty="0">
                <a:solidFill>
                  <a:srgbClr val="000000"/>
                </a:solidFill>
              </a:rPr>
              <a:t>B. Everyone is happy because the robot helped them</a:t>
            </a:r>
            <a:endParaRPr lang="en-US" sz="1400" dirty="0"/>
          </a:p>
        </p:txBody>
      </p:sp>
      <p:sp>
        <p:nvSpPr>
          <p:cNvPr id="9" name="Shape 7"/>
          <p:cNvSpPr/>
          <p:nvPr/>
        </p:nvSpPr>
        <p:spPr>
          <a:xfrm>
            <a:off x="365760" y="3749040"/>
            <a:ext cx="4023360" cy="365760"/>
          </a:xfrm>
          <a:prstGeom prst="rect">
            <a:avLst>
              <a:gd name="adj" fmla="val 25000"/>
            </a:avLst>
          </a:prstGeom>
          <a:solidFill>
            <a:srgbClr val="A8C5DD"/>
          </a:solidFill>
          <a:ln w="12700">
            <a:solidFill>
              <a:srgbClr val="000000"/>
            </a:solidFill>
            <a:prstDash val="solid"/>
          </a:ln>
        </p:spPr>
      </p:sp>
      <p:sp>
        <p:nvSpPr>
          <p:cNvPr id="10" name="Text 8"/>
          <p:cNvSpPr/>
          <p:nvPr/>
        </p:nvSpPr>
        <p:spPr>
          <a:xfrm>
            <a:off x="457200" y="3767328"/>
            <a:ext cx="3840480" cy="329184"/>
          </a:xfrm>
          <a:prstGeom prst="rect">
            <a:avLst/>
          </a:prstGeom>
          <a:noFill/>
          <a:ln/>
        </p:spPr>
        <p:txBody>
          <a:bodyPr wrap="square" rtlCol="0" anchor="ctr"/>
          <a:lstStyle/>
          <a:p>
            <a:pPr algn="l" indent="0" marL="0">
              <a:buNone/>
            </a:pPr>
            <a:r>
              <a:rPr lang="en-US" sz="1400" dirty="0">
                <a:solidFill>
                  <a:srgbClr val="000000"/>
                </a:solidFill>
              </a:rPr>
              <a:t>C. The robot goes away</a:t>
            </a:r>
            <a:endParaRPr lang="en-US" sz="1400" dirty="0"/>
          </a:p>
        </p:txBody>
      </p:sp>
      <p:sp>
        <p:nvSpPr>
          <p:cNvPr id="11" name="Shape 9"/>
          <p:cNvSpPr/>
          <p:nvPr/>
        </p:nvSpPr>
        <p:spPr>
          <a:xfrm>
            <a:off x="4754880" y="3749040"/>
            <a:ext cx="4023360" cy="365760"/>
          </a:xfrm>
          <a:prstGeom prst="rect">
            <a:avLst>
              <a:gd name="adj" fmla="val 25000"/>
            </a:avLst>
          </a:prstGeom>
          <a:solidFill>
            <a:srgbClr val="A8C5DD"/>
          </a:solidFill>
          <a:ln w="12700">
            <a:solidFill>
              <a:srgbClr val="000000"/>
            </a:solidFill>
            <a:prstDash val="solid"/>
          </a:ln>
        </p:spPr>
      </p:sp>
      <p:sp>
        <p:nvSpPr>
          <p:cNvPr id="12" name="Text 10"/>
          <p:cNvSpPr/>
          <p:nvPr/>
        </p:nvSpPr>
        <p:spPr>
          <a:xfrm>
            <a:off x="4846320" y="3767328"/>
            <a:ext cx="3840480" cy="329184"/>
          </a:xfrm>
          <a:prstGeom prst="rect">
            <a:avLst/>
          </a:prstGeom>
          <a:noFill/>
          <a:ln/>
        </p:spPr>
        <p:txBody>
          <a:bodyPr wrap="square" rtlCol="0" anchor="ctr"/>
          <a:lstStyle/>
          <a:p>
            <a:pPr algn="l" indent="0" marL="0">
              <a:buNone/>
            </a:pPr>
            <a:r>
              <a:rPr lang="en-US" sz="1400" dirty="0">
                <a:solidFill>
                  <a:srgbClr val="000000"/>
                </a:solidFill>
              </a:rPr>
              <a:t>D. Nobody likes the robot</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10 - Answer</a:t>
            </a:r>
            <a:endParaRPr lang="en-US" sz="1300" dirty="0"/>
          </a:p>
        </p:txBody>
      </p:sp>
      <p:sp>
        <p:nvSpPr>
          <p:cNvPr id="3" name="Text 1"/>
          <p:cNvSpPr/>
          <p:nvPr/>
        </p:nvSpPr>
        <p:spPr>
          <a:xfrm>
            <a:off x="365760" y="777240"/>
            <a:ext cx="8412480" cy="1645920"/>
          </a:xfrm>
          <a:prstGeom prst="rect">
            <a:avLst/>
          </a:prstGeom>
          <a:solidFill>
            <a:srgbClr val="5A3D6A"/>
          </a:solidFill>
          <a:ln/>
        </p:spPr>
        <p:txBody>
          <a:bodyPr wrap="square" lIns="101600" tIns="101600" rIns="101600" bIns="101600" rtlCol="0" anchor="ctr"/>
          <a:lstStyle/>
          <a:p>
            <a:pPr indent="0" marL="0">
              <a:buNone/>
            </a:pPr>
            <a:r>
              <a:rPr lang="en-US" sz="1300" dirty="0">
                <a:solidFill>
                  <a:srgbClr val="FFFFFF"/>
                </a:solidFill>
              </a:rPr>
              <a:t>In a busy town, there was a special robot named Beep. Beep loved to help people. Every day, Beep would go around the town looking for people who needed help.</a:t>
            </a:r>
            <a:endParaRPr lang="en-US" sz="1300" dirty="0"/>
          </a:p>
          <a:p>
            <a:pPr indent="0" marL="0">
              <a:buNone/>
            </a:pPr>
            <a:endParaRPr lang="en-US" sz="1300" dirty="0"/>
          </a:p>
          <a:p>
            <a:pPr indent="0" marL="0">
              <a:buNone/>
            </a:pPr>
            <a:r>
              <a:rPr lang="en-US" sz="1300" dirty="0">
                <a:solidFill>
                  <a:srgbClr val="FFFFFF"/>
                </a:solidFill>
              </a:rPr>
              <a:t>One day, an old woman dropped her groceries. Beep quickly helped her pick them up. "Thank you, kind robot!" she said.</a:t>
            </a:r>
            <a:endParaRPr lang="en-US" sz="1300" dirty="0"/>
          </a:p>
          <a:p>
            <a:pPr indent="0" marL="0">
              <a:buNone/>
            </a:pPr>
            <a:endParaRPr lang="en-US" sz="1300" dirty="0"/>
          </a:p>
          <a:p>
            <a:pPr indent="0" marL="0">
              <a:buNone/>
            </a:pPr>
            <a:r>
              <a:rPr lang="en-US" sz="1300" dirty="0">
                <a:solidFill>
                  <a:srgbClr val="FFFFFF"/>
                </a:solidFill>
              </a:rPr>
              <a:t>Another day, a little girl was sad because she lost her toy. Beep found the toy under a park bench and gave it back. The girl hugged Beep happily.</a:t>
            </a:r>
            <a:endParaRPr lang="en-US" sz="1300" dirty="0"/>
          </a:p>
          <a:p>
            <a:pPr indent="0" marL="0">
              <a:buNone/>
            </a:pPr>
            <a:endParaRPr lang="en-US" sz="1300" dirty="0"/>
          </a:p>
          <a:p>
            <a:pPr indent="0" marL="0">
              <a:buNone/>
            </a:pPr>
            <a:r>
              <a:rPr lang="en-US" sz="1300" dirty="0">
                <a:solidFill>
                  <a:srgbClr val="FFFFFF"/>
                </a:solidFill>
              </a:rPr>
              <a:t>Soon, everyone in town knew about Beep. They all loved the helpful robot. Beep felt proud and happy. "I am so glad I can help my friends," Beep said. The whole town was better because Beep was there.</a:t>
            </a:r>
            <a:endParaRPr lang="en-US" sz="1300" dirty="0"/>
          </a:p>
        </p:txBody>
      </p:sp>
      <p:sp>
        <p:nvSpPr>
          <p:cNvPr id="4" name="Text 2"/>
          <p:cNvSpPr/>
          <p:nvPr/>
        </p:nvSpPr>
        <p:spPr>
          <a:xfrm>
            <a:off x="365760" y="2606040"/>
            <a:ext cx="8412480" cy="457200"/>
          </a:xfrm>
          <a:prstGeom prst="rect">
            <a:avLst/>
          </a:prstGeom>
          <a:noFill/>
          <a:ln/>
        </p:spPr>
        <p:txBody>
          <a:bodyPr wrap="square" rtlCol="0" anchor="ctr"/>
          <a:lstStyle/>
          <a:p>
            <a:pPr indent="0" marL="0">
              <a:buNone/>
            </a:pPr>
            <a:r>
              <a:rPr lang="en-US" sz="1600" b="1" dirty="0">
                <a:solidFill>
                  <a:srgbClr val="FFFFFF"/>
                </a:solidFill>
              </a:rPr>
              <a:t>How does the story end for Beep?</a:t>
            </a:r>
            <a:endParaRPr lang="en-US" sz="1600" dirty="0"/>
          </a:p>
        </p:txBody>
      </p:sp>
      <p:sp>
        <p:nvSpPr>
          <p:cNvPr id="5" name="Shape 3"/>
          <p:cNvSpPr/>
          <p:nvPr/>
        </p:nvSpPr>
        <p:spPr>
          <a:xfrm>
            <a:off x="365760" y="3246120"/>
            <a:ext cx="4023360" cy="365760"/>
          </a:xfrm>
          <a:prstGeom prst="rect">
            <a:avLst>
              <a:gd name="adj" fmla="val 25000"/>
            </a:avLst>
          </a:prstGeom>
          <a:solidFill>
            <a:srgbClr val="A8C5DD"/>
          </a:solidFill>
          <a:ln w="12700">
            <a:solidFill>
              <a:srgbClr val="000000"/>
            </a:solidFill>
            <a:prstDash val="solid"/>
          </a:ln>
        </p:spPr>
      </p:sp>
      <p:sp>
        <p:nvSpPr>
          <p:cNvPr id="6" name="Text 4"/>
          <p:cNvSpPr/>
          <p:nvPr/>
        </p:nvSpPr>
        <p:spPr>
          <a:xfrm>
            <a:off x="457200" y="3264408"/>
            <a:ext cx="3840480" cy="329184"/>
          </a:xfrm>
          <a:prstGeom prst="rect">
            <a:avLst/>
          </a:prstGeom>
          <a:noFill/>
          <a:ln/>
        </p:spPr>
        <p:txBody>
          <a:bodyPr wrap="square" rtlCol="0" anchor="ctr"/>
          <a:lstStyle/>
          <a:p>
            <a:pPr algn="l" indent="0" marL="0">
              <a:buNone/>
            </a:pPr>
            <a:r>
              <a:rPr lang="en-US" sz="1400" dirty="0">
                <a:solidFill>
                  <a:srgbClr val="000000"/>
                </a:solidFill>
              </a:rPr>
              <a:t>A. The robot breaks down</a:t>
            </a:r>
            <a:endParaRPr lang="en-US" sz="1400" dirty="0"/>
          </a:p>
        </p:txBody>
      </p:sp>
      <p:sp>
        <p:nvSpPr>
          <p:cNvPr id="7" name="Shape 5"/>
          <p:cNvSpPr/>
          <p:nvPr/>
        </p:nvSpPr>
        <p:spPr>
          <a:xfrm>
            <a:off x="4754880" y="3246120"/>
            <a:ext cx="4023360" cy="365760"/>
          </a:xfrm>
          <a:prstGeom prst="rect">
            <a:avLst>
              <a:gd name="adj" fmla="val 25000"/>
            </a:avLst>
          </a:prstGeom>
          <a:solidFill>
            <a:srgbClr val="D5F4E6"/>
          </a:solidFill>
          <a:ln w="12700">
            <a:solidFill>
              <a:srgbClr val="27AE60"/>
            </a:solidFill>
            <a:prstDash val="solid"/>
          </a:ln>
        </p:spPr>
      </p:sp>
      <p:sp>
        <p:nvSpPr>
          <p:cNvPr id="8" name="Text 6"/>
          <p:cNvSpPr/>
          <p:nvPr/>
        </p:nvSpPr>
        <p:spPr>
          <a:xfrm>
            <a:off x="4846320" y="3264408"/>
            <a:ext cx="3840480" cy="329184"/>
          </a:xfrm>
          <a:prstGeom prst="rect">
            <a:avLst/>
          </a:prstGeom>
          <a:noFill/>
          <a:ln/>
        </p:spPr>
        <p:txBody>
          <a:bodyPr wrap="square" rtlCol="0" anchor="ctr"/>
          <a:lstStyle/>
          <a:p>
            <a:pPr algn="l" indent="0" marL="0">
              <a:buNone/>
            </a:pPr>
            <a:r>
              <a:rPr lang="en-US" sz="1400" dirty="0">
                <a:solidFill>
                  <a:srgbClr val="000000"/>
                </a:solidFill>
              </a:rPr>
              <a:t>B. Everyone is happy because the robot helped them ✓</a:t>
            </a:r>
            <a:endParaRPr lang="en-US" sz="1400" dirty="0"/>
          </a:p>
        </p:txBody>
      </p:sp>
      <p:sp>
        <p:nvSpPr>
          <p:cNvPr id="9" name="Shape 7"/>
          <p:cNvSpPr/>
          <p:nvPr/>
        </p:nvSpPr>
        <p:spPr>
          <a:xfrm>
            <a:off x="365760" y="3749040"/>
            <a:ext cx="4023360" cy="365760"/>
          </a:xfrm>
          <a:prstGeom prst="rect">
            <a:avLst>
              <a:gd name="adj" fmla="val 25000"/>
            </a:avLst>
          </a:prstGeom>
          <a:solidFill>
            <a:srgbClr val="A8C5DD"/>
          </a:solidFill>
          <a:ln w="12700">
            <a:solidFill>
              <a:srgbClr val="000000"/>
            </a:solidFill>
            <a:prstDash val="solid"/>
          </a:ln>
        </p:spPr>
      </p:sp>
      <p:sp>
        <p:nvSpPr>
          <p:cNvPr id="10" name="Text 8"/>
          <p:cNvSpPr/>
          <p:nvPr/>
        </p:nvSpPr>
        <p:spPr>
          <a:xfrm>
            <a:off x="457200" y="3767328"/>
            <a:ext cx="3840480" cy="329184"/>
          </a:xfrm>
          <a:prstGeom prst="rect">
            <a:avLst/>
          </a:prstGeom>
          <a:noFill/>
          <a:ln/>
        </p:spPr>
        <p:txBody>
          <a:bodyPr wrap="square" rtlCol="0" anchor="ctr"/>
          <a:lstStyle/>
          <a:p>
            <a:pPr algn="l" indent="0" marL="0">
              <a:buNone/>
            </a:pPr>
            <a:r>
              <a:rPr lang="en-US" sz="1400" dirty="0">
                <a:solidFill>
                  <a:srgbClr val="000000"/>
                </a:solidFill>
              </a:rPr>
              <a:t>C. The robot goes away</a:t>
            </a:r>
            <a:endParaRPr lang="en-US" sz="1400" dirty="0"/>
          </a:p>
        </p:txBody>
      </p:sp>
      <p:sp>
        <p:nvSpPr>
          <p:cNvPr id="11" name="Shape 9"/>
          <p:cNvSpPr/>
          <p:nvPr/>
        </p:nvSpPr>
        <p:spPr>
          <a:xfrm>
            <a:off x="4754880" y="3749040"/>
            <a:ext cx="4023360" cy="365760"/>
          </a:xfrm>
          <a:prstGeom prst="rect">
            <a:avLst>
              <a:gd name="adj" fmla="val 25000"/>
            </a:avLst>
          </a:prstGeom>
          <a:solidFill>
            <a:srgbClr val="A8C5DD"/>
          </a:solidFill>
          <a:ln w="12700">
            <a:solidFill>
              <a:srgbClr val="000000"/>
            </a:solidFill>
            <a:prstDash val="solid"/>
          </a:ln>
        </p:spPr>
      </p:sp>
      <p:sp>
        <p:nvSpPr>
          <p:cNvPr id="12" name="Text 10"/>
          <p:cNvSpPr/>
          <p:nvPr/>
        </p:nvSpPr>
        <p:spPr>
          <a:xfrm>
            <a:off x="4846320" y="3767328"/>
            <a:ext cx="3840480" cy="329184"/>
          </a:xfrm>
          <a:prstGeom prst="rect">
            <a:avLst/>
          </a:prstGeom>
          <a:noFill/>
          <a:ln/>
        </p:spPr>
        <p:txBody>
          <a:bodyPr wrap="square" rtlCol="0" anchor="ctr"/>
          <a:lstStyle/>
          <a:p>
            <a:pPr algn="l" indent="0" marL="0">
              <a:buNone/>
            </a:pPr>
            <a:r>
              <a:rPr lang="en-US" sz="1400" dirty="0">
                <a:solidFill>
                  <a:srgbClr val="000000"/>
                </a:solidFill>
              </a:rPr>
              <a:t>D. Nobody likes the robot</a:t>
            </a:r>
            <a:endParaRPr lang="en-US" sz="1400" dirty="0"/>
          </a:p>
        </p:txBody>
      </p:sp>
      <p:sp>
        <p:nvSpPr>
          <p:cNvPr id="13" name="Text 11"/>
          <p:cNvSpPr/>
          <p:nvPr/>
        </p:nvSpPr>
        <p:spPr>
          <a:xfrm>
            <a:off x="365760" y="4160520"/>
            <a:ext cx="8412480" cy="320040"/>
          </a:xfrm>
          <a:prstGeom prst="rect">
            <a:avLst/>
          </a:prstGeom>
          <a:noFill/>
          <a:ln/>
        </p:spPr>
        <p:txBody>
          <a:bodyPr wrap="square" rtlCol="0" anchor="ctr"/>
          <a:lstStyle/>
          <a:p>
            <a:pPr indent="0" marL="0">
              <a:buNone/>
            </a:pPr>
            <a:r>
              <a:rPr lang="en-US" sz="1400" b="1" dirty="0">
                <a:solidFill>
                  <a:srgbClr val="27AE60"/>
                </a:solidFill>
              </a:rPr>
              <a:t>Correct!</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11 of 20</a:t>
            </a:r>
            <a:endParaRPr lang="en-US" sz="1300" dirty="0"/>
          </a:p>
        </p:txBody>
      </p:sp>
      <p:sp>
        <p:nvSpPr>
          <p:cNvPr id="3" name="Text 1"/>
          <p:cNvSpPr/>
          <p:nvPr/>
        </p:nvSpPr>
        <p:spPr>
          <a:xfrm>
            <a:off x="365760" y="777240"/>
            <a:ext cx="8412480" cy="1645920"/>
          </a:xfrm>
          <a:prstGeom prst="rect">
            <a:avLst/>
          </a:prstGeom>
          <a:solidFill>
            <a:srgbClr val="5A3D6A"/>
          </a:solidFill>
          <a:ln/>
        </p:spPr>
        <p:txBody>
          <a:bodyPr wrap="square" lIns="101600" tIns="101600" rIns="101600" bIns="101600" rtlCol="0" anchor="ctr"/>
          <a:lstStyle/>
          <a:p>
            <a:pPr indent="0" marL="0">
              <a:buNone/>
            </a:pPr>
            <a:r>
              <a:rPr lang="en-US" sz="1300" dirty="0">
                <a:solidFill>
                  <a:srgbClr val="FFFFFF"/>
                </a:solidFill>
              </a:rPr>
              <a:t>In a busy town, there was a special robot named Beep. Beep loved to help people. Every day, Beep would go around the town looking for people who needed help.</a:t>
            </a:r>
            <a:endParaRPr lang="en-US" sz="1300" dirty="0"/>
          </a:p>
          <a:p>
            <a:pPr indent="0" marL="0">
              <a:buNone/>
            </a:pPr>
            <a:endParaRPr lang="en-US" sz="1300" dirty="0"/>
          </a:p>
          <a:p>
            <a:pPr indent="0" marL="0">
              <a:buNone/>
            </a:pPr>
            <a:r>
              <a:rPr lang="en-US" sz="1300" dirty="0">
                <a:solidFill>
                  <a:srgbClr val="FFFFFF"/>
                </a:solidFill>
              </a:rPr>
              <a:t>One day, an old woman dropped her groceries. Beep quickly helped her pick them up. "Thank you, kind robot!" she said.</a:t>
            </a:r>
            <a:endParaRPr lang="en-US" sz="1300" dirty="0"/>
          </a:p>
          <a:p>
            <a:pPr indent="0" marL="0">
              <a:buNone/>
            </a:pPr>
            <a:endParaRPr lang="en-US" sz="1300" dirty="0"/>
          </a:p>
          <a:p>
            <a:pPr indent="0" marL="0">
              <a:buNone/>
            </a:pPr>
            <a:r>
              <a:rPr lang="en-US" sz="1300" dirty="0">
                <a:solidFill>
                  <a:srgbClr val="FFFFFF"/>
                </a:solidFill>
              </a:rPr>
              <a:t>Another day, a little girl was sad because she lost her toy. Beep found the toy under a park bench and gave it back. The girl hugged Beep happily.</a:t>
            </a:r>
            <a:endParaRPr lang="en-US" sz="1300" dirty="0"/>
          </a:p>
          <a:p>
            <a:pPr indent="0" marL="0">
              <a:buNone/>
            </a:pPr>
            <a:endParaRPr lang="en-US" sz="1300" dirty="0"/>
          </a:p>
          <a:p>
            <a:pPr indent="0" marL="0">
              <a:buNone/>
            </a:pPr>
            <a:r>
              <a:rPr lang="en-US" sz="1300" dirty="0">
                <a:solidFill>
                  <a:srgbClr val="FFFFFF"/>
                </a:solidFill>
              </a:rPr>
              <a:t>Soon, everyone in town knew about Beep. They all loved the helpful robot. Beep felt proud and happy. "I am so glad I can help my friends," Beep said. The whole town was better because Beep was there.</a:t>
            </a:r>
            <a:endParaRPr lang="en-US" sz="1300" dirty="0"/>
          </a:p>
        </p:txBody>
      </p:sp>
      <p:sp>
        <p:nvSpPr>
          <p:cNvPr id="4" name="Text 2"/>
          <p:cNvSpPr/>
          <p:nvPr/>
        </p:nvSpPr>
        <p:spPr>
          <a:xfrm>
            <a:off x="365760" y="2606040"/>
            <a:ext cx="8412480" cy="457200"/>
          </a:xfrm>
          <a:prstGeom prst="rect">
            <a:avLst/>
          </a:prstGeom>
          <a:noFill/>
          <a:ln/>
        </p:spPr>
        <p:txBody>
          <a:bodyPr wrap="square" rtlCol="0" anchor="ctr"/>
          <a:lstStyle/>
          <a:p>
            <a:pPr indent="0" marL="0">
              <a:buNone/>
            </a:pPr>
            <a:r>
              <a:rPr lang="en-US" sz="1600" b="1" dirty="0">
                <a:solidFill>
                  <a:srgbClr val="FFFFFF"/>
                </a:solidFill>
              </a:rPr>
              <a:t>What does this story teach us?</a:t>
            </a:r>
            <a:endParaRPr lang="en-US" sz="1600" dirty="0"/>
          </a:p>
        </p:txBody>
      </p:sp>
      <p:sp>
        <p:nvSpPr>
          <p:cNvPr id="5" name="Shape 3"/>
          <p:cNvSpPr/>
          <p:nvPr/>
        </p:nvSpPr>
        <p:spPr>
          <a:xfrm>
            <a:off x="365760" y="3246120"/>
            <a:ext cx="4023360" cy="365760"/>
          </a:xfrm>
          <a:prstGeom prst="rect">
            <a:avLst>
              <a:gd name="adj" fmla="val 25000"/>
            </a:avLst>
          </a:prstGeom>
          <a:solidFill>
            <a:srgbClr val="A8C5DD"/>
          </a:solidFill>
          <a:ln w="12700">
            <a:solidFill>
              <a:srgbClr val="000000"/>
            </a:solidFill>
            <a:prstDash val="solid"/>
          </a:ln>
        </p:spPr>
      </p:sp>
      <p:sp>
        <p:nvSpPr>
          <p:cNvPr id="6" name="Text 4"/>
          <p:cNvSpPr/>
          <p:nvPr/>
        </p:nvSpPr>
        <p:spPr>
          <a:xfrm>
            <a:off x="457200" y="3264408"/>
            <a:ext cx="3840480" cy="329184"/>
          </a:xfrm>
          <a:prstGeom prst="rect">
            <a:avLst/>
          </a:prstGeom>
          <a:noFill/>
          <a:ln/>
        </p:spPr>
        <p:txBody>
          <a:bodyPr wrap="square" rtlCol="0" anchor="ctr"/>
          <a:lstStyle/>
          <a:p>
            <a:pPr algn="l" indent="0" marL="0">
              <a:buNone/>
            </a:pPr>
            <a:r>
              <a:rPr lang="en-US" sz="1400" dirty="0">
                <a:solidFill>
                  <a:srgbClr val="000000"/>
                </a:solidFill>
              </a:rPr>
              <a:t>A. Robots are fun</a:t>
            </a:r>
            <a:endParaRPr lang="en-US" sz="1400" dirty="0"/>
          </a:p>
        </p:txBody>
      </p:sp>
      <p:sp>
        <p:nvSpPr>
          <p:cNvPr id="7" name="Shape 5"/>
          <p:cNvSpPr/>
          <p:nvPr/>
        </p:nvSpPr>
        <p:spPr>
          <a:xfrm>
            <a:off x="4754880" y="3246120"/>
            <a:ext cx="4023360" cy="365760"/>
          </a:xfrm>
          <a:prstGeom prst="rect">
            <a:avLst>
              <a:gd name="adj" fmla="val 25000"/>
            </a:avLst>
          </a:prstGeom>
          <a:solidFill>
            <a:srgbClr val="A8C5DD"/>
          </a:solidFill>
          <a:ln w="12700">
            <a:solidFill>
              <a:srgbClr val="000000"/>
            </a:solidFill>
            <a:prstDash val="solid"/>
          </a:ln>
        </p:spPr>
      </p:sp>
      <p:sp>
        <p:nvSpPr>
          <p:cNvPr id="8" name="Text 6"/>
          <p:cNvSpPr/>
          <p:nvPr/>
        </p:nvSpPr>
        <p:spPr>
          <a:xfrm>
            <a:off x="4846320" y="3264408"/>
            <a:ext cx="3840480" cy="329184"/>
          </a:xfrm>
          <a:prstGeom prst="rect">
            <a:avLst/>
          </a:prstGeom>
          <a:noFill/>
          <a:ln/>
        </p:spPr>
        <p:txBody>
          <a:bodyPr wrap="square" rtlCol="0" anchor="ctr"/>
          <a:lstStyle/>
          <a:p>
            <a:pPr algn="l" indent="0" marL="0">
              <a:buNone/>
            </a:pPr>
            <a:r>
              <a:rPr lang="en-US" sz="1400" dirty="0">
                <a:solidFill>
                  <a:srgbClr val="000000"/>
                </a:solidFill>
              </a:rPr>
              <a:t>B. It is good to help others</a:t>
            </a:r>
            <a:endParaRPr lang="en-US" sz="1400" dirty="0"/>
          </a:p>
        </p:txBody>
      </p:sp>
      <p:sp>
        <p:nvSpPr>
          <p:cNvPr id="9" name="Shape 7"/>
          <p:cNvSpPr/>
          <p:nvPr/>
        </p:nvSpPr>
        <p:spPr>
          <a:xfrm>
            <a:off x="365760" y="3749040"/>
            <a:ext cx="4023360" cy="365760"/>
          </a:xfrm>
          <a:prstGeom prst="rect">
            <a:avLst>
              <a:gd name="adj" fmla="val 25000"/>
            </a:avLst>
          </a:prstGeom>
          <a:solidFill>
            <a:srgbClr val="A8C5DD"/>
          </a:solidFill>
          <a:ln w="12700">
            <a:solidFill>
              <a:srgbClr val="000000"/>
            </a:solidFill>
            <a:prstDash val="solid"/>
          </a:ln>
        </p:spPr>
      </p:sp>
      <p:sp>
        <p:nvSpPr>
          <p:cNvPr id="10" name="Text 8"/>
          <p:cNvSpPr/>
          <p:nvPr/>
        </p:nvSpPr>
        <p:spPr>
          <a:xfrm>
            <a:off x="457200" y="3767328"/>
            <a:ext cx="3840480" cy="329184"/>
          </a:xfrm>
          <a:prstGeom prst="rect">
            <a:avLst/>
          </a:prstGeom>
          <a:noFill/>
          <a:ln/>
        </p:spPr>
        <p:txBody>
          <a:bodyPr wrap="square" rtlCol="0" anchor="ctr"/>
          <a:lstStyle/>
          <a:p>
            <a:pPr algn="l" indent="0" marL="0">
              <a:buNone/>
            </a:pPr>
            <a:r>
              <a:rPr lang="en-US" sz="1400" dirty="0">
                <a:solidFill>
                  <a:srgbClr val="000000"/>
                </a:solidFill>
              </a:rPr>
              <a:t>C. Working is hard</a:t>
            </a:r>
            <a:endParaRPr lang="en-US" sz="1400" dirty="0"/>
          </a:p>
        </p:txBody>
      </p:sp>
      <p:sp>
        <p:nvSpPr>
          <p:cNvPr id="11" name="Shape 9"/>
          <p:cNvSpPr/>
          <p:nvPr/>
        </p:nvSpPr>
        <p:spPr>
          <a:xfrm>
            <a:off x="4754880" y="3749040"/>
            <a:ext cx="4023360" cy="365760"/>
          </a:xfrm>
          <a:prstGeom prst="rect">
            <a:avLst>
              <a:gd name="adj" fmla="val 25000"/>
            </a:avLst>
          </a:prstGeom>
          <a:solidFill>
            <a:srgbClr val="A8C5DD"/>
          </a:solidFill>
          <a:ln w="12700">
            <a:solidFill>
              <a:srgbClr val="000000"/>
            </a:solidFill>
            <a:prstDash val="solid"/>
          </a:ln>
        </p:spPr>
      </p:sp>
      <p:sp>
        <p:nvSpPr>
          <p:cNvPr id="12" name="Text 10"/>
          <p:cNvSpPr/>
          <p:nvPr/>
        </p:nvSpPr>
        <p:spPr>
          <a:xfrm>
            <a:off x="4846320" y="3767328"/>
            <a:ext cx="3840480" cy="329184"/>
          </a:xfrm>
          <a:prstGeom prst="rect">
            <a:avLst/>
          </a:prstGeom>
          <a:noFill/>
          <a:ln/>
        </p:spPr>
        <p:txBody>
          <a:bodyPr wrap="square" rtlCol="0" anchor="ctr"/>
          <a:lstStyle/>
          <a:p>
            <a:pPr algn="l" indent="0" marL="0">
              <a:buNone/>
            </a:pPr>
            <a:r>
              <a:rPr lang="en-US" sz="1400" dirty="0">
                <a:solidFill>
                  <a:srgbClr val="000000"/>
                </a:solidFill>
              </a:rPr>
              <a:t>D. Robots cannot help people</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11 - Answer</a:t>
            </a:r>
            <a:endParaRPr lang="en-US" sz="1300" dirty="0"/>
          </a:p>
        </p:txBody>
      </p:sp>
      <p:sp>
        <p:nvSpPr>
          <p:cNvPr id="3" name="Text 1"/>
          <p:cNvSpPr/>
          <p:nvPr/>
        </p:nvSpPr>
        <p:spPr>
          <a:xfrm>
            <a:off x="365760" y="777240"/>
            <a:ext cx="8412480" cy="1645920"/>
          </a:xfrm>
          <a:prstGeom prst="rect">
            <a:avLst/>
          </a:prstGeom>
          <a:solidFill>
            <a:srgbClr val="5A3D6A"/>
          </a:solidFill>
          <a:ln/>
        </p:spPr>
        <p:txBody>
          <a:bodyPr wrap="square" lIns="101600" tIns="101600" rIns="101600" bIns="101600" rtlCol="0" anchor="ctr"/>
          <a:lstStyle/>
          <a:p>
            <a:pPr indent="0" marL="0">
              <a:buNone/>
            </a:pPr>
            <a:r>
              <a:rPr lang="en-US" sz="1300" dirty="0">
                <a:solidFill>
                  <a:srgbClr val="FFFFFF"/>
                </a:solidFill>
              </a:rPr>
              <a:t>In a busy town, there was a special robot named Beep. Beep loved to help people. Every day, Beep would go around the town looking for people who needed help.</a:t>
            </a:r>
            <a:endParaRPr lang="en-US" sz="1300" dirty="0"/>
          </a:p>
          <a:p>
            <a:pPr indent="0" marL="0">
              <a:buNone/>
            </a:pPr>
            <a:endParaRPr lang="en-US" sz="1300" dirty="0"/>
          </a:p>
          <a:p>
            <a:pPr indent="0" marL="0">
              <a:buNone/>
            </a:pPr>
            <a:r>
              <a:rPr lang="en-US" sz="1300" dirty="0">
                <a:solidFill>
                  <a:srgbClr val="FFFFFF"/>
                </a:solidFill>
              </a:rPr>
              <a:t>One day, an old woman dropped her groceries. Beep quickly helped her pick them up. "Thank you, kind robot!" she said.</a:t>
            </a:r>
            <a:endParaRPr lang="en-US" sz="1300" dirty="0"/>
          </a:p>
          <a:p>
            <a:pPr indent="0" marL="0">
              <a:buNone/>
            </a:pPr>
            <a:endParaRPr lang="en-US" sz="1300" dirty="0"/>
          </a:p>
          <a:p>
            <a:pPr indent="0" marL="0">
              <a:buNone/>
            </a:pPr>
            <a:r>
              <a:rPr lang="en-US" sz="1300" dirty="0">
                <a:solidFill>
                  <a:srgbClr val="FFFFFF"/>
                </a:solidFill>
              </a:rPr>
              <a:t>Another day, a little girl was sad because she lost her toy. Beep found the toy under a park bench and gave it back. The girl hugged Beep happily.</a:t>
            </a:r>
            <a:endParaRPr lang="en-US" sz="1300" dirty="0"/>
          </a:p>
          <a:p>
            <a:pPr indent="0" marL="0">
              <a:buNone/>
            </a:pPr>
            <a:endParaRPr lang="en-US" sz="1300" dirty="0"/>
          </a:p>
          <a:p>
            <a:pPr indent="0" marL="0">
              <a:buNone/>
            </a:pPr>
            <a:r>
              <a:rPr lang="en-US" sz="1300" dirty="0">
                <a:solidFill>
                  <a:srgbClr val="FFFFFF"/>
                </a:solidFill>
              </a:rPr>
              <a:t>Soon, everyone in town knew about Beep. They all loved the helpful robot. Beep felt proud and happy. "I am so glad I can help my friends," Beep said. The whole town was better because Beep was there.</a:t>
            </a:r>
            <a:endParaRPr lang="en-US" sz="1300" dirty="0"/>
          </a:p>
        </p:txBody>
      </p:sp>
      <p:sp>
        <p:nvSpPr>
          <p:cNvPr id="4" name="Text 2"/>
          <p:cNvSpPr/>
          <p:nvPr/>
        </p:nvSpPr>
        <p:spPr>
          <a:xfrm>
            <a:off x="365760" y="2606040"/>
            <a:ext cx="8412480" cy="457200"/>
          </a:xfrm>
          <a:prstGeom prst="rect">
            <a:avLst/>
          </a:prstGeom>
          <a:noFill/>
          <a:ln/>
        </p:spPr>
        <p:txBody>
          <a:bodyPr wrap="square" rtlCol="0" anchor="ctr"/>
          <a:lstStyle/>
          <a:p>
            <a:pPr indent="0" marL="0">
              <a:buNone/>
            </a:pPr>
            <a:r>
              <a:rPr lang="en-US" sz="1600" b="1" dirty="0">
                <a:solidFill>
                  <a:srgbClr val="FFFFFF"/>
                </a:solidFill>
              </a:rPr>
              <a:t>What does this story teach us?</a:t>
            </a:r>
            <a:endParaRPr lang="en-US" sz="1600" dirty="0"/>
          </a:p>
        </p:txBody>
      </p:sp>
      <p:sp>
        <p:nvSpPr>
          <p:cNvPr id="5" name="Shape 3"/>
          <p:cNvSpPr/>
          <p:nvPr/>
        </p:nvSpPr>
        <p:spPr>
          <a:xfrm>
            <a:off x="365760" y="3246120"/>
            <a:ext cx="4023360" cy="365760"/>
          </a:xfrm>
          <a:prstGeom prst="rect">
            <a:avLst>
              <a:gd name="adj" fmla="val 25000"/>
            </a:avLst>
          </a:prstGeom>
          <a:solidFill>
            <a:srgbClr val="A8C5DD"/>
          </a:solidFill>
          <a:ln w="12700">
            <a:solidFill>
              <a:srgbClr val="000000"/>
            </a:solidFill>
            <a:prstDash val="solid"/>
          </a:ln>
        </p:spPr>
      </p:sp>
      <p:sp>
        <p:nvSpPr>
          <p:cNvPr id="6" name="Text 4"/>
          <p:cNvSpPr/>
          <p:nvPr/>
        </p:nvSpPr>
        <p:spPr>
          <a:xfrm>
            <a:off x="457200" y="3264408"/>
            <a:ext cx="3840480" cy="329184"/>
          </a:xfrm>
          <a:prstGeom prst="rect">
            <a:avLst/>
          </a:prstGeom>
          <a:noFill/>
          <a:ln/>
        </p:spPr>
        <p:txBody>
          <a:bodyPr wrap="square" rtlCol="0" anchor="ctr"/>
          <a:lstStyle/>
          <a:p>
            <a:pPr algn="l" indent="0" marL="0">
              <a:buNone/>
            </a:pPr>
            <a:r>
              <a:rPr lang="en-US" sz="1400" dirty="0">
                <a:solidFill>
                  <a:srgbClr val="000000"/>
                </a:solidFill>
              </a:rPr>
              <a:t>A. Robots are fun</a:t>
            </a:r>
            <a:endParaRPr lang="en-US" sz="1400" dirty="0"/>
          </a:p>
        </p:txBody>
      </p:sp>
      <p:sp>
        <p:nvSpPr>
          <p:cNvPr id="7" name="Shape 5"/>
          <p:cNvSpPr/>
          <p:nvPr/>
        </p:nvSpPr>
        <p:spPr>
          <a:xfrm>
            <a:off x="4754880" y="3246120"/>
            <a:ext cx="4023360" cy="365760"/>
          </a:xfrm>
          <a:prstGeom prst="rect">
            <a:avLst>
              <a:gd name="adj" fmla="val 25000"/>
            </a:avLst>
          </a:prstGeom>
          <a:solidFill>
            <a:srgbClr val="D5F4E6"/>
          </a:solidFill>
          <a:ln w="12700">
            <a:solidFill>
              <a:srgbClr val="27AE60"/>
            </a:solidFill>
            <a:prstDash val="solid"/>
          </a:ln>
        </p:spPr>
      </p:sp>
      <p:sp>
        <p:nvSpPr>
          <p:cNvPr id="8" name="Text 6"/>
          <p:cNvSpPr/>
          <p:nvPr/>
        </p:nvSpPr>
        <p:spPr>
          <a:xfrm>
            <a:off x="4846320" y="3264408"/>
            <a:ext cx="3840480" cy="329184"/>
          </a:xfrm>
          <a:prstGeom prst="rect">
            <a:avLst/>
          </a:prstGeom>
          <a:noFill/>
          <a:ln/>
        </p:spPr>
        <p:txBody>
          <a:bodyPr wrap="square" rtlCol="0" anchor="ctr"/>
          <a:lstStyle/>
          <a:p>
            <a:pPr algn="l" indent="0" marL="0">
              <a:buNone/>
            </a:pPr>
            <a:r>
              <a:rPr lang="en-US" sz="1400" dirty="0">
                <a:solidFill>
                  <a:srgbClr val="000000"/>
                </a:solidFill>
              </a:rPr>
              <a:t>B. It is good to help others ✓</a:t>
            </a:r>
            <a:endParaRPr lang="en-US" sz="1400" dirty="0"/>
          </a:p>
        </p:txBody>
      </p:sp>
      <p:sp>
        <p:nvSpPr>
          <p:cNvPr id="9" name="Shape 7"/>
          <p:cNvSpPr/>
          <p:nvPr/>
        </p:nvSpPr>
        <p:spPr>
          <a:xfrm>
            <a:off x="365760" y="3749040"/>
            <a:ext cx="4023360" cy="365760"/>
          </a:xfrm>
          <a:prstGeom prst="rect">
            <a:avLst>
              <a:gd name="adj" fmla="val 25000"/>
            </a:avLst>
          </a:prstGeom>
          <a:solidFill>
            <a:srgbClr val="A8C5DD"/>
          </a:solidFill>
          <a:ln w="12700">
            <a:solidFill>
              <a:srgbClr val="000000"/>
            </a:solidFill>
            <a:prstDash val="solid"/>
          </a:ln>
        </p:spPr>
      </p:sp>
      <p:sp>
        <p:nvSpPr>
          <p:cNvPr id="10" name="Text 8"/>
          <p:cNvSpPr/>
          <p:nvPr/>
        </p:nvSpPr>
        <p:spPr>
          <a:xfrm>
            <a:off x="457200" y="3767328"/>
            <a:ext cx="3840480" cy="329184"/>
          </a:xfrm>
          <a:prstGeom prst="rect">
            <a:avLst/>
          </a:prstGeom>
          <a:noFill/>
          <a:ln/>
        </p:spPr>
        <p:txBody>
          <a:bodyPr wrap="square" rtlCol="0" anchor="ctr"/>
          <a:lstStyle/>
          <a:p>
            <a:pPr algn="l" indent="0" marL="0">
              <a:buNone/>
            </a:pPr>
            <a:r>
              <a:rPr lang="en-US" sz="1400" dirty="0">
                <a:solidFill>
                  <a:srgbClr val="000000"/>
                </a:solidFill>
              </a:rPr>
              <a:t>C. Working is hard</a:t>
            </a:r>
            <a:endParaRPr lang="en-US" sz="1400" dirty="0"/>
          </a:p>
        </p:txBody>
      </p:sp>
      <p:sp>
        <p:nvSpPr>
          <p:cNvPr id="11" name="Shape 9"/>
          <p:cNvSpPr/>
          <p:nvPr/>
        </p:nvSpPr>
        <p:spPr>
          <a:xfrm>
            <a:off x="4754880" y="3749040"/>
            <a:ext cx="4023360" cy="365760"/>
          </a:xfrm>
          <a:prstGeom prst="rect">
            <a:avLst>
              <a:gd name="adj" fmla="val 25000"/>
            </a:avLst>
          </a:prstGeom>
          <a:solidFill>
            <a:srgbClr val="A8C5DD"/>
          </a:solidFill>
          <a:ln w="12700">
            <a:solidFill>
              <a:srgbClr val="000000"/>
            </a:solidFill>
            <a:prstDash val="solid"/>
          </a:ln>
        </p:spPr>
      </p:sp>
      <p:sp>
        <p:nvSpPr>
          <p:cNvPr id="12" name="Text 10"/>
          <p:cNvSpPr/>
          <p:nvPr/>
        </p:nvSpPr>
        <p:spPr>
          <a:xfrm>
            <a:off x="4846320" y="3767328"/>
            <a:ext cx="3840480" cy="329184"/>
          </a:xfrm>
          <a:prstGeom prst="rect">
            <a:avLst/>
          </a:prstGeom>
          <a:noFill/>
          <a:ln/>
        </p:spPr>
        <p:txBody>
          <a:bodyPr wrap="square" rtlCol="0" anchor="ctr"/>
          <a:lstStyle/>
          <a:p>
            <a:pPr algn="l" indent="0" marL="0">
              <a:buNone/>
            </a:pPr>
            <a:r>
              <a:rPr lang="en-US" sz="1400" dirty="0">
                <a:solidFill>
                  <a:srgbClr val="000000"/>
                </a:solidFill>
              </a:rPr>
              <a:t>D. Robots cannot help people</a:t>
            </a:r>
            <a:endParaRPr lang="en-US" sz="1400" dirty="0"/>
          </a:p>
        </p:txBody>
      </p:sp>
      <p:sp>
        <p:nvSpPr>
          <p:cNvPr id="13" name="Text 11"/>
          <p:cNvSpPr/>
          <p:nvPr/>
        </p:nvSpPr>
        <p:spPr>
          <a:xfrm>
            <a:off x="365760" y="4160520"/>
            <a:ext cx="8412480" cy="320040"/>
          </a:xfrm>
          <a:prstGeom prst="rect">
            <a:avLst/>
          </a:prstGeom>
          <a:noFill/>
          <a:ln/>
        </p:spPr>
        <p:txBody>
          <a:bodyPr wrap="square" rtlCol="0" anchor="ctr"/>
          <a:lstStyle/>
          <a:p>
            <a:pPr indent="0" marL="0">
              <a:buNone/>
            </a:pPr>
            <a:r>
              <a:rPr lang="en-US" sz="1400" b="1" dirty="0">
                <a:solidFill>
                  <a:srgbClr val="27AE60"/>
                </a:solidFill>
              </a:rPr>
              <a:t>Correct!</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12 of 20</a:t>
            </a:r>
            <a:endParaRPr lang="en-US" sz="1300" dirty="0"/>
          </a:p>
        </p:txBody>
      </p:sp>
      <p:sp>
        <p:nvSpPr>
          <p:cNvPr id="3" name="Text 1"/>
          <p:cNvSpPr/>
          <p:nvPr/>
        </p:nvSpPr>
        <p:spPr>
          <a:xfrm>
            <a:off x="365760" y="777240"/>
            <a:ext cx="8412480" cy="1645920"/>
          </a:xfrm>
          <a:prstGeom prst="rect">
            <a:avLst/>
          </a:prstGeom>
          <a:solidFill>
            <a:srgbClr val="5A3D6A"/>
          </a:solidFill>
          <a:ln/>
        </p:spPr>
        <p:txBody>
          <a:bodyPr wrap="square" lIns="101600" tIns="101600" rIns="101600" bIns="101600" rtlCol="0" anchor="ctr"/>
          <a:lstStyle/>
          <a:p>
            <a:pPr indent="0" marL="0">
              <a:buNone/>
            </a:pPr>
            <a:r>
              <a:rPr lang="en-US" sz="1300" dirty="0">
                <a:solidFill>
                  <a:srgbClr val="FFFFFF"/>
                </a:solidFill>
              </a:rPr>
              <a:t>A farm is a place where animals live and people take care of them. There are many different animals on a farm.</a:t>
            </a:r>
            <a:endParaRPr lang="en-US" sz="1300" dirty="0"/>
          </a:p>
          <a:p>
            <a:pPr indent="0" marL="0">
              <a:buNone/>
            </a:pPr>
            <a:endParaRPr lang="en-US" sz="1300" dirty="0"/>
          </a:p>
          <a:p>
            <a:pPr indent="0" marL="0">
              <a:buNone/>
            </a:pPr>
            <a:r>
              <a:rPr lang="en-US" sz="1300" dirty="0">
                <a:solidFill>
                  <a:srgbClr val="FFFFFF"/>
                </a:solidFill>
              </a:rPr>
              <a:t>Cows give us milk to drink. Chickens lay eggs that we eat. Pigs are big and love to play in the mud. Sheep give us wool to make clothes and blankets.</a:t>
            </a:r>
            <a:endParaRPr lang="en-US" sz="1300" dirty="0"/>
          </a:p>
          <a:p>
            <a:pPr indent="0" marL="0">
              <a:buNone/>
            </a:pPr>
            <a:endParaRPr lang="en-US" sz="1300" dirty="0"/>
          </a:p>
          <a:p>
            <a:pPr indent="0" marL="0">
              <a:buNone/>
            </a:pPr>
            <a:r>
              <a:rPr lang="en-US" sz="1300" dirty="0">
                <a:solidFill>
                  <a:srgbClr val="FFFFFF"/>
                </a:solidFill>
              </a:rPr>
              <a:t>Horses are strong animals. Farmers use them to help with work on the farm. Goats are small and like to jump and climb. Ducks and geese swim in the farm pond.</a:t>
            </a:r>
            <a:endParaRPr lang="en-US" sz="1300" dirty="0"/>
          </a:p>
          <a:p>
            <a:pPr indent="0" marL="0">
              <a:buNone/>
            </a:pPr>
            <a:endParaRPr lang="en-US" sz="1300" dirty="0"/>
          </a:p>
          <a:p>
            <a:pPr indent="0" marL="0">
              <a:buNone/>
            </a:pPr>
            <a:r>
              <a:rPr lang="en-US" sz="1300" dirty="0">
                <a:solidFill>
                  <a:srgbClr val="FFFFFF"/>
                </a:solidFill>
              </a:rPr>
              <a:t>All these animals need food, water, and a safe place to sleep. Farmers work hard every day to take care of their animals. The animals help farmers, and farmers help the animals. Everyone on a farm needs each other.</a:t>
            </a:r>
            <a:endParaRPr lang="en-US" sz="1300" dirty="0"/>
          </a:p>
        </p:txBody>
      </p:sp>
      <p:sp>
        <p:nvSpPr>
          <p:cNvPr id="4" name="Text 2"/>
          <p:cNvSpPr/>
          <p:nvPr/>
        </p:nvSpPr>
        <p:spPr>
          <a:xfrm>
            <a:off x="365760" y="2606040"/>
            <a:ext cx="8412480" cy="457200"/>
          </a:xfrm>
          <a:prstGeom prst="rect">
            <a:avLst/>
          </a:prstGeom>
          <a:noFill/>
          <a:ln/>
        </p:spPr>
        <p:txBody>
          <a:bodyPr wrap="square" rtlCol="0" anchor="ctr"/>
          <a:lstStyle/>
          <a:p>
            <a:pPr indent="0" marL="0">
              <a:buNone/>
            </a:pPr>
            <a:r>
              <a:rPr lang="en-US" sz="1600" b="1" dirty="0">
                <a:solidFill>
                  <a:srgbClr val="FFFFFF"/>
                </a:solidFill>
              </a:rPr>
              <a:t>What is this passage mostly about?</a:t>
            </a:r>
            <a:endParaRPr lang="en-US" sz="1600" dirty="0"/>
          </a:p>
        </p:txBody>
      </p:sp>
      <p:sp>
        <p:nvSpPr>
          <p:cNvPr id="5" name="Shape 3"/>
          <p:cNvSpPr/>
          <p:nvPr/>
        </p:nvSpPr>
        <p:spPr>
          <a:xfrm>
            <a:off x="365760" y="3246120"/>
            <a:ext cx="4023360" cy="365760"/>
          </a:xfrm>
          <a:prstGeom prst="rect">
            <a:avLst>
              <a:gd name="adj" fmla="val 25000"/>
            </a:avLst>
          </a:prstGeom>
          <a:solidFill>
            <a:srgbClr val="A8C5DD"/>
          </a:solidFill>
          <a:ln w="12700">
            <a:solidFill>
              <a:srgbClr val="000000"/>
            </a:solidFill>
            <a:prstDash val="solid"/>
          </a:ln>
        </p:spPr>
      </p:sp>
      <p:sp>
        <p:nvSpPr>
          <p:cNvPr id="6" name="Text 4"/>
          <p:cNvSpPr/>
          <p:nvPr/>
        </p:nvSpPr>
        <p:spPr>
          <a:xfrm>
            <a:off x="457200" y="3264408"/>
            <a:ext cx="3840480" cy="329184"/>
          </a:xfrm>
          <a:prstGeom prst="rect">
            <a:avLst/>
          </a:prstGeom>
          <a:noFill/>
          <a:ln/>
        </p:spPr>
        <p:txBody>
          <a:bodyPr wrap="square" rtlCol="0" anchor="ctr"/>
          <a:lstStyle/>
          <a:p>
            <a:pPr algn="l" indent="0" marL="0">
              <a:buNone/>
            </a:pPr>
            <a:r>
              <a:rPr lang="en-US" sz="1400" dirty="0">
                <a:solidFill>
                  <a:srgbClr val="000000"/>
                </a:solidFill>
              </a:rPr>
              <a:t>A. How to grow vegetables</a:t>
            </a:r>
            <a:endParaRPr lang="en-US" sz="1400" dirty="0"/>
          </a:p>
        </p:txBody>
      </p:sp>
      <p:sp>
        <p:nvSpPr>
          <p:cNvPr id="7" name="Shape 5"/>
          <p:cNvSpPr/>
          <p:nvPr/>
        </p:nvSpPr>
        <p:spPr>
          <a:xfrm>
            <a:off x="4754880" y="3246120"/>
            <a:ext cx="4023360" cy="365760"/>
          </a:xfrm>
          <a:prstGeom prst="rect">
            <a:avLst>
              <a:gd name="adj" fmla="val 25000"/>
            </a:avLst>
          </a:prstGeom>
          <a:solidFill>
            <a:srgbClr val="A8C5DD"/>
          </a:solidFill>
          <a:ln w="12700">
            <a:solidFill>
              <a:srgbClr val="000000"/>
            </a:solidFill>
            <a:prstDash val="solid"/>
          </a:ln>
        </p:spPr>
      </p:sp>
      <p:sp>
        <p:nvSpPr>
          <p:cNvPr id="8" name="Text 6"/>
          <p:cNvSpPr/>
          <p:nvPr/>
        </p:nvSpPr>
        <p:spPr>
          <a:xfrm>
            <a:off x="4846320" y="3264408"/>
            <a:ext cx="3840480" cy="329184"/>
          </a:xfrm>
          <a:prstGeom prst="rect">
            <a:avLst/>
          </a:prstGeom>
          <a:noFill/>
          <a:ln/>
        </p:spPr>
        <p:txBody>
          <a:bodyPr wrap="square" rtlCol="0" anchor="ctr"/>
          <a:lstStyle/>
          <a:p>
            <a:pPr algn="l" indent="0" marL="0">
              <a:buNone/>
            </a:pPr>
            <a:r>
              <a:rPr lang="en-US" sz="1400" dirty="0">
                <a:solidFill>
                  <a:srgbClr val="000000"/>
                </a:solidFill>
              </a:rPr>
              <a:t>B. Different animals that live on a farm</a:t>
            </a:r>
            <a:endParaRPr lang="en-US" sz="1400" dirty="0"/>
          </a:p>
        </p:txBody>
      </p:sp>
      <p:sp>
        <p:nvSpPr>
          <p:cNvPr id="9" name="Shape 7"/>
          <p:cNvSpPr/>
          <p:nvPr/>
        </p:nvSpPr>
        <p:spPr>
          <a:xfrm>
            <a:off x="365760" y="3749040"/>
            <a:ext cx="4023360" cy="365760"/>
          </a:xfrm>
          <a:prstGeom prst="rect">
            <a:avLst>
              <a:gd name="adj" fmla="val 25000"/>
            </a:avLst>
          </a:prstGeom>
          <a:solidFill>
            <a:srgbClr val="A8C5DD"/>
          </a:solidFill>
          <a:ln w="12700">
            <a:solidFill>
              <a:srgbClr val="000000"/>
            </a:solidFill>
            <a:prstDash val="solid"/>
          </a:ln>
        </p:spPr>
      </p:sp>
      <p:sp>
        <p:nvSpPr>
          <p:cNvPr id="10" name="Text 8"/>
          <p:cNvSpPr/>
          <p:nvPr/>
        </p:nvSpPr>
        <p:spPr>
          <a:xfrm>
            <a:off x="457200" y="3767328"/>
            <a:ext cx="3840480" cy="329184"/>
          </a:xfrm>
          <a:prstGeom prst="rect">
            <a:avLst/>
          </a:prstGeom>
          <a:noFill/>
          <a:ln/>
        </p:spPr>
        <p:txBody>
          <a:bodyPr wrap="square" rtlCol="0" anchor="ctr"/>
          <a:lstStyle/>
          <a:p>
            <a:pPr algn="l" indent="0" marL="0">
              <a:buNone/>
            </a:pPr>
            <a:r>
              <a:rPr lang="en-US" sz="1400" dirty="0">
                <a:solidFill>
                  <a:srgbClr val="000000"/>
                </a:solidFill>
              </a:rPr>
              <a:t>C. How to feed pets</a:t>
            </a:r>
            <a:endParaRPr lang="en-US" sz="1400" dirty="0"/>
          </a:p>
        </p:txBody>
      </p:sp>
      <p:sp>
        <p:nvSpPr>
          <p:cNvPr id="11" name="Shape 9"/>
          <p:cNvSpPr/>
          <p:nvPr/>
        </p:nvSpPr>
        <p:spPr>
          <a:xfrm>
            <a:off x="4754880" y="3749040"/>
            <a:ext cx="4023360" cy="365760"/>
          </a:xfrm>
          <a:prstGeom prst="rect">
            <a:avLst>
              <a:gd name="adj" fmla="val 25000"/>
            </a:avLst>
          </a:prstGeom>
          <a:solidFill>
            <a:srgbClr val="A8C5DD"/>
          </a:solidFill>
          <a:ln w="12700">
            <a:solidFill>
              <a:srgbClr val="000000"/>
            </a:solidFill>
            <a:prstDash val="solid"/>
          </a:ln>
        </p:spPr>
      </p:sp>
      <p:sp>
        <p:nvSpPr>
          <p:cNvPr id="12" name="Text 10"/>
          <p:cNvSpPr/>
          <p:nvPr/>
        </p:nvSpPr>
        <p:spPr>
          <a:xfrm>
            <a:off x="4846320" y="3767328"/>
            <a:ext cx="3840480" cy="329184"/>
          </a:xfrm>
          <a:prstGeom prst="rect">
            <a:avLst/>
          </a:prstGeom>
          <a:noFill/>
          <a:ln/>
        </p:spPr>
        <p:txBody>
          <a:bodyPr wrap="square" rtlCol="0" anchor="ctr"/>
          <a:lstStyle/>
          <a:p>
            <a:pPr algn="l" indent="0" marL="0">
              <a:buNone/>
            </a:pPr>
            <a:r>
              <a:rPr lang="en-US" sz="1400" dirty="0">
                <a:solidFill>
                  <a:srgbClr val="000000"/>
                </a:solidFill>
              </a:rPr>
              <a:t>D. Barns and farm buildings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12 - Answer</a:t>
            </a:r>
            <a:endParaRPr lang="en-US" sz="1300" dirty="0"/>
          </a:p>
        </p:txBody>
      </p:sp>
      <p:sp>
        <p:nvSpPr>
          <p:cNvPr id="3" name="Text 1"/>
          <p:cNvSpPr/>
          <p:nvPr/>
        </p:nvSpPr>
        <p:spPr>
          <a:xfrm>
            <a:off x="365760" y="777240"/>
            <a:ext cx="8412480" cy="1645920"/>
          </a:xfrm>
          <a:prstGeom prst="rect">
            <a:avLst/>
          </a:prstGeom>
          <a:solidFill>
            <a:srgbClr val="5A3D6A"/>
          </a:solidFill>
          <a:ln/>
        </p:spPr>
        <p:txBody>
          <a:bodyPr wrap="square" lIns="101600" tIns="101600" rIns="101600" bIns="101600" rtlCol="0" anchor="ctr"/>
          <a:lstStyle/>
          <a:p>
            <a:pPr indent="0" marL="0">
              <a:buNone/>
            </a:pPr>
            <a:r>
              <a:rPr lang="en-US" sz="1300" dirty="0">
                <a:solidFill>
                  <a:srgbClr val="FFFFFF"/>
                </a:solidFill>
              </a:rPr>
              <a:t>A farm is a place where animals live and people take care of them. There are many different animals on a farm.</a:t>
            </a:r>
            <a:endParaRPr lang="en-US" sz="1300" dirty="0"/>
          </a:p>
          <a:p>
            <a:pPr indent="0" marL="0">
              <a:buNone/>
            </a:pPr>
            <a:endParaRPr lang="en-US" sz="1300" dirty="0"/>
          </a:p>
          <a:p>
            <a:pPr indent="0" marL="0">
              <a:buNone/>
            </a:pPr>
            <a:r>
              <a:rPr lang="en-US" sz="1300" dirty="0">
                <a:solidFill>
                  <a:srgbClr val="FFFFFF"/>
                </a:solidFill>
              </a:rPr>
              <a:t>Cows give us milk to drink. Chickens lay eggs that we eat. Pigs are big and love to play in the mud. Sheep give us wool to make clothes and blankets.</a:t>
            </a:r>
            <a:endParaRPr lang="en-US" sz="1300" dirty="0"/>
          </a:p>
          <a:p>
            <a:pPr indent="0" marL="0">
              <a:buNone/>
            </a:pPr>
            <a:endParaRPr lang="en-US" sz="1300" dirty="0"/>
          </a:p>
          <a:p>
            <a:pPr indent="0" marL="0">
              <a:buNone/>
            </a:pPr>
            <a:r>
              <a:rPr lang="en-US" sz="1300" dirty="0">
                <a:solidFill>
                  <a:srgbClr val="FFFFFF"/>
                </a:solidFill>
              </a:rPr>
              <a:t>Horses are strong animals. Farmers use them to help with work on the farm. Goats are small and like to jump and climb. Ducks and geese swim in the farm pond.</a:t>
            </a:r>
            <a:endParaRPr lang="en-US" sz="1300" dirty="0"/>
          </a:p>
          <a:p>
            <a:pPr indent="0" marL="0">
              <a:buNone/>
            </a:pPr>
            <a:endParaRPr lang="en-US" sz="1300" dirty="0"/>
          </a:p>
          <a:p>
            <a:pPr indent="0" marL="0">
              <a:buNone/>
            </a:pPr>
            <a:r>
              <a:rPr lang="en-US" sz="1300" dirty="0">
                <a:solidFill>
                  <a:srgbClr val="FFFFFF"/>
                </a:solidFill>
              </a:rPr>
              <a:t>All these animals need food, water, and a safe place to sleep. Farmers work hard every day to take care of their animals. The animals help farmers, and farmers help the animals. Everyone on a farm needs each other.</a:t>
            </a:r>
            <a:endParaRPr lang="en-US" sz="1300" dirty="0"/>
          </a:p>
        </p:txBody>
      </p:sp>
      <p:sp>
        <p:nvSpPr>
          <p:cNvPr id="4" name="Text 2"/>
          <p:cNvSpPr/>
          <p:nvPr/>
        </p:nvSpPr>
        <p:spPr>
          <a:xfrm>
            <a:off x="365760" y="2606040"/>
            <a:ext cx="8412480" cy="457200"/>
          </a:xfrm>
          <a:prstGeom prst="rect">
            <a:avLst/>
          </a:prstGeom>
          <a:noFill/>
          <a:ln/>
        </p:spPr>
        <p:txBody>
          <a:bodyPr wrap="square" rtlCol="0" anchor="ctr"/>
          <a:lstStyle/>
          <a:p>
            <a:pPr indent="0" marL="0">
              <a:buNone/>
            </a:pPr>
            <a:r>
              <a:rPr lang="en-US" sz="1600" b="1" dirty="0">
                <a:solidFill>
                  <a:srgbClr val="FFFFFF"/>
                </a:solidFill>
              </a:rPr>
              <a:t>What is this passage mostly about?</a:t>
            </a:r>
            <a:endParaRPr lang="en-US" sz="1600" dirty="0"/>
          </a:p>
        </p:txBody>
      </p:sp>
      <p:sp>
        <p:nvSpPr>
          <p:cNvPr id="5" name="Shape 3"/>
          <p:cNvSpPr/>
          <p:nvPr/>
        </p:nvSpPr>
        <p:spPr>
          <a:xfrm>
            <a:off x="365760" y="3246120"/>
            <a:ext cx="4023360" cy="365760"/>
          </a:xfrm>
          <a:prstGeom prst="rect">
            <a:avLst>
              <a:gd name="adj" fmla="val 25000"/>
            </a:avLst>
          </a:prstGeom>
          <a:solidFill>
            <a:srgbClr val="A8C5DD"/>
          </a:solidFill>
          <a:ln w="12700">
            <a:solidFill>
              <a:srgbClr val="000000"/>
            </a:solidFill>
            <a:prstDash val="solid"/>
          </a:ln>
        </p:spPr>
      </p:sp>
      <p:sp>
        <p:nvSpPr>
          <p:cNvPr id="6" name="Text 4"/>
          <p:cNvSpPr/>
          <p:nvPr/>
        </p:nvSpPr>
        <p:spPr>
          <a:xfrm>
            <a:off x="457200" y="3264408"/>
            <a:ext cx="3840480" cy="329184"/>
          </a:xfrm>
          <a:prstGeom prst="rect">
            <a:avLst/>
          </a:prstGeom>
          <a:noFill/>
          <a:ln/>
        </p:spPr>
        <p:txBody>
          <a:bodyPr wrap="square" rtlCol="0" anchor="ctr"/>
          <a:lstStyle/>
          <a:p>
            <a:pPr algn="l" indent="0" marL="0">
              <a:buNone/>
            </a:pPr>
            <a:r>
              <a:rPr lang="en-US" sz="1400" dirty="0">
                <a:solidFill>
                  <a:srgbClr val="000000"/>
                </a:solidFill>
              </a:rPr>
              <a:t>A. How to grow vegetables</a:t>
            </a:r>
            <a:endParaRPr lang="en-US" sz="1400" dirty="0"/>
          </a:p>
        </p:txBody>
      </p:sp>
      <p:sp>
        <p:nvSpPr>
          <p:cNvPr id="7" name="Shape 5"/>
          <p:cNvSpPr/>
          <p:nvPr/>
        </p:nvSpPr>
        <p:spPr>
          <a:xfrm>
            <a:off x="4754880" y="3246120"/>
            <a:ext cx="4023360" cy="365760"/>
          </a:xfrm>
          <a:prstGeom prst="rect">
            <a:avLst>
              <a:gd name="adj" fmla="val 25000"/>
            </a:avLst>
          </a:prstGeom>
          <a:solidFill>
            <a:srgbClr val="D5F4E6"/>
          </a:solidFill>
          <a:ln w="12700">
            <a:solidFill>
              <a:srgbClr val="27AE60"/>
            </a:solidFill>
            <a:prstDash val="solid"/>
          </a:ln>
        </p:spPr>
      </p:sp>
      <p:sp>
        <p:nvSpPr>
          <p:cNvPr id="8" name="Text 6"/>
          <p:cNvSpPr/>
          <p:nvPr/>
        </p:nvSpPr>
        <p:spPr>
          <a:xfrm>
            <a:off x="4846320" y="3264408"/>
            <a:ext cx="3840480" cy="329184"/>
          </a:xfrm>
          <a:prstGeom prst="rect">
            <a:avLst/>
          </a:prstGeom>
          <a:noFill/>
          <a:ln/>
        </p:spPr>
        <p:txBody>
          <a:bodyPr wrap="square" rtlCol="0" anchor="ctr"/>
          <a:lstStyle/>
          <a:p>
            <a:pPr algn="l" indent="0" marL="0">
              <a:buNone/>
            </a:pPr>
            <a:r>
              <a:rPr lang="en-US" sz="1400" dirty="0">
                <a:solidFill>
                  <a:srgbClr val="000000"/>
                </a:solidFill>
              </a:rPr>
              <a:t>B. Different animals that live on a farm ✓</a:t>
            </a:r>
            <a:endParaRPr lang="en-US" sz="1400" dirty="0"/>
          </a:p>
        </p:txBody>
      </p:sp>
      <p:sp>
        <p:nvSpPr>
          <p:cNvPr id="9" name="Shape 7"/>
          <p:cNvSpPr/>
          <p:nvPr/>
        </p:nvSpPr>
        <p:spPr>
          <a:xfrm>
            <a:off x="365760" y="3749040"/>
            <a:ext cx="4023360" cy="365760"/>
          </a:xfrm>
          <a:prstGeom prst="rect">
            <a:avLst>
              <a:gd name="adj" fmla="val 25000"/>
            </a:avLst>
          </a:prstGeom>
          <a:solidFill>
            <a:srgbClr val="A8C5DD"/>
          </a:solidFill>
          <a:ln w="12700">
            <a:solidFill>
              <a:srgbClr val="000000"/>
            </a:solidFill>
            <a:prstDash val="solid"/>
          </a:ln>
        </p:spPr>
      </p:sp>
      <p:sp>
        <p:nvSpPr>
          <p:cNvPr id="10" name="Text 8"/>
          <p:cNvSpPr/>
          <p:nvPr/>
        </p:nvSpPr>
        <p:spPr>
          <a:xfrm>
            <a:off x="457200" y="3767328"/>
            <a:ext cx="3840480" cy="329184"/>
          </a:xfrm>
          <a:prstGeom prst="rect">
            <a:avLst/>
          </a:prstGeom>
          <a:noFill/>
          <a:ln/>
        </p:spPr>
        <p:txBody>
          <a:bodyPr wrap="square" rtlCol="0" anchor="ctr"/>
          <a:lstStyle/>
          <a:p>
            <a:pPr algn="l" indent="0" marL="0">
              <a:buNone/>
            </a:pPr>
            <a:r>
              <a:rPr lang="en-US" sz="1400" dirty="0">
                <a:solidFill>
                  <a:srgbClr val="000000"/>
                </a:solidFill>
              </a:rPr>
              <a:t>C. How to feed pets</a:t>
            </a:r>
            <a:endParaRPr lang="en-US" sz="1400" dirty="0"/>
          </a:p>
        </p:txBody>
      </p:sp>
      <p:sp>
        <p:nvSpPr>
          <p:cNvPr id="11" name="Shape 9"/>
          <p:cNvSpPr/>
          <p:nvPr/>
        </p:nvSpPr>
        <p:spPr>
          <a:xfrm>
            <a:off x="4754880" y="3749040"/>
            <a:ext cx="4023360" cy="365760"/>
          </a:xfrm>
          <a:prstGeom prst="rect">
            <a:avLst>
              <a:gd name="adj" fmla="val 25000"/>
            </a:avLst>
          </a:prstGeom>
          <a:solidFill>
            <a:srgbClr val="A8C5DD"/>
          </a:solidFill>
          <a:ln w="12700">
            <a:solidFill>
              <a:srgbClr val="000000"/>
            </a:solidFill>
            <a:prstDash val="solid"/>
          </a:ln>
        </p:spPr>
      </p:sp>
      <p:sp>
        <p:nvSpPr>
          <p:cNvPr id="12" name="Text 10"/>
          <p:cNvSpPr/>
          <p:nvPr/>
        </p:nvSpPr>
        <p:spPr>
          <a:xfrm>
            <a:off x="4846320" y="3767328"/>
            <a:ext cx="3840480" cy="329184"/>
          </a:xfrm>
          <a:prstGeom prst="rect">
            <a:avLst/>
          </a:prstGeom>
          <a:noFill/>
          <a:ln/>
        </p:spPr>
        <p:txBody>
          <a:bodyPr wrap="square" rtlCol="0" anchor="ctr"/>
          <a:lstStyle/>
          <a:p>
            <a:pPr algn="l" indent="0" marL="0">
              <a:buNone/>
            </a:pPr>
            <a:r>
              <a:rPr lang="en-US" sz="1400" dirty="0">
                <a:solidFill>
                  <a:srgbClr val="000000"/>
                </a:solidFill>
              </a:rPr>
              <a:t>D. Barns and farm buildings</a:t>
            </a:r>
            <a:endParaRPr lang="en-US" sz="1400" dirty="0"/>
          </a:p>
        </p:txBody>
      </p:sp>
      <p:sp>
        <p:nvSpPr>
          <p:cNvPr id="13" name="Text 11"/>
          <p:cNvSpPr/>
          <p:nvPr/>
        </p:nvSpPr>
        <p:spPr>
          <a:xfrm>
            <a:off x="365760" y="4160520"/>
            <a:ext cx="8412480" cy="320040"/>
          </a:xfrm>
          <a:prstGeom prst="rect">
            <a:avLst/>
          </a:prstGeom>
          <a:noFill/>
          <a:ln/>
        </p:spPr>
        <p:txBody>
          <a:bodyPr wrap="square" rtlCol="0" anchor="ctr"/>
          <a:lstStyle/>
          <a:p>
            <a:pPr indent="0" marL="0">
              <a:buNone/>
            </a:pPr>
            <a:r>
              <a:rPr lang="en-US" sz="1400" b="1" dirty="0">
                <a:solidFill>
                  <a:srgbClr val="27AE60"/>
                </a:solidFill>
              </a:rPr>
              <a:t>Correct!</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13 of 20</a:t>
            </a:r>
            <a:endParaRPr lang="en-US" sz="1300" dirty="0"/>
          </a:p>
        </p:txBody>
      </p:sp>
      <p:sp>
        <p:nvSpPr>
          <p:cNvPr id="3" name="Text 1"/>
          <p:cNvSpPr/>
          <p:nvPr/>
        </p:nvSpPr>
        <p:spPr>
          <a:xfrm>
            <a:off x="365760" y="777240"/>
            <a:ext cx="8412480" cy="1645920"/>
          </a:xfrm>
          <a:prstGeom prst="rect">
            <a:avLst/>
          </a:prstGeom>
          <a:solidFill>
            <a:srgbClr val="5A3D6A"/>
          </a:solidFill>
          <a:ln/>
        </p:spPr>
        <p:txBody>
          <a:bodyPr wrap="square" lIns="101600" tIns="101600" rIns="101600" bIns="101600" rtlCol="0" anchor="ctr"/>
          <a:lstStyle/>
          <a:p>
            <a:pPr indent="0" marL="0">
              <a:buNone/>
            </a:pPr>
            <a:r>
              <a:rPr lang="en-US" sz="1300" dirty="0">
                <a:solidFill>
                  <a:srgbClr val="FFFFFF"/>
                </a:solidFill>
              </a:rPr>
              <a:t>A farm is a place where animals live and people take care of them. There are many different animals on a farm.</a:t>
            </a:r>
            <a:endParaRPr lang="en-US" sz="1300" dirty="0"/>
          </a:p>
          <a:p>
            <a:pPr indent="0" marL="0">
              <a:buNone/>
            </a:pPr>
            <a:endParaRPr lang="en-US" sz="1300" dirty="0"/>
          </a:p>
          <a:p>
            <a:pPr indent="0" marL="0">
              <a:buNone/>
            </a:pPr>
            <a:r>
              <a:rPr lang="en-US" sz="1300" dirty="0">
                <a:solidFill>
                  <a:srgbClr val="FFFFFF"/>
                </a:solidFill>
              </a:rPr>
              <a:t>Cows give us milk to drink. Chickens lay eggs that we eat. Pigs are big and love to play in the mud. Sheep give us wool to make clothes and blankets.</a:t>
            </a:r>
            <a:endParaRPr lang="en-US" sz="1300" dirty="0"/>
          </a:p>
          <a:p>
            <a:pPr indent="0" marL="0">
              <a:buNone/>
            </a:pPr>
            <a:endParaRPr lang="en-US" sz="1300" dirty="0"/>
          </a:p>
          <a:p>
            <a:pPr indent="0" marL="0">
              <a:buNone/>
            </a:pPr>
            <a:r>
              <a:rPr lang="en-US" sz="1300" dirty="0">
                <a:solidFill>
                  <a:srgbClr val="FFFFFF"/>
                </a:solidFill>
              </a:rPr>
              <a:t>Horses are strong animals. Farmers use them to help with work on the farm. Goats are small and like to jump and climb. Ducks and geese swim in the farm pond.</a:t>
            </a:r>
            <a:endParaRPr lang="en-US" sz="1300" dirty="0"/>
          </a:p>
          <a:p>
            <a:pPr indent="0" marL="0">
              <a:buNone/>
            </a:pPr>
            <a:endParaRPr lang="en-US" sz="1300" dirty="0"/>
          </a:p>
          <a:p>
            <a:pPr indent="0" marL="0">
              <a:buNone/>
            </a:pPr>
            <a:r>
              <a:rPr lang="en-US" sz="1300" dirty="0">
                <a:solidFill>
                  <a:srgbClr val="FFFFFF"/>
                </a:solidFill>
              </a:rPr>
              <a:t>All these animals need food, water, and a safe place to sleep. Farmers work hard every day to take care of their animals. The animals help farmers, and farmers help the animals. Everyone on a farm needs each other.</a:t>
            </a:r>
            <a:endParaRPr lang="en-US" sz="1300" dirty="0"/>
          </a:p>
        </p:txBody>
      </p:sp>
      <p:sp>
        <p:nvSpPr>
          <p:cNvPr id="4" name="Text 2"/>
          <p:cNvSpPr/>
          <p:nvPr/>
        </p:nvSpPr>
        <p:spPr>
          <a:xfrm>
            <a:off x="365760" y="2606040"/>
            <a:ext cx="8412480" cy="457200"/>
          </a:xfrm>
          <a:prstGeom prst="rect">
            <a:avLst/>
          </a:prstGeom>
          <a:noFill/>
          <a:ln/>
        </p:spPr>
        <p:txBody>
          <a:bodyPr wrap="square" rtlCol="0" anchor="ctr"/>
          <a:lstStyle/>
          <a:p>
            <a:pPr indent="0" marL="0">
              <a:buNone/>
            </a:pPr>
            <a:r>
              <a:rPr lang="en-US" sz="1600" b="1" dirty="0">
                <a:solidFill>
                  <a:srgbClr val="FFFFFF"/>
                </a:solidFill>
              </a:rPr>
              <a:t>What does "farm" mean in this passage?</a:t>
            </a:r>
            <a:endParaRPr lang="en-US" sz="1600" dirty="0"/>
          </a:p>
        </p:txBody>
      </p:sp>
      <p:sp>
        <p:nvSpPr>
          <p:cNvPr id="5" name="Shape 3"/>
          <p:cNvSpPr/>
          <p:nvPr/>
        </p:nvSpPr>
        <p:spPr>
          <a:xfrm>
            <a:off x="365760" y="3246120"/>
            <a:ext cx="4023360" cy="365760"/>
          </a:xfrm>
          <a:prstGeom prst="rect">
            <a:avLst>
              <a:gd name="adj" fmla="val 25000"/>
            </a:avLst>
          </a:prstGeom>
          <a:solidFill>
            <a:srgbClr val="A8C5DD"/>
          </a:solidFill>
          <a:ln w="12700">
            <a:solidFill>
              <a:srgbClr val="000000"/>
            </a:solidFill>
            <a:prstDash val="solid"/>
          </a:ln>
        </p:spPr>
      </p:sp>
      <p:sp>
        <p:nvSpPr>
          <p:cNvPr id="6" name="Text 4"/>
          <p:cNvSpPr/>
          <p:nvPr/>
        </p:nvSpPr>
        <p:spPr>
          <a:xfrm>
            <a:off x="457200" y="3264408"/>
            <a:ext cx="3840480" cy="329184"/>
          </a:xfrm>
          <a:prstGeom prst="rect">
            <a:avLst/>
          </a:prstGeom>
          <a:noFill/>
          <a:ln/>
        </p:spPr>
        <p:txBody>
          <a:bodyPr wrap="square" rtlCol="0" anchor="ctr"/>
          <a:lstStyle/>
          <a:p>
            <a:pPr algn="l" indent="0" marL="0">
              <a:buNone/>
            </a:pPr>
            <a:r>
              <a:rPr lang="en-US" sz="1400" dirty="0">
                <a:solidFill>
                  <a:srgbClr val="000000"/>
                </a:solidFill>
              </a:rPr>
              <a:t>A. A store where you buy food</a:t>
            </a:r>
            <a:endParaRPr lang="en-US" sz="1400" dirty="0"/>
          </a:p>
        </p:txBody>
      </p:sp>
      <p:sp>
        <p:nvSpPr>
          <p:cNvPr id="7" name="Shape 5"/>
          <p:cNvSpPr/>
          <p:nvPr/>
        </p:nvSpPr>
        <p:spPr>
          <a:xfrm>
            <a:off x="4754880" y="3246120"/>
            <a:ext cx="4023360" cy="365760"/>
          </a:xfrm>
          <a:prstGeom prst="rect">
            <a:avLst>
              <a:gd name="adj" fmla="val 25000"/>
            </a:avLst>
          </a:prstGeom>
          <a:solidFill>
            <a:srgbClr val="A8C5DD"/>
          </a:solidFill>
          <a:ln w="12700">
            <a:solidFill>
              <a:srgbClr val="000000"/>
            </a:solidFill>
            <a:prstDash val="solid"/>
          </a:ln>
        </p:spPr>
      </p:sp>
      <p:sp>
        <p:nvSpPr>
          <p:cNvPr id="8" name="Text 6"/>
          <p:cNvSpPr/>
          <p:nvPr/>
        </p:nvSpPr>
        <p:spPr>
          <a:xfrm>
            <a:off x="4846320" y="3264408"/>
            <a:ext cx="3840480" cy="329184"/>
          </a:xfrm>
          <a:prstGeom prst="rect">
            <a:avLst/>
          </a:prstGeom>
          <a:noFill/>
          <a:ln/>
        </p:spPr>
        <p:txBody>
          <a:bodyPr wrap="square" rtlCol="0" anchor="ctr"/>
          <a:lstStyle/>
          <a:p>
            <a:pPr algn="l" indent="0" marL="0">
              <a:buNone/>
            </a:pPr>
            <a:r>
              <a:rPr lang="en-US" sz="1400" dirty="0">
                <a:solidFill>
                  <a:srgbClr val="000000"/>
                </a:solidFill>
              </a:rPr>
              <a:t>B. A place where animals live and farmers grow food</a:t>
            </a:r>
            <a:endParaRPr lang="en-US" sz="1400" dirty="0"/>
          </a:p>
        </p:txBody>
      </p:sp>
      <p:sp>
        <p:nvSpPr>
          <p:cNvPr id="9" name="Shape 7"/>
          <p:cNvSpPr/>
          <p:nvPr/>
        </p:nvSpPr>
        <p:spPr>
          <a:xfrm>
            <a:off x="365760" y="3749040"/>
            <a:ext cx="4023360" cy="365760"/>
          </a:xfrm>
          <a:prstGeom prst="rect">
            <a:avLst>
              <a:gd name="adj" fmla="val 25000"/>
            </a:avLst>
          </a:prstGeom>
          <a:solidFill>
            <a:srgbClr val="A8C5DD"/>
          </a:solidFill>
          <a:ln w="12700">
            <a:solidFill>
              <a:srgbClr val="000000"/>
            </a:solidFill>
            <a:prstDash val="solid"/>
          </a:ln>
        </p:spPr>
      </p:sp>
      <p:sp>
        <p:nvSpPr>
          <p:cNvPr id="10" name="Text 8"/>
          <p:cNvSpPr/>
          <p:nvPr/>
        </p:nvSpPr>
        <p:spPr>
          <a:xfrm>
            <a:off x="457200" y="3767328"/>
            <a:ext cx="3840480" cy="329184"/>
          </a:xfrm>
          <a:prstGeom prst="rect">
            <a:avLst/>
          </a:prstGeom>
          <a:noFill/>
          <a:ln/>
        </p:spPr>
        <p:txBody>
          <a:bodyPr wrap="square" rtlCol="0" anchor="ctr"/>
          <a:lstStyle/>
          <a:p>
            <a:pPr algn="l" indent="0" marL="0">
              <a:buNone/>
            </a:pPr>
            <a:r>
              <a:rPr lang="en-US" sz="1400" dirty="0">
                <a:solidFill>
                  <a:srgbClr val="000000"/>
                </a:solidFill>
              </a:rPr>
              <a:t>C. A big house</a:t>
            </a:r>
            <a:endParaRPr lang="en-US" sz="1400" dirty="0"/>
          </a:p>
        </p:txBody>
      </p:sp>
      <p:sp>
        <p:nvSpPr>
          <p:cNvPr id="11" name="Shape 9"/>
          <p:cNvSpPr/>
          <p:nvPr/>
        </p:nvSpPr>
        <p:spPr>
          <a:xfrm>
            <a:off x="4754880" y="3749040"/>
            <a:ext cx="4023360" cy="365760"/>
          </a:xfrm>
          <a:prstGeom prst="rect">
            <a:avLst>
              <a:gd name="adj" fmla="val 25000"/>
            </a:avLst>
          </a:prstGeom>
          <a:solidFill>
            <a:srgbClr val="A8C5DD"/>
          </a:solidFill>
          <a:ln w="12700">
            <a:solidFill>
              <a:srgbClr val="000000"/>
            </a:solidFill>
            <a:prstDash val="solid"/>
          </a:ln>
        </p:spPr>
      </p:sp>
      <p:sp>
        <p:nvSpPr>
          <p:cNvPr id="12" name="Text 10"/>
          <p:cNvSpPr/>
          <p:nvPr/>
        </p:nvSpPr>
        <p:spPr>
          <a:xfrm>
            <a:off x="4846320" y="3767328"/>
            <a:ext cx="3840480" cy="329184"/>
          </a:xfrm>
          <a:prstGeom prst="rect">
            <a:avLst/>
          </a:prstGeom>
          <a:noFill/>
          <a:ln/>
        </p:spPr>
        <p:txBody>
          <a:bodyPr wrap="square" rtlCol="0" anchor="ctr"/>
          <a:lstStyle/>
          <a:p>
            <a:pPr algn="l" indent="0" marL="0">
              <a:buNone/>
            </a:pPr>
            <a:r>
              <a:rPr lang="en-US" sz="1400" dirty="0">
                <a:solidFill>
                  <a:srgbClr val="000000"/>
                </a:solidFill>
              </a:rPr>
              <a:t>D. A place where people work in an office</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13 - Answer</a:t>
            </a:r>
            <a:endParaRPr lang="en-US" sz="1300" dirty="0"/>
          </a:p>
        </p:txBody>
      </p:sp>
      <p:sp>
        <p:nvSpPr>
          <p:cNvPr id="3" name="Text 1"/>
          <p:cNvSpPr/>
          <p:nvPr/>
        </p:nvSpPr>
        <p:spPr>
          <a:xfrm>
            <a:off x="365760" y="777240"/>
            <a:ext cx="8412480" cy="1645920"/>
          </a:xfrm>
          <a:prstGeom prst="rect">
            <a:avLst/>
          </a:prstGeom>
          <a:solidFill>
            <a:srgbClr val="5A3D6A"/>
          </a:solidFill>
          <a:ln/>
        </p:spPr>
        <p:txBody>
          <a:bodyPr wrap="square" lIns="101600" tIns="101600" rIns="101600" bIns="101600" rtlCol="0" anchor="ctr"/>
          <a:lstStyle/>
          <a:p>
            <a:pPr indent="0" marL="0">
              <a:buNone/>
            </a:pPr>
            <a:r>
              <a:rPr lang="en-US" sz="1300" dirty="0">
                <a:solidFill>
                  <a:srgbClr val="FFFFFF"/>
                </a:solidFill>
              </a:rPr>
              <a:t>A farm is a place where animals live and people take care of them. There are many different animals on a farm.</a:t>
            </a:r>
            <a:endParaRPr lang="en-US" sz="1300" dirty="0"/>
          </a:p>
          <a:p>
            <a:pPr indent="0" marL="0">
              <a:buNone/>
            </a:pPr>
            <a:endParaRPr lang="en-US" sz="1300" dirty="0"/>
          </a:p>
          <a:p>
            <a:pPr indent="0" marL="0">
              <a:buNone/>
            </a:pPr>
            <a:r>
              <a:rPr lang="en-US" sz="1300" dirty="0">
                <a:solidFill>
                  <a:srgbClr val="FFFFFF"/>
                </a:solidFill>
              </a:rPr>
              <a:t>Cows give us milk to drink. Chickens lay eggs that we eat. Pigs are big and love to play in the mud. Sheep give us wool to make clothes and blankets.</a:t>
            </a:r>
            <a:endParaRPr lang="en-US" sz="1300" dirty="0"/>
          </a:p>
          <a:p>
            <a:pPr indent="0" marL="0">
              <a:buNone/>
            </a:pPr>
            <a:endParaRPr lang="en-US" sz="1300" dirty="0"/>
          </a:p>
          <a:p>
            <a:pPr indent="0" marL="0">
              <a:buNone/>
            </a:pPr>
            <a:r>
              <a:rPr lang="en-US" sz="1300" dirty="0">
                <a:solidFill>
                  <a:srgbClr val="FFFFFF"/>
                </a:solidFill>
              </a:rPr>
              <a:t>Horses are strong animals. Farmers use them to help with work on the farm. Goats are small and like to jump and climb. Ducks and geese swim in the farm pond.</a:t>
            </a:r>
            <a:endParaRPr lang="en-US" sz="1300" dirty="0"/>
          </a:p>
          <a:p>
            <a:pPr indent="0" marL="0">
              <a:buNone/>
            </a:pPr>
            <a:endParaRPr lang="en-US" sz="1300" dirty="0"/>
          </a:p>
          <a:p>
            <a:pPr indent="0" marL="0">
              <a:buNone/>
            </a:pPr>
            <a:r>
              <a:rPr lang="en-US" sz="1300" dirty="0">
                <a:solidFill>
                  <a:srgbClr val="FFFFFF"/>
                </a:solidFill>
              </a:rPr>
              <a:t>All these animals need food, water, and a safe place to sleep. Farmers work hard every day to take care of their animals. The animals help farmers, and farmers help the animals. Everyone on a farm needs each other.</a:t>
            </a:r>
            <a:endParaRPr lang="en-US" sz="1300" dirty="0"/>
          </a:p>
        </p:txBody>
      </p:sp>
      <p:sp>
        <p:nvSpPr>
          <p:cNvPr id="4" name="Text 2"/>
          <p:cNvSpPr/>
          <p:nvPr/>
        </p:nvSpPr>
        <p:spPr>
          <a:xfrm>
            <a:off x="365760" y="2606040"/>
            <a:ext cx="8412480" cy="457200"/>
          </a:xfrm>
          <a:prstGeom prst="rect">
            <a:avLst/>
          </a:prstGeom>
          <a:noFill/>
          <a:ln/>
        </p:spPr>
        <p:txBody>
          <a:bodyPr wrap="square" rtlCol="0" anchor="ctr"/>
          <a:lstStyle/>
          <a:p>
            <a:pPr indent="0" marL="0">
              <a:buNone/>
            </a:pPr>
            <a:r>
              <a:rPr lang="en-US" sz="1600" b="1" dirty="0">
                <a:solidFill>
                  <a:srgbClr val="FFFFFF"/>
                </a:solidFill>
              </a:rPr>
              <a:t>What does "farm" mean in this passage?</a:t>
            </a:r>
            <a:endParaRPr lang="en-US" sz="1600" dirty="0"/>
          </a:p>
        </p:txBody>
      </p:sp>
      <p:sp>
        <p:nvSpPr>
          <p:cNvPr id="5" name="Shape 3"/>
          <p:cNvSpPr/>
          <p:nvPr/>
        </p:nvSpPr>
        <p:spPr>
          <a:xfrm>
            <a:off x="365760" y="3246120"/>
            <a:ext cx="4023360" cy="365760"/>
          </a:xfrm>
          <a:prstGeom prst="rect">
            <a:avLst>
              <a:gd name="adj" fmla="val 25000"/>
            </a:avLst>
          </a:prstGeom>
          <a:solidFill>
            <a:srgbClr val="A8C5DD"/>
          </a:solidFill>
          <a:ln w="12700">
            <a:solidFill>
              <a:srgbClr val="000000"/>
            </a:solidFill>
            <a:prstDash val="solid"/>
          </a:ln>
        </p:spPr>
      </p:sp>
      <p:sp>
        <p:nvSpPr>
          <p:cNvPr id="6" name="Text 4"/>
          <p:cNvSpPr/>
          <p:nvPr/>
        </p:nvSpPr>
        <p:spPr>
          <a:xfrm>
            <a:off x="457200" y="3264408"/>
            <a:ext cx="3840480" cy="329184"/>
          </a:xfrm>
          <a:prstGeom prst="rect">
            <a:avLst/>
          </a:prstGeom>
          <a:noFill/>
          <a:ln/>
        </p:spPr>
        <p:txBody>
          <a:bodyPr wrap="square" rtlCol="0" anchor="ctr"/>
          <a:lstStyle/>
          <a:p>
            <a:pPr algn="l" indent="0" marL="0">
              <a:buNone/>
            </a:pPr>
            <a:r>
              <a:rPr lang="en-US" sz="1400" dirty="0">
                <a:solidFill>
                  <a:srgbClr val="000000"/>
                </a:solidFill>
              </a:rPr>
              <a:t>A. A store where you buy food</a:t>
            </a:r>
            <a:endParaRPr lang="en-US" sz="1400" dirty="0"/>
          </a:p>
        </p:txBody>
      </p:sp>
      <p:sp>
        <p:nvSpPr>
          <p:cNvPr id="7" name="Shape 5"/>
          <p:cNvSpPr/>
          <p:nvPr/>
        </p:nvSpPr>
        <p:spPr>
          <a:xfrm>
            <a:off x="4754880" y="3246120"/>
            <a:ext cx="4023360" cy="365760"/>
          </a:xfrm>
          <a:prstGeom prst="rect">
            <a:avLst>
              <a:gd name="adj" fmla="val 25000"/>
            </a:avLst>
          </a:prstGeom>
          <a:solidFill>
            <a:srgbClr val="D5F4E6"/>
          </a:solidFill>
          <a:ln w="12700">
            <a:solidFill>
              <a:srgbClr val="27AE60"/>
            </a:solidFill>
            <a:prstDash val="solid"/>
          </a:ln>
        </p:spPr>
      </p:sp>
      <p:sp>
        <p:nvSpPr>
          <p:cNvPr id="8" name="Text 6"/>
          <p:cNvSpPr/>
          <p:nvPr/>
        </p:nvSpPr>
        <p:spPr>
          <a:xfrm>
            <a:off x="4846320" y="3264408"/>
            <a:ext cx="3840480" cy="329184"/>
          </a:xfrm>
          <a:prstGeom prst="rect">
            <a:avLst/>
          </a:prstGeom>
          <a:noFill/>
          <a:ln/>
        </p:spPr>
        <p:txBody>
          <a:bodyPr wrap="square" rtlCol="0" anchor="ctr"/>
          <a:lstStyle/>
          <a:p>
            <a:pPr algn="l" indent="0" marL="0">
              <a:buNone/>
            </a:pPr>
            <a:r>
              <a:rPr lang="en-US" sz="1400" dirty="0">
                <a:solidFill>
                  <a:srgbClr val="000000"/>
                </a:solidFill>
              </a:rPr>
              <a:t>B. A place where animals live and farmers grow food ✓</a:t>
            </a:r>
            <a:endParaRPr lang="en-US" sz="1400" dirty="0"/>
          </a:p>
        </p:txBody>
      </p:sp>
      <p:sp>
        <p:nvSpPr>
          <p:cNvPr id="9" name="Shape 7"/>
          <p:cNvSpPr/>
          <p:nvPr/>
        </p:nvSpPr>
        <p:spPr>
          <a:xfrm>
            <a:off x="365760" y="3749040"/>
            <a:ext cx="4023360" cy="365760"/>
          </a:xfrm>
          <a:prstGeom prst="rect">
            <a:avLst>
              <a:gd name="adj" fmla="val 25000"/>
            </a:avLst>
          </a:prstGeom>
          <a:solidFill>
            <a:srgbClr val="A8C5DD"/>
          </a:solidFill>
          <a:ln w="12700">
            <a:solidFill>
              <a:srgbClr val="000000"/>
            </a:solidFill>
            <a:prstDash val="solid"/>
          </a:ln>
        </p:spPr>
      </p:sp>
      <p:sp>
        <p:nvSpPr>
          <p:cNvPr id="10" name="Text 8"/>
          <p:cNvSpPr/>
          <p:nvPr/>
        </p:nvSpPr>
        <p:spPr>
          <a:xfrm>
            <a:off x="457200" y="3767328"/>
            <a:ext cx="3840480" cy="329184"/>
          </a:xfrm>
          <a:prstGeom prst="rect">
            <a:avLst/>
          </a:prstGeom>
          <a:noFill/>
          <a:ln/>
        </p:spPr>
        <p:txBody>
          <a:bodyPr wrap="square" rtlCol="0" anchor="ctr"/>
          <a:lstStyle/>
          <a:p>
            <a:pPr algn="l" indent="0" marL="0">
              <a:buNone/>
            </a:pPr>
            <a:r>
              <a:rPr lang="en-US" sz="1400" dirty="0">
                <a:solidFill>
                  <a:srgbClr val="000000"/>
                </a:solidFill>
              </a:rPr>
              <a:t>C. A big house</a:t>
            </a:r>
            <a:endParaRPr lang="en-US" sz="1400" dirty="0"/>
          </a:p>
        </p:txBody>
      </p:sp>
      <p:sp>
        <p:nvSpPr>
          <p:cNvPr id="11" name="Shape 9"/>
          <p:cNvSpPr/>
          <p:nvPr/>
        </p:nvSpPr>
        <p:spPr>
          <a:xfrm>
            <a:off x="4754880" y="3749040"/>
            <a:ext cx="4023360" cy="365760"/>
          </a:xfrm>
          <a:prstGeom prst="rect">
            <a:avLst>
              <a:gd name="adj" fmla="val 25000"/>
            </a:avLst>
          </a:prstGeom>
          <a:solidFill>
            <a:srgbClr val="A8C5DD"/>
          </a:solidFill>
          <a:ln w="12700">
            <a:solidFill>
              <a:srgbClr val="000000"/>
            </a:solidFill>
            <a:prstDash val="solid"/>
          </a:ln>
        </p:spPr>
      </p:sp>
      <p:sp>
        <p:nvSpPr>
          <p:cNvPr id="12" name="Text 10"/>
          <p:cNvSpPr/>
          <p:nvPr/>
        </p:nvSpPr>
        <p:spPr>
          <a:xfrm>
            <a:off x="4846320" y="3767328"/>
            <a:ext cx="3840480" cy="329184"/>
          </a:xfrm>
          <a:prstGeom prst="rect">
            <a:avLst/>
          </a:prstGeom>
          <a:noFill/>
          <a:ln/>
        </p:spPr>
        <p:txBody>
          <a:bodyPr wrap="square" rtlCol="0" anchor="ctr"/>
          <a:lstStyle/>
          <a:p>
            <a:pPr algn="l" indent="0" marL="0">
              <a:buNone/>
            </a:pPr>
            <a:r>
              <a:rPr lang="en-US" sz="1400" dirty="0">
                <a:solidFill>
                  <a:srgbClr val="000000"/>
                </a:solidFill>
              </a:rPr>
              <a:t>D. A place where people work in an office</a:t>
            </a:r>
            <a:endParaRPr lang="en-US" sz="1400" dirty="0"/>
          </a:p>
        </p:txBody>
      </p:sp>
      <p:sp>
        <p:nvSpPr>
          <p:cNvPr id="13" name="Text 11"/>
          <p:cNvSpPr/>
          <p:nvPr/>
        </p:nvSpPr>
        <p:spPr>
          <a:xfrm>
            <a:off x="365760" y="4160520"/>
            <a:ext cx="8412480" cy="320040"/>
          </a:xfrm>
          <a:prstGeom prst="rect">
            <a:avLst/>
          </a:prstGeom>
          <a:noFill/>
          <a:ln/>
        </p:spPr>
        <p:txBody>
          <a:bodyPr wrap="square" rtlCol="0" anchor="ctr"/>
          <a:lstStyle/>
          <a:p>
            <a:pPr indent="0" marL="0">
              <a:buNone/>
            </a:pPr>
            <a:r>
              <a:rPr lang="en-US" sz="1400" b="1" dirty="0">
                <a:solidFill>
                  <a:srgbClr val="27AE60"/>
                </a:solidFill>
              </a:rPr>
              <a:t>Correct!</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5C2E3A"/>
        </a:solidFill>
      </p:bgPr>
    </p:bg>
    <p:spTree>
      <p:nvGrpSpPr>
        <p:cNvPr id="1" name=""/>
        <p:cNvGrpSpPr/>
        <p:nvPr/>
      </p:nvGrpSpPr>
      <p:grpSpPr>
        <a:xfrm>
          <a:off x="0" y="0"/>
          <a:ext cx="0" cy="0"/>
          <a:chOff x="0" y="0"/>
          <a:chExt cx="0" cy="0"/>
        </a:xfrm>
      </p:grpSpPr>
      <p:sp>
        <p:nvSpPr>
          <p:cNvPr id="2" name="Text 0"/>
          <p:cNvSpPr/>
          <p:nvPr/>
        </p:nvSpPr>
        <p:spPr>
          <a:xfrm>
            <a:off x="2286000" y="274320"/>
            <a:ext cx="3200400" cy="320040"/>
          </a:xfrm>
          <a:prstGeom prst="rect">
            <a:avLst>
              <a:gd name="adj" fmla="val 57143"/>
            </a:avLst>
          </a:prstGeom>
          <a:solidFill>
            <a:srgbClr val="E8B4A8"/>
          </a:solidFill>
          <a:ln/>
        </p:spPr>
        <p:txBody>
          <a:bodyPr wrap="square" rtlCol="0" anchor="ctr"/>
          <a:lstStyle/>
          <a:p>
            <a:pPr algn="ctr" indent="0" marL="0">
              <a:buNone/>
            </a:pPr>
            <a:r>
              <a:rPr lang="en-US" sz="1300" b="1" dirty="0">
                <a:solidFill>
                  <a:srgbClr val="000000"/>
                </a:solidFill>
              </a:rPr>
              <a:t>Question 14 of 20</a:t>
            </a:r>
            <a:endParaRPr lang="en-US" sz="1300" dirty="0"/>
          </a:p>
        </p:txBody>
      </p:sp>
      <p:sp>
        <p:nvSpPr>
          <p:cNvPr id="3" name="Text 1"/>
          <p:cNvSpPr/>
          <p:nvPr/>
        </p:nvSpPr>
        <p:spPr>
          <a:xfrm>
            <a:off x="5669280" y="274320"/>
            <a:ext cx="1645920" cy="320040"/>
          </a:xfrm>
          <a:prstGeom prst="rect">
            <a:avLst>
              <a:gd name="adj" fmla="val 57143"/>
            </a:avLst>
          </a:prstGeom>
          <a:solidFill>
            <a:srgbClr val="E8B4A8"/>
          </a:solidFill>
          <a:ln/>
        </p:spPr>
        <p:txBody>
          <a:bodyPr wrap="square" rtlCol="0" anchor="ctr"/>
          <a:lstStyle/>
          <a:p>
            <a:pPr algn="ctr" indent="0" marL="0">
              <a:buNone/>
            </a:pPr>
            <a:r>
              <a:rPr lang="en-US" sz="1100" b="1" dirty="0">
                <a:solidFill>
                  <a:srgbClr val="000000"/>
                </a:solidFill>
              </a:rPr>
              <a:t>🔐 GUARDIAN</a:t>
            </a:r>
            <a:endParaRPr lang="en-US" sz="1100" dirty="0"/>
          </a:p>
        </p:txBody>
      </p:sp>
      <p:sp>
        <p:nvSpPr>
          <p:cNvPr id="4" name="Shape 2"/>
          <p:cNvSpPr/>
          <p:nvPr/>
        </p:nvSpPr>
        <p:spPr>
          <a:xfrm>
            <a:off x="365760" y="777240"/>
            <a:ext cx="8412480" cy="731520"/>
          </a:xfrm>
          <a:prstGeom prst="rect">
            <a:avLst/>
          </a:prstGeom>
          <a:solidFill>
            <a:srgbClr val="E8B4A8"/>
          </a:solidFill>
          <a:ln w="12700">
            <a:solidFill>
              <a:srgbClr val="000000"/>
            </a:solidFill>
            <a:prstDash val="solid"/>
          </a:ln>
        </p:spPr>
      </p:sp>
      <p:sp>
        <p:nvSpPr>
          <p:cNvPr id="5" name="Text 3"/>
          <p:cNvSpPr/>
          <p:nvPr/>
        </p:nvSpPr>
        <p:spPr>
          <a:xfrm>
            <a:off x="457200" y="822960"/>
            <a:ext cx="8229600" cy="640080"/>
          </a:xfrm>
          <a:prstGeom prst="rect">
            <a:avLst/>
          </a:prstGeom>
          <a:noFill/>
          <a:ln/>
        </p:spPr>
        <p:txBody>
          <a:bodyPr wrap="square" rtlCol="0" anchor="ctr"/>
          <a:lstStyle/>
          <a:p>
            <a:pPr indent="0" marL="0">
              <a:buNone/>
            </a:pPr>
            <a:r>
              <a:rPr lang="en-US" sz="1200" b="1" dirty="0">
                <a:solidFill>
                  <a:srgbClr val="000000"/>
                </a:solidFill>
              </a:rPr>
              <a:t>Guardian: Please read this sentence aloud to your child with excitement and concern. Then have your child read it back to you.</a:t>
            </a:r>
            <a:endParaRPr lang="en-US" sz="1200" dirty="0"/>
          </a:p>
        </p:txBody>
      </p:sp>
      <p:sp>
        <p:nvSpPr>
          <p:cNvPr id="6" name="Text 4"/>
          <p:cNvSpPr/>
          <p:nvPr/>
        </p:nvSpPr>
        <p:spPr>
          <a:xfrm>
            <a:off x="365760" y="1691640"/>
            <a:ext cx="8412480" cy="457200"/>
          </a:xfrm>
          <a:prstGeom prst="rect">
            <a:avLst/>
          </a:prstGeom>
          <a:noFill/>
          <a:ln/>
        </p:spPr>
        <p:txBody>
          <a:bodyPr wrap="square" rtlCol="0" anchor="ctr"/>
          <a:lstStyle/>
          <a:p>
            <a:pPr indent="0" marL="0">
              <a:buNone/>
            </a:pPr>
            <a:r>
              <a:rPr lang="en-US" sz="1600" b="1" dirty="0">
                <a:solidFill>
                  <a:srgbClr val="F5E6D3"/>
                </a:solidFill>
              </a:rPr>
              <a:t>Did your child read this with the right feeling (excitement/warning)?</a:t>
            </a:r>
            <a:endParaRPr lang="en-US" sz="1600" dirty="0"/>
          </a:p>
          <a:p>
            <a:pPr indent="0" marL="0">
              <a:buNone/>
            </a:pPr>
            <a:endParaRPr lang="en-US" sz="1600" dirty="0"/>
          </a:p>
          <a:p>
            <a:pPr indent="0" marL="0">
              <a:buNone/>
            </a:pPr>
            <a:r>
              <a:rPr lang="en-US" sz="1600" b="1" dirty="0">
                <a:solidFill>
                  <a:srgbClr val="F5E6D3"/>
                </a:solidFill>
              </a:rPr>
              <a:t>"Watch out! There's a bee!"</a:t>
            </a:r>
            <a:endParaRPr lang="en-US" sz="1600" dirty="0"/>
          </a:p>
        </p:txBody>
      </p:sp>
      <p:sp>
        <p:nvSpPr>
          <p:cNvPr id="7" name="Shape 5"/>
          <p:cNvSpPr/>
          <p:nvPr/>
        </p:nvSpPr>
        <p:spPr>
          <a:xfrm>
            <a:off x="365760" y="2331720"/>
            <a:ext cx="8229600" cy="365760"/>
          </a:xfrm>
          <a:prstGeom prst="rect">
            <a:avLst>
              <a:gd name="adj" fmla="val 25000"/>
            </a:avLst>
          </a:prstGeom>
          <a:solidFill>
            <a:srgbClr val="C9A89A"/>
          </a:solidFill>
          <a:ln w="12700">
            <a:solidFill>
              <a:srgbClr val="000000"/>
            </a:solidFill>
            <a:prstDash val="solid"/>
          </a:ln>
        </p:spPr>
      </p:sp>
      <p:sp>
        <p:nvSpPr>
          <p:cNvPr id="8" name="Text 6"/>
          <p:cNvSpPr/>
          <p:nvPr/>
        </p:nvSpPr>
        <p:spPr>
          <a:xfrm>
            <a:off x="457200" y="2350008"/>
            <a:ext cx="8046720" cy="329184"/>
          </a:xfrm>
          <a:prstGeom prst="rect">
            <a:avLst/>
          </a:prstGeom>
          <a:noFill/>
          <a:ln/>
        </p:spPr>
        <p:txBody>
          <a:bodyPr wrap="square" rtlCol="0" anchor="ctr"/>
          <a:lstStyle/>
          <a:p>
            <a:pPr algn="l" indent="0" marL="0">
              <a:buNone/>
            </a:pPr>
            <a:r>
              <a:rPr lang="en-US" sz="1400" dirty="0">
                <a:solidFill>
                  <a:srgbClr val="000000"/>
                </a:solidFill>
              </a:rPr>
              <a:t>A. PASS - Child read with appropriate expression</a:t>
            </a:r>
            <a:endParaRPr lang="en-US" sz="1400" dirty="0"/>
          </a:p>
        </p:txBody>
      </p:sp>
      <p:sp>
        <p:nvSpPr>
          <p:cNvPr id="9" name="Shape 7"/>
          <p:cNvSpPr/>
          <p:nvPr/>
        </p:nvSpPr>
        <p:spPr>
          <a:xfrm>
            <a:off x="365760" y="2807208"/>
            <a:ext cx="8229600" cy="365760"/>
          </a:xfrm>
          <a:prstGeom prst="rect">
            <a:avLst>
              <a:gd name="adj" fmla="val 25000"/>
            </a:avLst>
          </a:prstGeom>
          <a:solidFill>
            <a:srgbClr val="C9A89A"/>
          </a:solidFill>
          <a:ln w="12700">
            <a:solidFill>
              <a:srgbClr val="000000"/>
            </a:solidFill>
            <a:prstDash val="solid"/>
          </a:ln>
        </p:spPr>
      </p:sp>
      <p:sp>
        <p:nvSpPr>
          <p:cNvPr id="10" name="Text 8"/>
          <p:cNvSpPr/>
          <p:nvPr/>
        </p:nvSpPr>
        <p:spPr>
          <a:xfrm>
            <a:off x="457200" y="2825496"/>
            <a:ext cx="8046720" cy="329184"/>
          </a:xfrm>
          <a:prstGeom prst="rect">
            <a:avLst/>
          </a:prstGeom>
          <a:noFill/>
          <a:ln/>
        </p:spPr>
        <p:txBody>
          <a:bodyPr wrap="square" rtlCol="0" anchor="ctr"/>
          <a:lstStyle/>
          <a:p>
            <a:pPr algn="l" indent="0" marL="0">
              <a:buNone/>
            </a:pPr>
            <a:r>
              <a:rPr lang="en-US" sz="1400" dirty="0">
                <a:solidFill>
                  <a:srgbClr val="000000"/>
                </a:solidFill>
              </a:rPr>
              <a:t>B. FAIL - Child had difficulty with expression</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5C2E3A"/>
        </a:solidFill>
      </p:bgPr>
    </p:bg>
    <p:spTree>
      <p:nvGrpSpPr>
        <p:cNvPr id="1" name=""/>
        <p:cNvGrpSpPr/>
        <p:nvPr/>
      </p:nvGrpSpPr>
      <p:grpSpPr>
        <a:xfrm>
          <a:off x="0" y="0"/>
          <a:ext cx="0" cy="0"/>
          <a:chOff x="0" y="0"/>
          <a:chExt cx="0" cy="0"/>
        </a:xfrm>
      </p:grpSpPr>
      <p:sp>
        <p:nvSpPr>
          <p:cNvPr id="2" name="Text 0"/>
          <p:cNvSpPr/>
          <p:nvPr/>
        </p:nvSpPr>
        <p:spPr>
          <a:xfrm>
            <a:off x="2286000" y="274320"/>
            <a:ext cx="3200400" cy="320040"/>
          </a:xfrm>
          <a:prstGeom prst="rect">
            <a:avLst>
              <a:gd name="adj" fmla="val 57143"/>
            </a:avLst>
          </a:prstGeom>
          <a:solidFill>
            <a:srgbClr val="E8B4A8"/>
          </a:solidFill>
          <a:ln/>
        </p:spPr>
        <p:txBody>
          <a:bodyPr wrap="square" rtlCol="0" anchor="ctr"/>
          <a:lstStyle/>
          <a:p>
            <a:pPr algn="ctr" indent="0" marL="0">
              <a:buNone/>
            </a:pPr>
            <a:r>
              <a:rPr lang="en-US" sz="1300" b="1" dirty="0">
                <a:solidFill>
                  <a:srgbClr val="000000"/>
                </a:solidFill>
              </a:rPr>
              <a:t>Question 14 - Answer</a:t>
            </a:r>
            <a:endParaRPr lang="en-US" sz="1300" dirty="0"/>
          </a:p>
        </p:txBody>
      </p:sp>
      <p:sp>
        <p:nvSpPr>
          <p:cNvPr id="3" name="Text 1"/>
          <p:cNvSpPr/>
          <p:nvPr/>
        </p:nvSpPr>
        <p:spPr>
          <a:xfrm>
            <a:off x="5669280" y="274320"/>
            <a:ext cx="1645920" cy="320040"/>
          </a:xfrm>
          <a:prstGeom prst="rect">
            <a:avLst>
              <a:gd name="adj" fmla="val 57143"/>
            </a:avLst>
          </a:prstGeom>
          <a:solidFill>
            <a:srgbClr val="E8B4A8"/>
          </a:solidFill>
          <a:ln/>
        </p:spPr>
        <p:txBody>
          <a:bodyPr wrap="square" rtlCol="0" anchor="ctr"/>
          <a:lstStyle/>
          <a:p>
            <a:pPr algn="ctr" indent="0" marL="0">
              <a:buNone/>
            </a:pPr>
            <a:r>
              <a:rPr lang="en-US" sz="1100" b="1" dirty="0">
                <a:solidFill>
                  <a:srgbClr val="000000"/>
                </a:solidFill>
              </a:rPr>
              <a:t>🔐 GUARDIAN</a:t>
            </a:r>
            <a:endParaRPr lang="en-US" sz="1100" dirty="0"/>
          </a:p>
        </p:txBody>
      </p:sp>
      <p:sp>
        <p:nvSpPr>
          <p:cNvPr id="4" name="Shape 2"/>
          <p:cNvSpPr/>
          <p:nvPr/>
        </p:nvSpPr>
        <p:spPr>
          <a:xfrm>
            <a:off x="365760" y="777240"/>
            <a:ext cx="8412480" cy="731520"/>
          </a:xfrm>
          <a:prstGeom prst="rect">
            <a:avLst/>
          </a:prstGeom>
          <a:solidFill>
            <a:srgbClr val="E8B4A8"/>
          </a:solidFill>
          <a:ln w="12700">
            <a:solidFill>
              <a:srgbClr val="000000"/>
            </a:solidFill>
            <a:prstDash val="solid"/>
          </a:ln>
        </p:spPr>
      </p:sp>
      <p:sp>
        <p:nvSpPr>
          <p:cNvPr id="5" name="Text 3"/>
          <p:cNvSpPr/>
          <p:nvPr/>
        </p:nvSpPr>
        <p:spPr>
          <a:xfrm>
            <a:off x="457200" y="822960"/>
            <a:ext cx="8229600" cy="640080"/>
          </a:xfrm>
          <a:prstGeom prst="rect">
            <a:avLst/>
          </a:prstGeom>
          <a:noFill/>
          <a:ln/>
        </p:spPr>
        <p:txBody>
          <a:bodyPr wrap="square" rtlCol="0" anchor="ctr"/>
          <a:lstStyle/>
          <a:p>
            <a:pPr indent="0" marL="0">
              <a:buNone/>
            </a:pPr>
            <a:r>
              <a:rPr lang="en-US" sz="1200" b="1" dirty="0">
                <a:solidFill>
                  <a:srgbClr val="000000"/>
                </a:solidFill>
              </a:rPr>
              <a:t>Guardian: If your child read with excitement or warning in their voice, mark PASS. This shows good fluency!</a:t>
            </a:r>
            <a:endParaRPr lang="en-US" sz="1200" dirty="0"/>
          </a:p>
        </p:txBody>
      </p:sp>
      <p:sp>
        <p:nvSpPr>
          <p:cNvPr id="6" name="Text 4"/>
          <p:cNvSpPr/>
          <p:nvPr/>
        </p:nvSpPr>
        <p:spPr>
          <a:xfrm>
            <a:off x="365760" y="1691640"/>
            <a:ext cx="8412480" cy="457200"/>
          </a:xfrm>
          <a:prstGeom prst="rect">
            <a:avLst/>
          </a:prstGeom>
          <a:noFill/>
          <a:ln/>
        </p:spPr>
        <p:txBody>
          <a:bodyPr wrap="square" rtlCol="0" anchor="ctr"/>
          <a:lstStyle/>
          <a:p>
            <a:pPr indent="0" marL="0">
              <a:buNone/>
            </a:pPr>
            <a:r>
              <a:rPr lang="en-US" sz="1600" b="1" dirty="0">
                <a:solidFill>
                  <a:srgbClr val="F5E6D3"/>
                </a:solidFill>
              </a:rPr>
              <a:t>Did your child read this with the right feeling (excitement/warning)?</a:t>
            </a:r>
            <a:endParaRPr lang="en-US" sz="1600" dirty="0"/>
          </a:p>
        </p:txBody>
      </p:sp>
      <p:sp>
        <p:nvSpPr>
          <p:cNvPr id="7" name="Shape 5"/>
          <p:cNvSpPr/>
          <p:nvPr/>
        </p:nvSpPr>
        <p:spPr>
          <a:xfrm>
            <a:off x="365760" y="2331720"/>
            <a:ext cx="8229600" cy="365760"/>
          </a:xfrm>
          <a:prstGeom prst="rect">
            <a:avLst>
              <a:gd name="adj" fmla="val 25000"/>
            </a:avLst>
          </a:prstGeom>
          <a:solidFill>
            <a:srgbClr val="E8D4C4"/>
          </a:solidFill>
          <a:ln w="12700">
            <a:solidFill>
              <a:srgbClr val="8B5A3C"/>
            </a:solidFill>
            <a:prstDash val="solid"/>
          </a:ln>
        </p:spPr>
      </p:sp>
      <p:sp>
        <p:nvSpPr>
          <p:cNvPr id="8" name="Text 6"/>
          <p:cNvSpPr/>
          <p:nvPr/>
        </p:nvSpPr>
        <p:spPr>
          <a:xfrm>
            <a:off x="457200" y="2350008"/>
            <a:ext cx="8046720" cy="329184"/>
          </a:xfrm>
          <a:prstGeom prst="rect">
            <a:avLst/>
          </a:prstGeom>
          <a:noFill/>
          <a:ln/>
        </p:spPr>
        <p:txBody>
          <a:bodyPr wrap="square" rtlCol="0" anchor="ctr"/>
          <a:lstStyle/>
          <a:p>
            <a:pPr algn="l" indent="0" marL="0">
              <a:buNone/>
            </a:pPr>
            <a:r>
              <a:rPr lang="en-US" sz="1400" dirty="0">
                <a:solidFill>
                  <a:srgbClr val="000000"/>
                </a:solidFill>
              </a:rPr>
              <a:t>A. PASS - Child read with appropriate expression ✓</a:t>
            </a:r>
            <a:endParaRPr lang="en-US" sz="1400" dirty="0"/>
          </a:p>
        </p:txBody>
      </p:sp>
      <p:sp>
        <p:nvSpPr>
          <p:cNvPr id="9" name="Shape 7"/>
          <p:cNvSpPr/>
          <p:nvPr/>
        </p:nvSpPr>
        <p:spPr>
          <a:xfrm>
            <a:off x="365760" y="2807208"/>
            <a:ext cx="8229600" cy="365760"/>
          </a:xfrm>
          <a:prstGeom prst="rect">
            <a:avLst>
              <a:gd name="adj" fmla="val 25000"/>
            </a:avLst>
          </a:prstGeom>
          <a:solidFill>
            <a:srgbClr val="C9A89A"/>
          </a:solidFill>
          <a:ln w="12700">
            <a:solidFill>
              <a:srgbClr val="000000"/>
            </a:solidFill>
            <a:prstDash val="solid"/>
          </a:ln>
        </p:spPr>
      </p:sp>
      <p:sp>
        <p:nvSpPr>
          <p:cNvPr id="10" name="Text 8"/>
          <p:cNvSpPr/>
          <p:nvPr/>
        </p:nvSpPr>
        <p:spPr>
          <a:xfrm>
            <a:off x="457200" y="2825496"/>
            <a:ext cx="8046720" cy="329184"/>
          </a:xfrm>
          <a:prstGeom prst="rect">
            <a:avLst/>
          </a:prstGeom>
          <a:noFill/>
          <a:ln/>
        </p:spPr>
        <p:txBody>
          <a:bodyPr wrap="square" rtlCol="0" anchor="ctr"/>
          <a:lstStyle/>
          <a:p>
            <a:pPr algn="l" indent="0" marL="0">
              <a:buNone/>
            </a:pPr>
            <a:r>
              <a:rPr lang="en-US" sz="1400" dirty="0">
                <a:solidFill>
                  <a:srgbClr val="000000"/>
                </a:solidFill>
              </a:rPr>
              <a:t>B. FAIL - Child had difficulty with expression</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15 of 20</a:t>
            </a:r>
            <a:endParaRPr lang="en-US" sz="1300" dirty="0"/>
          </a:p>
        </p:txBody>
      </p:sp>
      <p:sp>
        <p:nvSpPr>
          <p:cNvPr id="3" name="Text 1"/>
          <p:cNvSpPr/>
          <p:nvPr/>
        </p:nvSpPr>
        <p:spPr>
          <a:xfrm>
            <a:off x="365760" y="777240"/>
            <a:ext cx="8412480" cy="457200"/>
          </a:xfrm>
          <a:prstGeom prst="rect">
            <a:avLst/>
          </a:prstGeom>
          <a:noFill/>
          <a:ln/>
        </p:spPr>
        <p:txBody>
          <a:bodyPr wrap="square" rtlCol="0" anchor="ctr"/>
          <a:lstStyle/>
          <a:p>
            <a:pPr indent="0" marL="0">
              <a:buNone/>
            </a:pPr>
            <a:r>
              <a:rPr lang="en-US" sz="1600" b="1" dirty="0">
                <a:solidFill>
                  <a:srgbClr val="FFFFFF"/>
                </a:solidFill>
              </a:rPr>
              <a:t>What is the FIRST step to make a sandwich?</a:t>
            </a:r>
            <a:endParaRPr lang="en-US" sz="1600" dirty="0"/>
          </a:p>
          <a:p>
            <a:pPr indent="0" marL="0">
              <a:buNone/>
            </a:pPr>
            <a:endParaRPr lang="en-US" sz="1600" dirty="0"/>
          </a:p>
          <a:p>
            <a:pPr indent="0" marL="0">
              <a:buNone/>
            </a:pPr>
            <a:r>
              <a:rPr lang="en-US" sz="1600" b="1" dirty="0">
                <a:solidFill>
                  <a:srgbClr val="FFFFFF"/>
                </a:solidFill>
              </a:rPr>
              <a:t>(Guardian: Read the 'How to Make a Sandwich' passage aloud slowly.)</a:t>
            </a:r>
            <a:endParaRPr lang="en-US" sz="1600" dirty="0"/>
          </a:p>
        </p:txBody>
      </p:sp>
      <p:sp>
        <p:nvSpPr>
          <p:cNvPr id="4" name="Shape 2"/>
          <p:cNvSpPr/>
          <p:nvPr/>
        </p:nvSpPr>
        <p:spPr>
          <a:xfrm>
            <a:off x="365760" y="1417320"/>
            <a:ext cx="4023360" cy="365760"/>
          </a:xfrm>
          <a:prstGeom prst="rect">
            <a:avLst>
              <a:gd name="adj" fmla="val 25000"/>
            </a:avLst>
          </a:prstGeom>
          <a:solidFill>
            <a:srgbClr val="A8C5DD"/>
          </a:solidFill>
          <a:ln w="12700">
            <a:solidFill>
              <a:srgbClr val="000000"/>
            </a:solidFill>
            <a:prstDash val="solid"/>
          </a:ln>
        </p:spPr>
      </p:sp>
      <p:sp>
        <p:nvSpPr>
          <p:cNvPr id="5" name="Text 3"/>
          <p:cNvSpPr/>
          <p:nvPr/>
        </p:nvSpPr>
        <p:spPr>
          <a:xfrm>
            <a:off x="457200" y="1435608"/>
            <a:ext cx="3840480" cy="329184"/>
          </a:xfrm>
          <a:prstGeom prst="rect">
            <a:avLst/>
          </a:prstGeom>
          <a:noFill/>
          <a:ln/>
        </p:spPr>
        <p:txBody>
          <a:bodyPr wrap="square" rtlCol="0" anchor="ctr"/>
          <a:lstStyle/>
          <a:p>
            <a:pPr algn="l" indent="0" marL="0">
              <a:buNone/>
            </a:pPr>
            <a:r>
              <a:rPr lang="en-US" sz="1400" dirty="0">
                <a:solidFill>
                  <a:srgbClr val="000000"/>
                </a:solidFill>
              </a:rPr>
              <a:t>A. Add cheese</a:t>
            </a:r>
            <a:endParaRPr lang="en-US" sz="1400" dirty="0"/>
          </a:p>
        </p:txBody>
      </p:sp>
      <p:sp>
        <p:nvSpPr>
          <p:cNvPr id="6" name="Shape 4"/>
          <p:cNvSpPr/>
          <p:nvPr/>
        </p:nvSpPr>
        <p:spPr>
          <a:xfrm>
            <a:off x="4754880" y="1417320"/>
            <a:ext cx="4023360" cy="365760"/>
          </a:xfrm>
          <a:prstGeom prst="rect">
            <a:avLst>
              <a:gd name="adj" fmla="val 25000"/>
            </a:avLst>
          </a:prstGeom>
          <a:solidFill>
            <a:srgbClr val="A8C5DD"/>
          </a:solidFill>
          <a:ln w="12700">
            <a:solidFill>
              <a:srgbClr val="000000"/>
            </a:solidFill>
            <a:prstDash val="solid"/>
          </a:ln>
        </p:spPr>
      </p:sp>
      <p:sp>
        <p:nvSpPr>
          <p:cNvPr id="7" name="Text 5"/>
          <p:cNvSpPr/>
          <p:nvPr/>
        </p:nvSpPr>
        <p:spPr>
          <a:xfrm>
            <a:off x="4846320" y="1435608"/>
            <a:ext cx="3840480" cy="329184"/>
          </a:xfrm>
          <a:prstGeom prst="rect">
            <a:avLst/>
          </a:prstGeom>
          <a:noFill/>
          <a:ln/>
        </p:spPr>
        <p:txBody>
          <a:bodyPr wrap="square" rtlCol="0" anchor="ctr"/>
          <a:lstStyle/>
          <a:p>
            <a:pPr algn="l" indent="0" marL="0">
              <a:buNone/>
            </a:pPr>
            <a:r>
              <a:rPr lang="en-US" sz="1400" dirty="0">
                <a:solidFill>
                  <a:srgbClr val="000000"/>
                </a:solidFill>
              </a:rPr>
              <a:t>B. Get two pieces of bread</a:t>
            </a:r>
            <a:endParaRPr lang="en-US" sz="1400" dirty="0"/>
          </a:p>
        </p:txBody>
      </p:sp>
      <p:sp>
        <p:nvSpPr>
          <p:cNvPr id="8" name="Shape 6"/>
          <p:cNvSpPr/>
          <p:nvPr/>
        </p:nvSpPr>
        <p:spPr>
          <a:xfrm>
            <a:off x="365760" y="1920240"/>
            <a:ext cx="4023360" cy="365760"/>
          </a:xfrm>
          <a:prstGeom prst="rect">
            <a:avLst>
              <a:gd name="adj" fmla="val 25000"/>
            </a:avLst>
          </a:prstGeom>
          <a:solidFill>
            <a:srgbClr val="A8C5DD"/>
          </a:solidFill>
          <a:ln w="12700">
            <a:solidFill>
              <a:srgbClr val="000000"/>
            </a:solidFill>
            <a:prstDash val="solid"/>
          </a:ln>
        </p:spPr>
      </p:sp>
      <p:sp>
        <p:nvSpPr>
          <p:cNvPr id="9" name="Text 7"/>
          <p:cNvSpPr/>
          <p:nvPr/>
        </p:nvSpPr>
        <p:spPr>
          <a:xfrm>
            <a:off x="457200" y="1938528"/>
            <a:ext cx="3840480" cy="329184"/>
          </a:xfrm>
          <a:prstGeom prst="rect">
            <a:avLst/>
          </a:prstGeom>
          <a:noFill/>
          <a:ln/>
        </p:spPr>
        <p:txBody>
          <a:bodyPr wrap="square" rtlCol="0" anchor="ctr"/>
          <a:lstStyle/>
          <a:p>
            <a:pPr algn="l" indent="0" marL="0">
              <a:buNone/>
            </a:pPr>
            <a:r>
              <a:rPr lang="en-US" sz="1400" dirty="0">
                <a:solidFill>
                  <a:srgbClr val="000000"/>
                </a:solidFill>
              </a:rPr>
              <a:t>C. Cut the sandwich</a:t>
            </a:r>
            <a:endParaRPr lang="en-US" sz="1400" dirty="0"/>
          </a:p>
        </p:txBody>
      </p:sp>
      <p:sp>
        <p:nvSpPr>
          <p:cNvPr id="10" name="Shape 8"/>
          <p:cNvSpPr/>
          <p:nvPr/>
        </p:nvSpPr>
        <p:spPr>
          <a:xfrm>
            <a:off x="4754880" y="1920240"/>
            <a:ext cx="4023360" cy="365760"/>
          </a:xfrm>
          <a:prstGeom prst="rect">
            <a:avLst>
              <a:gd name="adj" fmla="val 25000"/>
            </a:avLst>
          </a:prstGeom>
          <a:solidFill>
            <a:srgbClr val="A8C5DD"/>
          </a:solidFill>
          <a:ln w="12700">
            <a:solidFill>
              <a:srgbClr val="000000"/>
            </a:solidFill>
            <a:prstDash val="solid"/>
          </a:ln>
        </p:spPr>
      </p:sp>
      <p:sp>
        <p:nvSpPr>
          <p:cNvPr id="11" name="Text 9"/>
          <p:cNvSpPr/>
          <p:nvPr/>
        </p:nvSpPr>
        <p:spPr>
          <a:xfrm>
            <a:off x="4846320" y="1938528"/>
            <a:ext cx="3840480" cy="329184"/>
          </a:xfrm>
          <a:prstGeom prst="rect">
            <a:avLst/>
          </a:prstGeom>
          <a:noFill/>
          <a:ln/>
        </p:spPr>
        <p:txBody>
          <a:bodyPr wrap="square" rtlCol="0" anchor="ctr"/>
          <a:lstStyle/>
          <a:p>
            <a:pPr algn="l" indent="0" marL="0">
              <a:buNone/>
            </a:pPr>
            <a:r>
              <a:rPr lang="en-US" sz="1400" dirty="0">
                <a:solidFill>
                  <a:srgbClr val="000000"/>
                </a:solidFill>
              </a:rPr>
              <a:t>D. Put it on a plate</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15 - Answer</a:t>
            </a:r>
            <a:endParaRPr lang="en-US" sz="1300" dirty="0"/>
          </a:p>
        </p:txBody>
      </p:sp>
      <p:sp>
        <p:nvSpPr>
          <p:cNvPr id="3" name="Text 1"/>
          <p:cNvSpPr/>
          <p:nvPr/>
        </p:nvSpPr>
        <p:spPr>
          <a:xfrm>
            <a:off x="365760" y="777240"/>
            <a:ext cx="8412480" cy="457200"/>
          </a:xfrm>
          <a:prstGeom prst="rect">
            <a:avLst/>
          </a:prstGeom>
          <a:noFill/>
          <a:ln/>
        </p:spPr>
        <p:txBody>
          <a:bodyPr wrap="square" rtlCol="0" anchor="ctr"/>
          <a:lstStyle/>
          <a:p>
            <a:pPr indent="0" marL="0">
              <a:buNone/>
            </a:pPr>
            <a:r>
              <a:rPr lang="en-US" sz="1600" b="1" dirty="0">
                <a:solidFill>
                  <a:srgbClr val="FFFFFF"/>
                </a:solidFill>
              </a:rPr>
              <a:t>What is the FIRST step to make a sandwich?</a:t>
            </a:r>
            <a:endParaRPr lang="en-US" sz="1600" dirty="0"/>
          </a:p>
        </p:txBody>
      </p:sp>
      <p:sp>
        <p:nvSpPr>
          <p:cNvPr id="4" name="Shape 2"/>
          <p:cNvSpPr/>
          <p:nvPr/>
        </p:nvSpPr>
        <p:spPr>
          <a:xfrm>
            <a:off x="365760" y="1417320"/>
            <a:ext cx="4023360" cy="365760"/>
          </a:xfrm>
          <a:prstGeom prst="rect">
            <a:avLst>
              <a:gd name="adj" fmla="val 25000"/>
            </a:avLst>
          </a:prstGeom>
          <a:solidFill>
            <a:srgbClr val="A8C5DD"/>
          </a:solidFill>
          <a:ln w="12700">
            <a:solidFill>
              <a:srgbClr val="000000"/>
            </a:solidFill>
            <a:prstDash val="solid"/>
          </a:ln>
        </p:spPr>
      </p:sp>
      <p:sp>
        <p:nvSpPr>
          <p:cNvPr id="5" name="Text 3"/>
          <p:cNvSpPr/>
          <p:nvPr/>
        </p:nvSpPr>
        <p:spPr>
          <a:xfrm>
            <a:off x="457200" y="1435608"/>
            <a:ext cx="3840480" cy="329184"/>
          </a:xfrm>
          <a:prstGeom prst="rect">
            <a:avLst/>
          </a:prstGeom>
          <a:noFill/>
          <a:ln/>
        </p:spPr>
        <p:txBody>
          <a:bodyPr wrap="square" rtlCol="0" anchor="ctr"/>
          <a:lstStyle/>
          <a:p>
            <a:pPr algn="l" indent="0" marL="0">
              <a:buNone/>
            </a:pPr>
            <a:r>
              <a:rPr lang="en-US" sz="1400" dirty="0">
                <a:solidFill>
                  <a:srgbClr val="000000"/>
                </a:solidFill>
              </a:rPr>
              <a:t>A. Add cheese</a:t>
            </a:r>
            <a:endParaRPr lang="en-US" sz="1400" dirty="0"/>
          </a:p>
        </p:txBody>
      </p:sp>
      <p:sp>
        <p:nvSpPr>
          <p:cNvPr id="6" name="Shape 4"/>
          <p:cNvSpPr/>
          <p:nvPr/>
        </p:nvSpPr>
        <p:spPr>
          <a:xfrm>
            <a:off x="4754880" y="1417320"/>
            <a:ext cx="4023360" cy="365760"/>
          </a:xfrm>
          <a:prstGeom prst="rect">
            <a:avLst>
              <a:gd name="adj" fmla="val 25000"/>
            </a:avLst>
          </a:prstGeom>
          <a:solidFill>
            <a:srgbClr val="D5F4E6"/>
          </a:solidFill>
          <a:ln w="12700">
            <a:solidFill>
              <a:srgbClr val="27AE60"/>
            </a:solidFill>
            <a:prstDash val="solid"/>
          </a:ln>
        </p:spPr>
      </p:sp>
      <p:sp>
        <p:nvSpPr>
          <p:cNvPr id="7" name="Text 5"/>
          <p:cNvSpPr/>
          <p:nvPr/>
        </p:nvSpPr>
        <p:spPr>
          <a:xfrm>
            <a:off x="4846320" y="1435608"/>
            <a:ext cx="3840480" cy="329184"/>
          </a:xfrm>
          <a:prstGeom prst="rect">
            <a:avLst/>
          </a:prstGeom>
          <a:noFill/>
          <a:ln/>
        </p:spPr>
        <p:txBody>
          <a:bodyPr wrap="square" rtlCol="0" anchor="ctr"/>
          <a:lstStyle/>
          <a:p>
            <a:pPr algn="l" indent="0" marL="0">
              <a:buNone/>
            </a:pPr>
            <a:r>
              <a:rPr lang="en-US" sz="1400" dirty="0">
                <a:solidFill>
                  <a:srgbClr val="000000"/>
                </a:solidFill>
              </a:rPr>
              <a:t>B. Get two pieces of bread ✓</a:t>
            </a:r>
            <a:endParaRPr lang="en-US" sz="1400" dirty="0"/>
          </a:p>
        </p:txBody>
      </p:sp>
      <p:sp>
        <p:nvSpPr>
          <p:cNvPr id="8" name="Shape 6"/>
          <p:cNvSpPr/>
          <p:nvPr/>
        </p:nvSpPr>
        <p:spPr>
          <a:xfrm>
            <a:off x="365760" y="1920240"/>
            <a:ext cx="4023360" cy="365760"/>
          </a:xfrm>
          <a:prstGeom prst="rect">
            <a:avLst>
              <a:gd name="adj" fmla="val 25000"/>
            </a:avLst>
          </a:prstGeom>
          <a:solidFill>
            <a:srgbClr val="A8C5DD"/>
          </a:solidFill>
          <a:ln w="12700">
            <a:solidFill>
              <a:srgbClr val="000000"/>
            </a:solidFill>
            <a:prstDash val="solid"/>
          </a:ln>
        </p:spPr>
      </p:sp>
      <p:sp>
        <p:nvSpPr>
          <p:cNvPr id="9" name="Text 7"/>
          <p:cNvSpPr/>
          <p:nvPr/>
        </p:nvSpPr>
        <p:spPr>
          <a:xfrm>
            <a:off x="457200" y="1938528"/>
            <a:ext cx="3840480" cy="329184"/>
          </a:xfrm>
          <a:prstGeom prst="rect">
            <a:avLst/>
          </a:prstGeom>
          <a:noFill/>
          <a:ln/>
        </p:spPr>
        <p:txBody>
          <a:bodyPr wrap="square" rtlCol="0" anchor="ctr"/>
          <a:lstStyle/>
          <a:p>
            <a:pPr algn="l" indent="0" marL="0">
              <a:buNone/>
            </a:pPr>
            <a:r>
              <a:rPr lang="en-US" sz="1400" dirty="0">
                <a:solidFill>
                  <a:srgbClr val="000000"/>
                </a:solidFill>
              </a:rPr>
              <a:t>C. Cut the sandwich</a:t>
            </a:r>
            <a:endParaRPr lang="en-US" sz="1400" dirty="0"/>
          </a:p>
        </p:txBody>
      </p:sp>
      <p:sp>
        <p:nvSpPr>
          <p:cNvPr id="10" name="Shape 8"/>
          <p:cNvSpPr/>
          <p:nvPr/>
        </p:nvSpPr>
        <p:spPr>
          <a:xfrm>
            <a:off x="4754880" y="1920240"/>
            <a:ext cx="4023360" cy="365760"/>
          </a:xfrm>
          <a:prstGeom prst="rect">
            <a:avLst>
              <a:gd name="adj" fmla="val 25000"/>
            </a:avLst>
          </a:prstGeom>
          <a:solidFill>
            <a:srgbClr val="A8C5DD"/>
          </a:solidFill>
          <a:ln w="12700">
            <a:solidFill>
              <a:srgbClr val="000000"/>
            </a:solidFill>
            <a:prstDash val="solid"/>
          </a:ln>
        </p:spPr>
      </p:sp>
      <p:sp>
        <p:nvSpPr>
          <p:cNvPr id="11" name="Text 9"/>
          <p:cNvSpPr/>
          <p:nvPr/>
        </p:nvSpPr>
        <p:spPr>
          <a:xfrm>
            <a:off x="4846320" y="1938528"/>
            <a:ext cx="3840480" cy="329184"/>
          </a:xfrm>
          <a:prstGeom prst="rect">
            <a:avLst/>
          </a:prstGeom>
          <a:noFill/>
          <a:ln/>
        </p:spPr>
        <p:txBody>
          <a:bodyPr wrap="square" rtlCol="0" anchor="ctr"/>
          <a:lstStyle/>
          <a:p>
            <a:pPr algn="l" indent="0" marL="0">
              <a:buNone/>
            </a:pPr>
            <a:r>
              <a:rPr lang="en-US" sz="1400" dirty="0">
                <a:solidFill>
                  <a:srgbClr val="000000"/>
                </a:solidFill>
              </a:rPr>
              <a:t>D. Put it on a plate</a:t>
            </a:r>
            <a:endParaRPr lang="en-US" sz="1400" dirty="0"/>
          </a:p>
        </p:txBody>
      </p:sp>
      <p:sp>
        <p:nvSpPr>
          <p:cNvPr id="12" name="Text 10"/>
          <p:cNvSpPr/>
          <p:nvPr/>
        </p:nvSpPr>
        <p:spPr>
          <a:xfrm>
            <a:off x="365760" y="2331720"/>
            <a:ext cx="8412480" cy="320040"/>
          </a:xfrm>
          <a:prstGeom prst="rect">
            <a:avLst/>
          </a:prstGeom>
          <a:noFill/>
          <a:ln/>
        </p:spPr>
        <p:txBody>
          <a:bodyPr wrap="square" rtlCol="0" anchor="ctr"/>
          <a:lstStyle/>
          <a:p>
            <a:pPr indent="0" marL="0">
              <a:buNone/>
            </a:pPr>
            <a:r>
              <a:rPr lang="en-US" sz="1400" b="1" dirty="0">
                <a:solidFill>
                  <a:srgbClr val="27AE60"/>
                </a:solidFill>
              </a:rPr>
              <a:t>Correct!</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16 of 20</a:t>
            </a:r>
            <a:endParaRPr lang="en-US" sz="1300" dirty="0"/>
          </a:p>
        </p:txBody>
      </p:sp>
      <p:sp>
        <p:nvSpPr>
          <p:cNvPr id="3" name="Text 1"/>
          <p:cNvSpPr/>
          <p:nvPr/>
        </p:nvSpPr>
        <p:spPr>
          <a:xfrm>
            <a:off x="365760" y="777240"/>
            <a:ext cx="8412480" cy="457200"/>
          </a:xfrm>
          <a:prstGeom prst="rect">
            <a:avLst/>
          </a:prstGeom>
          <a:noFill/>
          <a:ln/>
        </p:spPr>
        <p:txBody>
          <a:bodyPr wrap="square" rtlCol="0" anchor="ctr"/>
          <a:lstStyle/>
          <a:p>
            <a:pPr indent="0" marL="0">
              <a:buNone/>
            </a:pPr>
            <a:r>
              <a:rPr lang="en-US" sz="1600" b="1" dirty="0">
                <a:solidFill>
                  <a:srgbClr val="FFFFFF"/>
                </a:solidFill>
              </a:rPr>
              <a:t>Name ONE ingredient that goes in the sandwich.</a:t>
            </a:r>
            <a:endParaRPr lang="en-US" sz="1600" dirty="0"/>
          </a:p>
        </p:txBody>
      </p:sp>
      <p:sp>
        <p:nvSpPr>
          <p:cNvPr id="4" name="Shape 2"/>
          <p:cNvSpPr/>
          <p:nvPr/>
        </p:nvSpPr>
        <p:spPr>
          <a:xfrm>
            <a:off x="365760" y="1417320"/>
            <a:ext cx="4023360" cy="365760"/>
          </a:xfrm>
          <a:prstGeom prst="rect">
            <a:avLst>
              <a:gd name="adj" fmla="val 25000"/>
            </a:avLst>
          </a:prstGeom>
          <a:solidFill>
            <a:srgbClr val="A8C5DD"/>
          </a:solidFill>
          <a:ln w="12700">
            <a:solidFill>
              <a:srgbClr val="000000"/>
            </a:solidFill>
            <a:prstDash val="solid"/>
          </a:ln>
        </p:spPr>
      </p:sp>
      <p:sp>
        <p:nvSpPr>
          <p:cNvPr id="5" name="Text 3"/>
          <p:cNvSpPr/>
          <p:nvPr/>
        </p:nvSpPr>
        <p:spPr>
          <a:xfrm>
            <a:off x="457200" y="1435608"/>
            <a:ext cx="3840480" cy="329184"/>
          </a:xfrm>
          <a:prstGeom prst="rect">
            <a:avLst/>
          </a:prstGeom>
          <a:noFill/>
          <a:ln/>
        </p:spPr>
        <p:txBody>
          <a:bodyPr wrap="square" rtlCol="0" anchor="ctr"/>
          <a:lstStyle/>
          <a:p>
            <a:pPr algn="l" indent="0" marL="0">
              <a:buNone/>
            </a:pPr>
            <a:r>
              <a:rPr lang="en-US" sz="1400" dirty="0">
                <a:solidFill>
                  <a:srgbClr val="000000"/>
                </a:solidFill>
              </a:rPr>
              <a:t>A. Peanut butter</a:t>
            </a:r>
            <a:endParaRPr lang="en-US" sz="1400" dirty="0"/>
          </a:p>
        </p:txBody>
      </p:sp>
      <p:sp>
        <p:nvSpPr>
          <p:cNvPr id="6" name="Shape 4"/>
          <p:cNvSpPr/>
          <p:nvPr/>
        </p:nvSpPr>
        <p:spPr>
          <a:xfrm>
            <a:off x="4754880" y="1417320"/>
            <a:ext cx="4023360" cy="365760"/>
          </a:xfrm>
          <a:prstGeom prst="rect">
            <a:avLst>
              <a:gd name="adj" fmla="val 25000"/>
            </a:avLst>
          </a:prstGeom>
          <a:solidFill>
            <a:srgbClr val="A8C5DD"/>
          </a:solidFill>
          <a:ln w="12700">
            <a:solidFill>
              <a:srgbClr val="000000"/>
            </a:solidFill>
            <a:prstDash val="solid"/>
          </a:ln>
        </p:spPr>
      </p:sp>
      <p:sp>
        <p:nvSpPr>
          <p:cNvPr id="7" name="Text 5"/>
          <p:cNvSpPr/>
          <p:nvPr/>
        </p:nvSpPr>
        <p:spPr>
          <a:xfrm>
            <a:off x="4846320" y="1435608"/>
            <a:ext cx="3840480" cy="329184"/>
          </a:xfrm>
          <a:prstGeom prst="rect">
            <a:avLst/>
          </a:prstGeom>
          <a:noFill/>
          <a:ln/>
        </p:spPr>
        <p:txBody>
          <a:bodyPr wrap="square" rtlCol="0" anchor="ctr"/>
          <a:lstStyle/>
          <a:p>
            <a:pPr algn="l" indent="0" marL="0">
              <a:buNone/>
            </a:pPr>
            <a:r>
              <a:rPr lang="en-US" sz="1400" dirty="0">
                <a:solidFill>
                  <a:srgbClr val="000000"/>
                </a:solidFill>
              </a:rPr>
              <a:t>B. Milk</a:t>
            </a:r>
            <a:endParaRPr lang="en-US" sz="1400" dirty="0"/>
          </a:p>
        </p:txBody>
      </p:sp>
      <p:sp>
        <p:nvSpPr>
          <p:cNvPr id="8" name="Shape 6"/>
          <p:cNvSpPr/>
          <p:nvPr/>
        </p:nvSpPr>
        <p:spPr>
          <a:xfrm>
            <a:off x="365760" y="1920240"/>
            <a:ext cx="4023360" cy="365760"/>
          </a:xfrm>
          <a:prstGeom prst="rect">
            <a:avLst>
              <a:gd name="adj" fmla="val 25000"/>
            </a:avLst>
          </a:prstGeom>
          <a:solidFill>
            <a:srgbClr val="A8C5DD"/>
          </a:solidFill>
          <a:ln w="12700">
            <a:solidFill>
              <a:srgbClr val="000000"/>
            </a:solidFill>
            <a:prstDash val="solid"/>
          </a:ln>
        </p:spPr>
      </p:sp>
      <p:sp>
        <p:nvSpPr>
          <p:cNvPr id="9" name="Text 7"/>
          <p:cNvSpPr/>
          <p:nvPr/>
        </p:nvSpPr>
        <p:spPr>
          <a:xfrm>
            <a:off x="457200" y="1938528"/>
            <a:ext cx="3840480" cy="329184"/>
          </a:xfrm>
          <a:prstGeom prst="rect">
            <a:avLst/>
          </a:prstGeom>
          <a:noFill/>
          <a:ln/>
        </p:spPr>
        <p:txBody>
          <a:bodyPr wrap="square" rtlCol="0" anchor="ctr"/>
          <a:lstStyle/>
          <a:p>
            <a:pPr algn="l" indent="0" marL="0">
              <a:buNone/>
            </a:pPr>
            <a:r>
              <a:rPr lang="en-US" sz="1400" dirty="0">
                <a:solidFill>
                  <a:srgbClr val="000000"/>
                </a:solidFill>
              </a:rPr>
              <a:t>C. Cookies</a:t>
            </a:r>
            <a:endParaRPr lang="en-US" sz="1400" dirty="0"/>
          </a:p>
        </p:txBody>
      </p:sp>
      <p:sp>
        <p:nvSpPr>
          <p:cNvPr id="10" name="Shape 8"/>
          <p:cNvSpPr/>
          <p:nvPr/>
        </p:nvSpPr>
        <p:spPr>
          <a:xfrm>
            <a:off x="4754880" y="1920240"/>
            <a:ext cx="4023360" cy="365760"/>
          </a:xfrm>
          <a:prstGeom prst="rect">
            <a:avLst>
              <a:gd name="adj" fmla="val 25000"/>
            </a:avLst>
          </a:prstGeom>
          <a:solidFill>
            <a:srgbClr val="A8C5DD"/>
          </a:solidFill>
          <a:ln w="12700">
            <a:solidFill>
              <a:srgbClr val="000000"/>
            </a:solidFill>
            <a:prstDash val="solid"/>
          </a:ln>
        </p:spPr>
      </p:sp>
      <p:sp>
        <p:nvSpPr>
          <p:cNvPr id="11" name="Text 9"/>
          <p:cNvSpPr/>
          <p:nvPr/>
        </p:nvSpPr>
        <p:spPr>
          <a:xfrm>
            <a:off x="4846320" y="1938528"/>
            <a:ext cx="3840480" cy="329184"/>
          </a:xfrm>
          <a:prstGeom prst="rect">
            <a:avLst/>
          </a:prstGeom>
          <a:noFill/>
          <a:ln/>
        </p:spPr>
        <p:txBody>
          <a:bodyPr wrap="square" rtlCol="0" anchor="ctr"/>
          <a:lstStyle/>
          <a:p>
            <a:pPr algn="l" indent="0" marL="0">
              <a:buNone/>
            </a:pPr>
            <a:r>
              <a:rPr lang="en-US" sz="1400" dirty="0">
                <a:solidFill>
                  <a:srgbClr val="000000"/>
                </a:solidFill>
              </a:rPr>
              <a:t>D. Ice cream</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16 - Answer</a:t>
            </a:r>
            <a:endParaRPr lang="en-US" sz="1300" dirty="0"/>
          </a:p>
        </p:txBody>
      </p:sp>
      <p:sp>
        <p:nvSpPr>
          <p:cNvPr id="3" name="Text 1"/>
          <p:cNvSpPr/>
          <p:nvPr/>
        </p:nvSpPr>
        <p:spPr>
          <a:xfrm>
            <a:off x="365760" y="777240"/>
            <a:ext cx="8412480" cy="457200"/>
          </a:xfrm>
          <a:prstGeom prst="rect">
            <a:avLst/>
          </a:prstGeom>
          <a:noFill/>
          <a:ln/>
        </p:spPr>
        <p:txBody>
          <a:bodyPr wrap="square" rtlCol="0" anchor="ctr"/>
          <a:lstStyle/>
          <a:p>
            <a:pPr indent="0" marL="0">
              <a:buNone/>
            </a:pPr>
            <a:r>
              <a:rPr lang="en-US" sz="1600" b="1" dirty="0">
                <a:solidFill>
                  <a:srgbClr val="FFFFFF"/>
                </a:solidFill>
              </a:rPr>
              <a:t>Name ONE ingredient that goes in the sandwich.</a:t>
            </a:r>
            <a:endParaRPr lang="en-US" sz="1600" dirty="0"/>
          </a:p>
        </p:txBody>
      </p:sp>
      <p:sp>
        <p:nvSpPr>
          <p:cNvPr id="4" name="Shape 2"/>
          <p:cNvSpPr/>
          <p:nvPr/>
        </p:nvSpPr>
        <p:spPr>
          <a:xfrm>
            <a:off x="365760" y="1417320"/>
            <a:ext cx="4023360" cy="365760"/>
          </a:xfrm>
          <a:prstGeom prst="rect">
            <a:avLst>
              <a:gd name="adj" fmla="val 25000"/>
            </a:avLst>
          </a:prstGeom>
          <a:solidFill>
            <a:srgbClr val="D5F4E6"/>
          </a:solidFill>
          <a:ln w="12700">
            <a:solidFill>
              <a:srgbClr val="27AE60"/>
            </a:solidFill>
            <a:prstDash val="solid"/>
          </a:ln>
        </p:spPr>
      </p:sp>
      <p:sp>
        <p:nvSpPr>
          <p:cNvPr id="5" name="Text 3"/>
          <p:cNvSpPr/>
          <p:nvPr/>
        </p:nvSpPr>
        <p:spPr>
          <a:xfrm>
            <a:off x="457200" y="1435608"/>
            <a:ext cx="3840480" cy="329184"/>
          </a:xfrm>
          <a:prstGeom prst="rect">
            <a:avLst/>
          </a:prstGeom>
          <a:noFill/>
          <a:ln/>
        </p:spPr>
        <p:txBody>
          <a:bodyPr wrap="square" rtlCol="0" anchor="ctr"/>
          <a:lstStyle/>
          <a:p>
            <a:pPr algn="l" indent="0" marL="0">
              <a:buNone/>
            </a:pPr>
            <a:r>
              <a:rPr lang="en-US" sz="1400" dirty="0">
                <a:solidFill>
                  <a:srgbClr val="000000"/>
                </a:solidFill>
              </a:rPr>
              <a:t>A. Peanut butter ✓</a:t>
            </a:r>
            <a:endParaRPr lang="en-US" sz="1400" dirty="0"/>
          </a:p>
        </p:txBody>
      </p:sp>
      <p:sp>
        <p:nvSpPr>
          <p:cNvPr id="6" name="Shape 4"/>
          <p:cNvSpPr/>
          <p:nvPr/>
        </p:nvSpPr>
        <p:spPr>
          <a:xfrm>
            <a:off x="4754880" y="1417320"/>
            <a:ext cx="4023360" cy="365760"/>
          </a:xfrm>
          <a:prstGeom prst="rect">
            <a:avLst>
              <a:gd name="adj" fmla="val 25000"/>
            </a:avLst>
          </a:prstGeom>
          <a:solidFill>
            <a:srgbClr val="A8C5DD"/>
          </a:solidFill>
          <a:ln w="12700">
            <a:solidFill>
              <a:srgbClr val="000000"/>
            </a:solidFill>
            <a:prstDash val="solid"/>
          </a:ln>
        </p:spPr>
      </p:sp>
      <p:sp>
        <p:nvSpPr>
          <p:cNvPr id="7" name="Text 5"/>
          <p:cNvSpPr/>
          <p:nvPr/>
        </p:nvSpPr>
        <p:spPr>
          <a:xfrm>
            <a:off x="4846320" y="1435608"/>
            <a:ext cx="3840480" cy="329184"/>
          </a:xfrm>
          <a:prstGeom prst="rect">
            <a:avLst/>
          </a:prstGeom>
          <a:noFill/>
          <a:ln/>
        </p:spPr>
        <p:txBody>
          <a:bodyPr wrap="square" rtlCol="0" anchor="ctr"/>
          <a:lstStyle/>
          <a:p>
            <a:pPr algn="l" indent="0" marL="0">
              <a:buNone/>
            </a:pPr>
            <a:r>
              <a:rPr lang="en-US" sz="1400" dirty="0">
                <a:solidFill>
                  <a:srgbClr val="000000"/>
                </a:solidFill>
              </a:rPr>
              <a:t>B. Milk</a:t>
            </a:r>
            <a:endParaRPr lang="en-US" sz="1400" dirty="0"/>
          </a:p>
        </p:txBody>
      </p:sp>
      <p:sp>
        <p:nvSpPr>
          <p:cNvPr id="8" name="Shape 6"/>
          <p:cNvSpPr/>
          <p:nvPr/>
        </p:nvSpPr>
        <p:spPr>
          <a:xfrm>
            <a:off x="365760" y="1920240"/>
            <a:ext cx="4023360" cy="365760"/>
          </a:xfrm>
          <a:prstGeom prst="rect">
            <a:avLst>
              <a:gd name="adj" fmla="val 25000"/>
            </a:avLst>
          </a:prstGeom>
          <a:solidFill>
            <a:srgbClr val="A8C5DD"/>
          </a:solidFill>
          <a:ln w="12700">
            <a:solidFill>
              <a:srgbClr val="000000"/>
            </a:solidFill>
            <a:prstDash val="solid"/>
          </a:ln>
        </p:spPr>
      </p:sp>
      <p:sp>
        <p:nvSpPr>
          <p:cNvPr id="9" name="Text 7"/>
          <p:cNvSpPr/>
          <p:nvPr/>
        </p:nvSpPr>
        <p:spPr>
          <a:xfrm>
            <a:off x="457200" y="1938528"/>
            <a:ext cx="3840480" cy="329184"/>
          </a:xfrm>
          <a:prstGeom prst="rect">
            <a:avLst/>
          </a:prstGeom>
          <a:noFill/>
          <a:ln/>
        </p:spPr>
        <p:txBody>
          <a:bodyPr wrap="square" rtlCol="0" anchor="ctr"/>
          <a:lstStyle/>
          <a:p>
            <a:pPr algn="l" indent="0" marL="0">
              <a:buNone/>
            </a:pPr>
            <a:r>
              <a:rPr lang="en-US" sz="1400" dirty="0">
                <a:solidFill>
                  <a:srgbClr val="000000"/>
                </a:solidFill>
              </a:rPr>
              <a:t>C. Cookies</a:t>
            </a:r>
            <a:endParaRPr lang="en-US" sz="1400" dirty="0"/>
          </a:p>
        </p:txBody>
      </p:sp>
      <p:sp>
        <p:nvSpPr>
          <p:cNvPr id="10" name="Shape 8"/>
          <p:cNvSpPr/>
          <p:nvPr/>
        </p:nvSpPr>
        <p:spPr>
          <a:xfrm>
            <a:off x="4754880" y="1920240"/>
            <a:ext cx="4023360" cy="365760"/>
          </a:xfrm>
          <a:prstGeom prst="rect">
            <a:avLst>
              <a:gd name="adj" fmla="val 25000"/>
            </a:avLst>
          </a:prstGeom>
          <a:solidFill>
            <a:srgbClr val="A8C5DD"/>
          </a:solidFill>
          <a:ln w="12700">
            <a:solidFill>
              <a:srgbClr val="000000"/>
            </a:solidFill>
            <a:prstDash val="solid"/>
          </a:ln>
        </p:spPr>
      </p:sp>
      <p:sp>
        <p:nvSpPr>
          <p:cNvPr id="11" name="Text 9"/>
          <p:cNvSpPr/>
          <p:nvPr/>
        </p:nvSpPr>
        <p:spPr>
          <a:xfrm>
            <a:off x="4846320" y="1938528"/>
            <a:ext cx="3840480" cy="329184"/>
          </a:xfrm>
          <a:prstGeom prst="rect">
            <a:avLst/>
          </a:prstGeom>
          <a:noFill/>
          <a:ln/>
        </p:spPr>
        <p:txBody>
          <a:bodyPr wrap="square" rtlCol="0" anchor="ctr"/>
          <a:lstStyle/>
          <a:p>
            <a:pPr algn="l" indent="0" marL="0">
              <a:buNone/>
            </a:pPr>
            <a:r>
              <a:rPr lang="en-US" sz="1400" dirty="0">
                <a:solidFill>
                  <a:srgbClr val="000000"/>
                </a:solidFill>
              </a:rPr>
              <a:t>D. Ice cream</a:t>
            </a:r>
            <a:endParaRPr lang="en-US" sz="1400" dirty="0"/>
          </a:p>
        </p:txBody>
      </p:sp>
      <p:sp>
        <p:nvSpPr>
          <p:cNvPr id="12" name="Text 10"/>
          <p:cNvSpPr/>
          <p:nvPr/>
        </p:nvSpPr>
        <p:spPr>
          <a:xfrm>
            <a:off x="365760" y="2331720"/>
            <a:ext cx="8412480" cy="320040"/>
          </a:xfrm>
          <a:prstGeom prst="rect">
            <a:avLst/>
          </a:prstGeom>
          <a:noFill/>
          <a:ln/>
        </p:spPr>
        <p:txBody>
          <a:bodyPr wrap="square" rtlCol="0" anchor="ctr"/>
          <a:lstStyle/>
          <a:p>
            <a:pPr indent="0" marL="0">
              <a:buNone/>
            </a:pPr>
            <a:r>
              <a:rPr lang="en-US" sz="1400" b="1" dirty="0">
                <a:solidFill>
                  <a:srgbClr val="27AE60"/>
                </a:solidFill>
              </a:rPr>
              <a:t>Correct!</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17 of 20</a:t>
            </a:r>
            <a:endParaRPr lang="en-US" sz="1300" dirty="0"/>
          </a:p>
        </p:txBody>
      </p:sp>
      <p:sp>
        <p:nvSpPr>
          <p:cNvPr id="3" name="Text 1"/>
          <p:cNvSpPr/>
          <p:nvPr/>
        </p:nvSpPr>
        <p:spPr>
          <a:xfrm>
            <a:off x="365760" y="777240"/>
            <a:ext cx="8412480" cy="457200"/>
          </a:xfrm>
          <a:prstGeom prst="rect">
            <a:avLst/>
          </a:prstGeom>
          <a:noFill/>
          <a:ln/>
        </p:spPr>
        <p:txBody>
          <a:bodyPr wrap="square" rtlCol="0" anchor="ctr"/>
          <a:lstStyle/>
          <a:p>
            <a:pPr indent="0" marL="0">
              <a:buNone/>
            </a:pPr>
            <a:r>
              <a:rPr lang="en-US" sz="1600" b="1" dirty="0">
                <a:solidFill>
                  <a:srgbClr val="FFFFFF"/>
                </a:solidFill>
              </a:rPr>
              <a:t>What do you do LAST to finish the sandwich?</a:t>
            </a:r>
            <a:endParaRPr lang="en-US" sz="1600" dirty="0"/>
          </a:p>
          <a:p>
            <a:pPr indent="0" marL="0">
              <a:buNone/>
            </a:pPr>
            <a:endParaRPr lang="en-US" sz="1600" dirty="0"/>
          </a:p>
          <a:p>
            <a:pPr indent="0" marL="0">
              <a:buNone/>
            </a:pPr>
            <a:r>
              <a:rPr lang="en-US" sz="1600" b="1" dirty="0">
                <a:solidFill>
                  <a:srgbClr val="FFFFFF"/>
                </a:solidFill>
              </a:rPr>
              <a:t>(Guardian: Read the passage one more time.)</a:t>
            </a:r>
            <a:endParaRPr lang="en-US" sz="1600" dirty="0"/>
          </a:p>
        </p:txBody>
      </p:sp>
      <p:sp>
        <p:nvSpPr>
          <p:cNvPr id="4" name="Shape 2"/>
          <p:cNvSpPr/>
          <p:nvPr/>
        </p:nvSpPr>
        <p:spPr>
          <a:xfrm>
            <a:off x="365760" y="1417320"/>
            <a:ext cx="4023360" cy="365760"/>
          </a:xfrm>
          <a:prstGeom prst="rect">
            <a:avLst>
              <a:gd name="adj" fmla="val 25000"/>
            </a:avLst>
          </a:prstGeom>
          <a:solidFill>
            <a:srgbClr val="A8C5DD"/>
          </a:solidFill>
          <a:ln w="12700">
            <a:solidFill>
              <a:srgbClr val="000000"/>
            </a:solidFill>
            <a:prstDash val="solid"/>
          </a:ln>
        </p:spPr>
      </p:sp>
      <p:sp>
        <p:nvSpPr>
          <p:cNvPr id="5" name="Text 3"/>
          <p:cNvSpPr/>
          <p:nvPr/>
        </p:nvSpPr>
        <p:spPr>
          <a:xfrm>
            <a:off x="457200" y="1435608"/>
            <a:ext cx="3840480" cy="329184"/>
          </a:xfrm>
          <a:prstGeom prst="rect">
            <a:avLst/>
          </a:prstGeom>
          <a:noFill/>
          <a:ln/>
        </p:spPr>
        <p:txBody>
          <a:bodyPr wrap="square" rtlCol="0" anchor="ctr"/>
          <a:lstStyle/>
          <a:p>
            <a:pPr algn="l" indent="0" marL="0">
              <a:buNone/>
            </a:pPr>
            <a:r>
              <a:rPr lang="en-US" sz="1400" dirty="0">
                <a:solidFill>
                  <a:srgbClr val="000000"/>
                </a:solidFill>
              </a:rPr>
              <a:t>A. Add the filling</a:t>
            </a:r>
            <a:endParaRPr lang="en-US" sz="1400" dirty="0"/>
          </a:p>
        </p:txBody>
      </p:sp>
      <p:sp>
        <p:nvSpPr>
          <p:cNvPr id="6" name="Shape 4"/>
          <p:cNvSpPr/>
          <p:nvPr/>
        </p:nvSpPr>
        <p:spPr>
          <a:xfrm>
            <a:off x="4754880" y="1417320"/>
            <a:ext cx="4023360" cy="365760"/>
          </a:xfrm>
          <a:prstGeom prst="rect">
            <a:avLst>
              <a:gd name="adj" fmla="val 25000"/>
            </a:avLst>
          </a:prstGeom>
          <a:solidFill>
            <a:srgbClr val="A8C5DD"/>
          </a:solidFill>
          <a:ln w="12700">
            <a:solidFill>
              <a:srgbClr val="000000"/>
            </a:solidFill>
            <a:prstDash val="solid"/>
          </a:ln>
        </p:spPr>
      </p:sp>
      <p:sp>
        <p:nvSpPr>
          <p:cNvPr id="7" name="Text 5"/>
          <p:cNvSpPr/>
          <p:nvPr/>
        </p:nvSpPr>
        <p:spPr>
          <a:xfrm>
            <a:off x="4846320" y="1435608"/>
            <a:ext cx="3840480" cy="329184"/>
          </a:xfrm>
          <a:prstGeom prst="rect">
            <a:avLst/>
          </a:prstGeom>
          <a:noFill/>
          <a:ln/>
        </p:spPr>
        <p:txBody>
          <a:bodyPr wrap="square" rtlCol="0" anchor="ctr"/>
          <a:lstStyle/>
          <a:p>
            <a:pPr algn="l" indent="0" marL="0">
              <a:buNone/>
            </a:pPr>
            <a:r>
              <a:rPr lang="en-US" sz="1400" dirty="0">
                <a:solidFill>
                  <a:srgbClr val="000000"/>
                </a:solidFill>
              </a:rPr>
              <a:t>B. Get the bread</a:t>
            </a:r>
            <a:endParaRPr lang="en-US" sz="1400" dirty="0"/>
          </a:p>
        </p:txBody>
      </p:sp>
      <p:sp>
        <p:nvSpPr>
          <p:cNvPr id="8" name="Shape 6"/>
          <p:cNvSpPr/>
          <p:nvPr/>
        </p:nvSpPr>
        <p:spPr>
          <a:xfrm>
            <a:off x="365760" y="1920240"/>
            <a:ext cx="4023360" cy="365760"/>
          </a:xfrm>
          <a:prstGeom prst="rect">
            <a:avLst>
              <a:gd name="adj" fmla="val 25000"/>
            </a:avLst>
          </a:prstGeom>
          <a:solidFill>
            <a:srgbClr val="A8C5DD"/>
          </a:solidFill>
          <a:ln w="12700">
            <a:solidFill>
              <a:srgbClr val="000000"/>
            </a:solidFill>
            <a:prstDash val="solid"/>
          </a:ln>
        </p:spPr>
      </p:sp>
      <p:sp>
        <p:nvSpPr>
          <p:cNvPr id="9" name="Text 7"/>
          <p:cNvSpPr/>
          <p:nvPr/>
        </p:nvSpPr>
        <p:spPr>
          <a:xfrm>
            <a:off x="457200" y="1938528"/>
            <a:ext cx="3840480" cy="329184"/>
          </a:xfrm>
          <a:prstGeom prst="rect">
            <a:avLst/>
          </a:prstGeom>
          <a:noFill/>
          <a:ln/>
        </p:spPr>
        <p:txBody>
          <a:bodyPr wrap="square" rtlCol="0" anchor="ctr"/>
          <a:lstStyle/>
          <a:p>
            <a:pPr algn="l" indent="0" marL="0">
              <a:buNone/>
            </a:pPr>
            <a:r>
              <a:rPr lang="en-US" sz="1400" dirty="0">
                <a:solidFill>
                  <a:srgbClr val="000000"/>
                </a:solidFill>
              </a:rPr>
              <a:t>C. Cut it in half and put it on a plate</a:t>
            </a:r>
            <a:endParaRPr lang="en-US" sz="1400" dirty="0"/>
          </a:p>
        </p:txBody>
      </p:sp>
      <p:sp>
        <p:nvSpPr>
          <p:cNvPr id="10" name="Shape 8"/>
          <p:cNvSpPr/>
          <p:nvPr/>
        </p:nvSpPr>
        <p:spPr>
          <a:xfrm>
            <a:off x="4754880" y="1920240"/>
            <a:ext cx="4023360" cy="365760"/>
          </a:xfrm>
          <a:prstGeom prst="rect">
            <a:avLst>
              <a:gd name="adj" fmla="val 25000"/>
            </a:avLst>
          </a:prstGeom>
          <a:solidFill>
            <a:srgbClr val="A8C5DD"/>
          </a:solidFill>
          <a:ln w="12700">
            <a:solidFill>
              <a:srgbClr val="000000"/>
            </a:solidFill>
            <a:prstDash val="solid"/>
          </a:ln>
        </p:spPr>
      </p:sp>
      <p:sp>
        <p:nvSpPr>
          <p:cNvPr id="11" name="Text 9"/>
          <p:cNvSpPr/>
          <p:nvPr/>
        </p:nvSpPr>
        <p:spPr>
          <a:xfrm>
            <a:off x="4846320" y="1938528"/>
            <a:ext cx="3840480" cy="329184"/>
          </a:xfrm>
          <a:prstGeom prst="rect">
            <a:avLst/>
          </a:prstGeom>
          <a:noFill/>
          <a:ln/>
        </p:spPr>
        <p:txBody>
          <a:bodyPr wrap="square" rtlCol="0" anchor="ctr"/>
          <a:lstStyle/>
          <a:p>
            <a:pPr algn="l" indent="0" marL="0">
              <a:buNone/>
            </a:pPr>
            <a:r>
              <a:rPr lang="en-US" sz="1400" dirty="0">
                <a:solidFill>
                  <a:srgbClr val="000000"/>
                </a:solidFill>
              </a:rPr>
              <a:t>D. Spread peanut butter</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2743200" y="274320"/>
            <a:ext cx="3657600" cy="320040"/>
          </a:xfrm>
          <a:prstGeom prst="rect">
            <a:avLst>
              <a:gd name="adj" fmla="val 57143"/>
            </a:avLst>
          </a:prstGeom>
          <a:solidFill>
            <a:srgbClr val="FFD700"/>
          </a:solidFill>
          <a:ln/>
        </p:spPr>
        <p:txBody>
          <a:bodyPr wrap="square" rtlCol="0" anchor="ctr"/>
          <a:lstStyle/>
          <a:p>
            <a:pPr algn="ctr" indent="0" marL="0">
              <a:buNone/>
            </a:pPr>
            <a:r>
              <a:rPr lang="en-US" sz="1300" b="1" dirty="0">
                <a:solidFill>
                  <a:srgbClr val="000000"/>
                </a:solidFill>
              </a:rPr>
              <a:t>Question 17 - Answer</a:t>
            </a:r>
            <a:endParaRPr lang="en-US" sz="1300" dirty="0"/>
          </a:p>
        </p:txBody>
      </p:sp>
      <p:sp>
        <p:nvSpPr>
          <p:cNvPr id="3" name="Text 1"/>
          <p:cNvSpPr/>
          <p:nvPr/>
        </p:nvSpPr>
        <p:spPr>
          <a:xfrm>
            <a:off x="365760" y="777240"/>
            <a:ext cx="8412480" cy="457200"/>
          </a:xfrm>
          <a:prstGeom prst="rect">
            <a:avLst/>
          </a:prstGeom>
          <a:noFill/>
          <a:ln/>
        </p:spPr>
        <p:txBody>
          <a:bodyPr wrap="square" rtlCol="0" anchor="ctr"/>
          <a:lstStyle/>
          <a:p>
            <a:pPr indent="0" marL="0">
              <a:buNone/>
            </a:pPr>
            <a:r>
              <a:rPr lang="en-US" sz="1600" b="1" dirty="0">
                <a:solidFill>
                  <a:srgbClr val="FFFFFF"/>
                </a:solidFill>
              </a:rPr>
              <a:t>What do you do LAST to finish the sandwich?</a:t>
            </a:r>
            <a:endParaRPr lang="en-US" sz="1600" dirty="0"/>
          </a:p>
        </p:txBody>
      </p:sp>
      <p:sp>
        <p:nvSpPr>
          <p:cNvPr id="4" name="Shape 2"/>
          <p:cNvSpPr/>
          <p:nvPr/>
        </p:nvSpPr>
        <p:spPr>
          <a:xfrm>
            <a:off x="365760" y="1417320"/>
            <a:ext cx="4023360" cy="365760"/>
          </a:xfrm>
          <a:prstGeom prst="rect">
            <a:avLst>
              <a:gd name="adj" fmla="val 25000"/>
            </a:avLst>
          </a:prstGeom>
          <a:solidFill>
            <a:srgbClr val="A8C5DD"/>
          </a:solidFill>
          <a:ln w="12700">
            <a:solidFill>
              <a:srgbClr val="000000"/>
            </a:solidFill>
            <a:prstDash val="solid"/>
          </a:ln>
        </p:spPr>
      </p:sp>
      <p:sp>
        <p:nvSpPr>
          <p:cNvPr id="5" name="Text 3"/>
          <p:cNvSpPr/>
          <p:nvPr/>
        </p:nvSpPr>
        <p:spPr>
          <a:xfrm>
            <a:off x="457200" y="1435608"/>
            <a:ext cx="3840480" cy="329184"/>
          </a:xfrm>
          <a:prstGeom prst="rect">
            <a:avLst/>
          </a:prstGeom>
          <a:noFill/>
          <a:ln/>
        </p:spPr>
        <p:txBody>
          <a:bodyPr wrap="square" rtlCol="0" anchor="ctr"/>
          <a:lstStyle/>
          <a:p>
            <a:pPr algn="l" indent="0" marL="0">
              <a:buNone/>
            </a:pPr>
            <a:r>
              <a:rPr lang="en-US" sz="1400" dirty="0">
                <a:solidFill>
                  <a:srgbClr val="000000"/>
                </a:solidFill>
              </a:rPr>
              <a:t>A. Add the filling</a:t>
            </a:r>
            <a:endParaRPr lang="en-US" sz="1400" dirty="0"/>
          </a:p>
        </p:txBody>
      </p:sp>
      <p:sp>
        <p:nvSpPr>
          <p:cNvPr id="6" name="Shape 4"/>
          <p:cNvSpPr/>
          <p:nvPr/>
        </p:nvSpPr>
        <p:spPr>
          <a:xfrm>
            <a:off x="4754880" y="1417320"/>
            <a:ext cx="4023360" cy="365760"/>
          </a:xfrm>
          <a:prstGeom prst="rect">
            <a:avLst>
              <a:gd name="adj" fmla="val 25000"/>
            </a:avLst>
          </a:prstGeom>
          <a:solidFill>
            <a:srgbClr val="A8C5DD"/>
          </a:solidFill>
          <a:ln w="12700">
            <a:solidFill>
              <a:srgbClr val="000000"/>
            </a:solidFill>
            <a:prstDash val="solid"/>
          </a:ln>
        </p:spPr>
      </p:sp>
      <p:sp>
        <p:nvSpPr>
          <p:cNvPr id="7" name="Text 5"/>
          <p:cNvSpPr/>
          <p:nvPr/>
        </p:nvSpPr>
        <p:spPr>
          <a:xfrm>
            <a:off x="4846320" y="1435608"/>
            <a:ext cx="3840480" cy="329184"/>
          </a:xfrm>
          <a:prstGeom prst="rect">
            <a:avLst/>
          </a:prstGeom>
          <a:noFill/>
          <a:ln/>
        </p:spPr>
        <p:txBody>
          <a:bodyPr wrap="square" rtlCol="0" anchor="ctr"/>
          <a:lstStyle/>
          <a:p>
            <a:pPr algn="l" indent="0" marL="0">
              <a:buNone/>
            </a:pPr>
            <a:r>
              <a:rPr lang="en-US" sz="1400" dirty="0">
                <a:solidFill>
                  <a:srgbClr val="000000"/>
                </a:solidFill>
              </a:rPr>
              <a:t>B. Get the bread</a:t>
            </a:r>
            <a:endParaRPr lang="en-US" sz="1400" dirty="0"/>
          </a:p>
        </p:txBody>
      </p:sp>
      <p:sp>
        <p:nvSpPr>
          <p:cNvPr id="8" name="Shape 6"/>
          <p:cNvSpPr/>
          <p:nvPr/>
        </p:nvSpPr>
        <p:spPr>
          <a:xfrm>
            <a:off x="365760" y="1920240"/>
            <a:ext cx="4023360" cy="365760"/>
          </a:xfrm>
          <a:prstGeom prst="rect">
            <a:avLst>
              <a:gd name="adj" fmla="val 25000"/>
            </a:avLst>
          </a:prstGeom>
          <a:solidFill>
            <a:srgbClr val="D5F4E6"/>
          </a:solidFill>
          <a:ln w="12700">
            <a:solidFill>
              <a:srgbClr val="27AE60"/>
            </a:solidFill>
            <a:prstDash val="solid"/>
          </a:ln>
        </p:spPr>
      </p:sp>
      <p:sp>
        <p:nvSpPr>
          <p:cNvPr id="9" name="Text 7"/>
          <p:cNvSpPr/>
          <p:nvPr/>
        </p:nvSpPr>
        <p:spPr>
          <a:xfrm>
            <a:off x="457200" y="1938528"/>
            <a:ext cx="3840480" cy="329184"/>
          </a:xfrm>
          <a:prstGeom prst="rect">
            <a:avLst/>
          </a:prstGeom>
          <a:noFill/>
          <a:ln/>
        </p:spPr>
        <p:txBody>
          <a:bodyPr wrap="square" rtlCol="0" anchor="ctr"/>
          <a:lstStyle/>
          <a:p>
            <a:pPr algn="l" indent="0" marL="0">
              <a:buNone/>
            </a:pPr>
            <a:r>
              <a:rPr lang="en-US" sz="1400" dirty="0">
                <a:solidFill>
                  <a:srgbClr val="000000"/>
                </a:solidFill>
              </a:rPr>
              <a:t>C. Cut it in half and put it on a plate ✓</a:t>
            </a:r>
            <a:endParaRPr lang="en-US" sz="1400" dirty="0"/>
          </a:p>
        </p:txBody>
      </p:sp>
      <p:sp>
        <p:nvSpPr>
          <p:cNvPr id="10" name="Shape 8"/>
          <p:cNvSpPr/>
          <p:nvPr/>
        </p:nvSpPr>
        <p:spPr>
          <a:xfrm>
            <a:off x="4754880" y="1920240"/>
            <a:ext cx="4023360" cy="365760"/>
          </a:xfrm>
          <a:prstGeom prst="rect">
            <a:avLst>
              <a:gd name="adj" fmla="val 25000"/>
            </a:avLst>
          </a:prstGeom>
          <a:solidFill>
            <a:srgbClr val="A8C5DD"/>
          </a:solidFill>
          <a:ln w="12700">
            <a:solidFill>
              <a:srgbClr val="000000"/>
            </a:solidFill>
            <a:prstDash val="solid"/>
          </a:ln>
        </p:spPr>
      </p:sp>
      <p:sp>
        <p:nvSpPr>
          <p:cNvPr id="11" name="Text 9"/>
          <p:cNvSpPr/>
          <p:nvPr/>
        </p:nvSpPr>
        <p:spPr>
          <a:xfrm>
            <a:off x="4846320" y="1938528"/>
            <a:ext cx="3840480" cy="329184"/>
          </a:xfrm>
          <a:prstGeom prst="rect">
            <a:avLst/>
          </a:prstGeom>
          <a:noFill/>
          <a:ln/>
        </p:spPr>
        <p:txBody>
          <a:bodyPr wrap="square" rtlCol="0" anchor="ctr"/>
          <a:lstStyle/>
          <a:p>
            <a:pPr algn="l" indent="0" marL="0">
              <a:buNone/>
            </a:pPr>
            <a:r>
              <a:rPr lang="en-US" sz="1400" dirty="0">
                <a:solidFill>
                  <a:srgbClr val="000000"/>
                </a:solidFill>
              </a:rPr>
              <a:t>D. Spread peanut butter</a:t>
            </a:r>
            <a:endParaRPr lang="en-US" sz="1400" dirty="0"/>
          </a:p>
        </p:txBody>
      </p:sp>
      <p:sp>
        <p:nvSpPr>
          <p:cNvPr id="12" name="Text 10"/>
          <p:cNvSpPr/>
          <p:nvPr/>
        </p:nvSpPr>
        <p:spPr>
          <a:xfrm>
            <a:off x="365760" y="2331720"/>
            <a:ext cx="8412480" cy="320040"/>
          </a:xfrm>
          <a:prstGeom prst="rect">
            <a:avLst/>
          </a:prstGeom>
          <a:noFill/>
          <a:ln/>
        </p:spPr>
        <p:txBody>
          <a:bodyPr wrap="square" rtlCol="0" anchor="ctr"/>
          <a:lstStyle/>
          <a:p>
            <a:pPr indent="0" marL="0">
              <a:buNone/>
            </a:pPr>
            <a:r>
              <a:rPr lang="en-US" sz="1400" b="1" dirty="0">
                <a:solidFill>
                  <a:srgbClr val="27AE60"/>
                </a:solidFill>
              </a:rPr>
              <a:t>Correct!</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5C2E3A"/>
        </a:solidFill>
      </p:bgPr>
    </p:bg>
    <p:spTree>
      <p:nvGrpSpPr>
        <p:cNvPr id="1" name=""/>
        <p:cNvGrpSpPr/>
        <p:nvPr/>
      </p:nvGrpSpPr>
      <p:grpSpPr>
        <a:xfrm>
          <a:off x="0" y="0"/>
          <a:ext cx="0" cy="0"/>
          <a:chOff x="0" y="0"/>
          <a:chExt cx="0" cy="0"/>
        </a:xfrm>
      </p:grpSpPr>
      <p:sp>
        <p:nvSpPr>
          <p:cNvPr id="2" name="Text 0"/>
          <p:cNvSpPr/>
          <p:nvPr/>
        </p:nvSpPr>
        <p:spPr>
          <a:xfrm>
            <a:off x="2286000" y="274320"/>
            <a:ext cx="3200400" cy="320040"/>
          </a:xfrm>
          <a:prstGeom prst="rect">
            <a:avLst>
              <a:gd name="adj" fmla="val 57143"/>
            </a:avLst>
          </a:prstGeom>
          <a:solidFill>
            <a:srgbClr val="E8B4A8"/>
          </a:solidFill>
          <a:ln/>
        </p:spPr>
        <p:txBody>
          <a:bodyPr wrap="square" rtlCol="0" anchor="ctr"/>
          <a:lstStyle/>
          <a:p>
            <a:pPr algn="ctr" indent="0" marL="0">
              <a:buNone/>
            </a:pPr>
            <a:r>
              <a:rPr lang="en-US" sz="1300" b="1" dirty="0">
                <a:solidFill>
                  <a:srgbClr val="000000"/>
                </a:solidFill>
              </a:rPr>
              <a:t>Question 18 of 20</a:t>
            </a:r>
            <a:endParaRPr lang="en-US" sz="1300" dirty="0"/>
          </a:p>
        </p:txBody>
      </p:sp>
      <p:sp>
        <p:nvSpPr>
          <p:cNvPr id="3" name="Text 1"/>
          <p:cNvSpPr/>
          <p:nvPr/>
        </p:nvSpPr>
        <p:spPr>
          <a:xfrm>
            <a:off x="5669280" y="274320"/>
            <a:ext cx="1645920" cy="320040"/>
          </a:xfrm>
          <a:prstGeom prst="rect">
            <a:avLst>
              <a:gd name="adj" fmla="val 57143"/>
            </a:avLst>
          </a:prstGeom>
          <a:solidFill>
            <a:srgbClr val="E8B4A8"/>
          </a:solidFill>
          <a:ln/>
        </p:spPr>
        <p:txBody>
          <a:bodyPr wrap="square" rtlCol="0" anchor="ctr"/>
          <a:lstStyle/>
          <a:p>
            <a:pPr algn="ctr" indent="0" marL="0">
              <a:buNone/>
            </a:pPr>
            <a:r>
              <a:rPr lang="en-US" sz="1100" b="1" dirty="0">
                <a:solidFill>
                  <a:srgbClr val="000000"/>
                </a:solidFill>
              </a:rPr>
              <a:t>🔐 GUARDIAN</a:t>
            </a:r>
            <a:endParaRPr lang="en-US" sz="1100" dirty="0"/>
          </a:p>
        </p:txBody>
      </p:sp>
      <p:sp>
        <p:nvSpPr>
          <p:cNvPr id="4" name="Shape 2"/>
          <p:cNvSpPr/>
          <p:nvPr/>
        </p:nvSpPr>
        <p:spPr>
          <a:xfrm>
            <a:off x="365760" y="777240"/>
            <a:ext cx="8412480" cy="731520"/>
          </a:xfrm>
          <a:prstGeom prst="rect">
            <a:avLst/>
          </a:prstGeom>
          <a:solidFill>
            <a:srgbClr val="E8B4A8"/>
          </a:solidFill>
          <a:ln w="12700">
            <a:solidFill>
              <a:srgbClr val="000000"/>
            </a:solidFill>
            <a:prstDash val="solid"/>
          </a:ln>
        </p:spPr>
      </p:sp>
      <p:sp>
        <p:nvSpPr>
          <p:cNvPr id="5" name="Text 3"/>
          <p:cNvSpPr/>
          <p:nvPr/>
        </p:nvSpPr>
        <p:spPr>
          <a:xfrm>
            <a:off x="457200" y="822960"/>
            <a:ext cx="8229600" cy="640080"/>
          </a:xfrm>
          <a:prstGeom prst="rect">
            <a:avLst/>
          </a:prstGeom>
          <a:noFill/>
          <a:ln/>
        </p:spPr>
        <p:txBody>
          <a:bodyPr wrap="square" rtlCol="0" anchor="ctr"/>
          <a:lstStyle/>
          <a:p>
            <a:pPr indent="0" marL="0">
              <a:buNone/>
            </a:pPr>
            <a:r>
              <a:rPr lang="en-US" sz="1200" b="1" dirty="0">
                <a:solidFill>
                  <a:srgbClr val="000000"/>
                </a:solidFill>
              </a:rPr>
              <a:t>Guardian: Read the passage one final time. Ask: 'Can you tell me the steps in the right order?'</a:t>
            </a:r>
            <a:endParaRPr lang="en-US" sz="1200" dirty="0"/>
          </a:p>
        </p:txBody>
      </p:sp>
      <p:sp>
        <p:nvSpPr>
          <p:cNvPr id="6" name="Text 4"/>
          <p:cNvSpPr/>
          <p:nvPr/>
        </p:nvSpPr>
        <p:spPr>
          <a:xfrm>
            <a:off x="365760" y="1691640"/>
            <a:ext cx="8412480" cy="457200"/>
          </a:xfrm>
          <a:prstGeom prst="rect">
            <a:avLst/>
          </a:prstGeom>
          <a:noFill/>
          <a:ln/>
        </p:spPr>
        <p:txBody>
          <a:bodyPr wrap="square" rtlCol="0" anchor="ctr"/>
          <a:lstStyle/>
          <a:p>
            <a:pPr indent="0" marL="0">
              <a:buNone/>
            </a:pPr>
            <a:r>
              <a:rPr lang="en-US" sz="1600" b="1" dirty="0">
                <a:solidFill>
                  <a:srgbClr val="F5E6D3"/>
                </a:solidFill>
              </a:rPr>
              <a:t>Can your child retell the steps in the correct order?</a:t>
            </a:r>
            <a:endParaRPr lang="en-US" sz="1600" dirty="0"/>
          </a:p>
        </p:txBody>
      </p:sp>
      <p:sp>
        <p:nvSpPr>
          <p:cNvPr id="7" name="Shape 5"/>
          <p:cNvSpPr/>
          <p:nvPr/>
        </p:nvSpPr>
        <p:spPr>
          <a:xfrm>
            <a:off x="365760" y="2331720"/>
            <a:ext cx="8229600" cy="365760"/>
          </a:xfrm>
          <a:prstGeom prst="rect">
            <a:avLst>
              <a:gd name="adj" fmla="val 25000"/>
            </a:avLst>
          </a:prstGeom>
          <a:solidFill>
            <a:srgbClr val="C9A89A"/>
          </a:solidFill>
          <a:ln w="12700">
            <a:solidFill>
              <a:srgbClr val="000000"/>
            </a:solidFill>
            <a:prstDash val="solid"/>
          </a:ln>
        </p:spPr>
      </p:sp>
      <p:sp>
        <p:nvSpPr>
          <p:cNvPr id="8" name="Text 6"/>
          <p:cNvSpPr/>
          <p:nvPr/>
        </p:nvSpPr>
        <p:spPr>
          <a:xfrm>
            <a:off x="457200" y="2350008"/>
            <a:ext cx="8046720" cy="329184"/>
          </a:xfrm>
          <a:prstGeom prst="rect">
            <a:avLst/>
          </a:prstGeom>
          <a:noFill/>
          <a:ln/>
        </p:spPr>
        <p:txBody>
          <a:bodyPr wrap="square" rtlCol="0" anchor="ctr"/>
          <a:lstStyle/>
          <a:p>
            <a:pPr algn="l" indent="0" marL="0">
              <a:buNone/>
            </a:pPr>
            <a:r>
              <a:rPr lang="en-US" sz="1400" dirty="0">
                <a:solidFill>
                  <a:srgbClr val="000000"/>
                </a:solidFill>
              </a:rPr>
              <a:t>A. PASS - Child can retell most or all steps in correct order</a:t>
            </a:r>
            <a:endParaRPr lang="en-US" sz="1400" dirty="0"/>
          </a:p>
        </p:txBody>
      </p:sp>
      <p:sp>
        <p:nvSpPr>
          <p:cNvPr id="9" name="Shape 7"/>
          <p:cNvSpPr/>
          <p:nvPr/>
        </p:nvSpPr>
        <p:spPr>
          <a:xfrm>
            <a:off x="365760" y="2807208"/>
            <a:ext cx="8229600" cy="365760"/>
          </a:xfrm>
          <a:prstGeom prst="rect">
            <a:avLst>
              <a:gd name="adj" fmla="val 25000"/>
            </a:avLst>
          </a:prstGeom>
          <a:solidFill>
            <a:srgbClr val="C9A89A"/>
          </a:solidFill>
          <a:ln w="12700">
            <a:solidFill>
              <a:srgbClr val="000000"/>
            </a:solidFill>
            <a:prstDash val="solid"/>
          </a:ln>
        </p:spPr>
      </p:sp>
      <p:sp>
        <p:nvSpPr>
          <p:cNvPr id="10" name="Text 8"/>
          <p:cNvSpPr/>
          <p:nvPr/>
        </p:nvSpPr>
        <p:spPr>
          <a:xfrm>
            <a:off x="457200" y="2825496"/>
            <a:ext cx="8046720" cy="329184"/>
          </a:xfrm>
          <a:prstGeom prst="rect">
            <a:avLst/>
          </a:prstGeom>
          <a:noFill/>
          <a:ln/>
        </p:spPr>
        <p:txBody>
          <a:bodyPr wrap="square" rtlCol="0" anchor="ctr"/>
          <a:lstStyle/>
          <a:p>
            <a:pPr algn="l" indent="0" marL="0">
              <a:buNone/>
            </a:pPr>
            <a:r>
              <a:rPr lang="en-US" sz="1400" dirty="0">
                <a:solidFill>
                  <a:srgbClr val="000000"/>
                </a:solidFill>
              </a:rPr>
              <a:t>B. FAIL - Child has difficulty with sequence or remembering steps</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5C2E3A"/>
        </a:solidFill>
      </p:bgPr>
    </p:bg>
    <p:spTree>
      <p:nvGrpSpPr>
        <p:cNvPr id="1" name=""/>
        <p:cNvGrpSpPr/>
        <p:nvPr/>
      </p:nvGrpSpPr>
      <p:grpSpPr>
        <a:xfrm>
          <a:off x="0" y="0"/>
          <a:ext cx="0" cy="0"/>
          <a:chOff x="0" y="0"/>
          <a:chExt cx="0" cy="0"/>
        </a:xfrm>
      </p:grpSpPr>
      <p:sp>
        <p:nvSpPr>
          <p:cNvPr id="2" name="Text 0"/>
          <p:cNvSpPr/>
          <p:nvPr/>
        </p:nvSpPr>
        <p:spPr>
          <a:xfrm>
            <a:off x="2286000" y="274320"/>
            <a:ext cx="3200400" cy="320040"/>
          </a:xfrm>
          <a:prstGeom prst="rect">
            <a:avLst>
              <a:gd name="adj" fmla="val 57143"/>
            </a:avLst>
          </a:prstGeom>
          <a:solidFill>
            <a:srgbClr val="E8B4A8"/>
          </a:solidFill>
          <a:ln/>
        </p:spPr>
        <p:txBody>
          <a:bodyPr wrap="square" rtlCol="0" anchor="ctr"/>
          <a:lstStyle/>
          <a:p>
            <a:pPr algn="ctr" indent="0" marL="0">
              <a:buNone/>
            </a:pPr>
            <a:r>
              <a:rPr lang="en-US" sz="1300" b="1" dirty="0">
                <a:solidFill>
                  <a:srgbClr val="000000"/>
                </a:solidFill>
              </a:rPr>
              <a:t>Question 18 - Answer</a:t>
            </a:r>
            <a:endParaRPr lang="en-US" sz="1300" dirty="0"/>
          </a:p>
        </p:txBody>
      </p:sp>
      <p:sp>
        <p:nvSpPr>
          <p:cNvPr id="3" name="Text 1"/>
          <p:cNvSpPr/>
          <p:nvPr/>
        </p:nvSpPr>
        <p:spPr>
          <a:xfrm>
            <a:off x="5669280" y="274320"/>
            <a:ext cx="1645920" cy="320040"/>
          </a:xfrm>
          <a:prstGeom prst="rect">
            <a:avLst>
              <a:gd name="adj" fmla="val 57143"/>
            </a:avLst>
          </a:prstGeom>
          <a:solidFill>
            <a:srgbClr val="E8B4A8"/>
          </a:solidFill>
          <a:ln/>
        </p:spPr>
        <p:txBody>
          <a:bodyPr wrap="square" rtlCol="0" anchor="ctr"/>
          <a:lstStyle/>
          <a:p>
            <a:pPr algn="ctr" indent="0" marL="0">
              <a:buNone/>
            </a:pPr>
            <a:r>
              <a:rPr lang="en-US" sz="1100" b="1" dirty="0">
                <a:solidFill>
                  <a:srgbClr val="000000"/>
                </a:solidFill>
              </a:rPr>
              <a:t>🔐 GUARDIAN</a:t>
            </a:r>
            <a:endParaRPr lang="en-US" sz="1100" dirty="0"/>
          </a:p>
        </p:txBody>
      </p:sp>
      <p:sp>
        <p:nvSpPr>
          <p:cNvPr id="4" name="Shape 2"/>
          <p:cNvSpPr/>
          <p:nvPr/>
        </p:nvSpPr>
        <p:spPr>
          <a:xfrm>
            <a:off x="365760" y="777240"/>
            <a:ext cx="8412480" cy="731520"/>
          </a:xfrm>
          <a:prstGeom prst="rect">
            <a:avLst/>
          </a:prstGeom>
          <a:solidFill>
            <a:srgbClr val="E8B4A8"/>
          </a:solidFill>
          <a:ln w="12700">
            <a:solidFill>
              <a:srgbClr val="000000"/>
            </a:solidFill>
            <a:prstDash val="solid"/>
          </a:ln>
        </p:spPr>
      </p:sp>
      <p:sp>
        <p:nvSpPr>
          <p:cNvPr id="5" name="Text 3"/>
          <p:cNvSpPr/>
          <p:nvPr/>
        </p:nvSpPr>
        <p:spPr>
          <a:xfrm>
            <a:off x="457200" y="822960"/>
            <a:ext cx="8229600" cy="640080"/>
          </a:xfrm>
          <a:prstGeom prst="rect">
            <a:avLst/>
          </a:prstGeom>
          <a:noFill/>
          <a:ln/>
        </p:spPr>
        <p:txBody>
          <a:bodyPr wrap="square" rtlCol="0" anchor="ctr"/>
          <a:lstStyle/>
          <a:p>
            <a:pPr indent="0" marL="0">
              <a:buNone/>
            </a:pPr>
            <a:r>
              <a:rPr lang="en-US" sz="1200" b="1" dirty="0">
                <a:solidFill>
                  <a:srgbClr val="000000"/>
                </a:solidFill>
              </a:rPr>
              <a:t>Guardian: If your child could retell the steps (even with help), mark PASS. This shows excellent listening!</a:t>
            </a:r>
            <a:endParaRPr lang="en-US" sz="1200" dirty="0"/>
          </a:p>
        </p:txBody>
      </p:sp>
      <p:sp>
        <p:nvSpPr>
          <p:cNvPr id="6" name="Text 4"/>
          <p:cNvSpPr/>
          <p:nvPr/>
        </p:nvSpPr>
        <p:spPr>
          <a:xfrm>
            <a:off x="365760" y="1691640"/>
            <a:ext cx="8412480" cy="457200"/>
          </a:xfrm>
          <a:prstGeom prst="rect">
            <a:avLst/>
          </a:prstGeom>
          <a:noFill/>
          <a:ln/>
        </p:spPr>
        <p:txBody>
          <a:bodyPr wrap="square" rtlCol="0" anchor="ctr"/>
          <a:lstStyle/>
          <a:p>
            <a:pPr indent="0" marL="0">
              <a:buNone/>
            </a:pPr>
            <a:r>
              <a:rPr lang="en-US" sz="1600" b="1" dirty="0">
                <a:solidFill>
                  <a:srgbClr val="F5E6D3"/>
                </a:solidFill>
              </a:rPr>
              <a:t>Can your child retell the steps in the correct order?</a:t>
            </a:r>
            <a:endParaRPr lang="en-US" sz="1600" dirty="0"/>
          </a:p>
        </p:txBody>
      </p:sp>
      <p:sp>
        <p:nvSpPr>
          <p:cNvPr id="7" name="Shape 5"/>
          <p:cNvSpPr/>
          <p:nvPr/>
        </p:nvSpPr>
        <p:spPr>
          <a:xfrm>
            <a:off x="365760" y="2331720"/>
            <a:ext cx="8229600" cy="365760"/>
          </a:xfrm>
          <a:prstGeom prst="rect">
            <a:avLst>
              <a:gd name="adj" fmla="val 25000"/>
            </a:avLst>
          </a:prstGeom>
          <a:solidFill>
            <a:srgbClr val="E8D4C4"/>
          </a:solidFill>
          <a:ln w="12700">
            <a:solidFill>
              <a:srgbClr val="8B5A3C"/>
            </a:solidFill>
            <a:prstDash val="solid"/>
          </a:ln>
        </p:spPr>
      </p:sp>
      <p:sp>
        <p:nvSpPr>
          <p:cNvPr id="8" name="Text 6"/>
          <p:cNvSpPr/>
          <p:nvPr/>
        </p:nvSpPr>
        <p:spPr>
          <a:xfrm>
            <a:off x="457200" y="2350008"/>
            <a:ext cx="8046720" cy="329184"/>
          </a:xfrm>
          <a:prstGeom prst="rect">
            <a:avLst/>
          </a:prstGeom>
          <a:noFill/>
          <a:ln/>
        </p:spPr>
        <p:txBody>
          <a:bodyPr wrap="square" rtlCol="0" anchor="ctr"/>
          <a:lstStyle/>
          <a:p>
            <a:pPr algn="l" indent="0" marL="0">
              <a:buNone/>
            </a:pPr>
            <a:r>
              <a:rPr lang="en-US" sz="1400" dirty="0">
                <a:solidFill>
                  <a:srgbClr val="000000"/>
                </a:solidFill>
              </a:rPr>
              <a:t>A. PASS - Child can retell most or all steps in correct order ✓</a:t>
            </a:r>
            <a:endParaRPr lang="en-US" sz="1400" dirty="0"/>
          </a:p>
        </p:txBody>
      </p:sp>
      <p:sp>
        <p:nvSpPr>
          <p:cNvPr id="9" name="Shape 7"/>
          <p:cNvSpPr/>
          <p:nvPr/>
        </p:nvSpPr>
        <p:spPr>
          <a:xfrm>
            <a:off x="365760" y="2807208"/>
            <a:ext cx="8229600" cy="365760"/>
          </a:xfrm>
          <a:prstGeom prst="rect">
            <a:avLst>
              <a:gd name="adj" fmla="val 25000"/>
            </a:avLst>
          </a:prstGeom>
          <a:solidFill>
            <a:srgbClr val="C9A89A"/>
          </a:solidFill>
          <a:ln w="12700">
            <a:solidFill>
              <a:srgbClr val="000000"/>
            </a:solidFill>
            <a:prstDash val="solid"/>
          </a:ln>
        </p:spPr>
      </p:sp>
      <p:sp>
        <p:nvSpPr>
          <p:cNvPr id="10" name="Text 8"/>
          <p:cNvSpPr/>
          <p:nvPr/>
        </p:nvSpPr>
        <p:spPr>
          <a:xfrm>
            <a:off x="457200" y="2825496"/>
            <a:ext cx="8046720" cy="329184"/>
          </a:xfrm>
          <a:prstGeom prst="rect">
            <a:avLst/>
          </a:prstGeom>
          <a:noFill/>
          <a:ln/>
        </p:spPr>
        <p:txBody>
          <a:bodyPr wrap="square" rtlCol="0" anchor="ctr"/>
          <a:lstStyle/>
          <a:p>
            <a:pPr algn="l" indent="0" marL="0">
              <a:buNone/>
            </a:pPr>
            <a:r>
              <a:rPr lang="en-US" sz="1400" dirty="0">
                <a:solidFill>
                  <a:srgbClr val="000000"/>
                </a:solidFill>
              </a:rPr>
              <a:t>B. FAIL - Child has difficulty with sequence or remembering steps</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1371600" y="365760"/>
            <a:ext cx="6400800" cy="457200"/>
          </a:xfrm>
          <a:prstGeom prst="rect">
            <a:avLst/>
          </a:prstGeom>
          <a:noFill/>
          <a:ln/>
        </p:spPr>
        <p:txBody>
          <a:bodyPr wrap="square" rtlCol="0" anchor="ctr"/>
          <a:lstStyle/>
          <a:p>
            <a:pPr algn="ctr" indent="0" marL="0">
              <a:buNone/>
            </a:pPr>
            <a:r>
              <a:rPr lang="en-US" sz="3200" b="1" dirty="0">
                <a:solidFill>
                  <a:srgbClr val="FFD700"/>
                </a:solidFill>
              </a:rPr>
              <a:t>Answer Key</a:t>
            </a:r>
            <a:endParaRPr lang="en-US" sz="3200" dirty="0"/>
          </a:p>
        </p:txBody>
      </p:sp>
      <p:sp>
        <p:nvSpPr>
          <p:cNvPr id="3" name="Text 1"/>
          <p:cNvSpPr/>
          <p:nvPr/>
        </p:nvSpPr>
        <p:spPr>
          <a:xfrm>
            <a:off x="914400" y="1188720"/>
            <a:ext cx="7315200" cy="320040"/>
          </a:xfrm>
          <a:prstGeom prst="rect">
            <a:avLst/>
          </a:prstGeom>
          <a:noFill/>
          <a:ln/>
        </p:spPr>
        <p:txBody>
          <a:bodyPr wrap="square" rtlCol="0" anchor="ctr"/>
          <a:lstStyle/>
          <a:p>
            <a:pPr algn="ctr" indent="0" marL="0">
              <a:buNone/>
            </a:pPr>
            <a:r>
              <a:rPr lang="en-US" sz="1600" dirty="0">
                <a:solidFill>
                  <a:srgbClr val="FFFFFF"/>
                </a:solidFill>
              </a:rPr>
              <a:t>Q1: A   Q2: B   Q3: A   Q4: B   Q5: B</a:t>
            </a:r>
            <a:endParaRPr lang="en-US" sz="1600" dirty="0"/>
          </a:p>
        </p:txBody>
      </p:sp>
      <p:sp>
        <p:nvSpPr>
          <p:cNvPr id="4" name="Text 2"/>
          <p:cNvSpPr/>
          <p:nvPr/>
        </p:nvSpPr>
        <p:spPr>
          <a:xfrm>
            <a:off x="914400" y="1600200"/>
            <a:ext cx="7315200" cy="320040"/>
          </a:xfrm>
          <a:prstGeom prst="rect">
            <a:avLst/>
          </a:prstGeom>
          <a:noFill/>
          <a:ln/>
        </p:spPr>
        <p:txBody>
          <a:bodyPr wrap="square" rtlCol="0" anchor="ctr"/>
          <a:lstStyle/>
          <a:p>
            <a:pPr algn="ctr" indent="0" marL="0">
              <a:buNone/>
            </a:pPr>
            <a:r>
              <a:rPr lang="en-US" sz="1600" dirty="0">
                <a:solidFill>
                  <a:srgbClr val="FFFFFF"/>
                </a:solidFill>
              </a:rPr>
              <a:t>Q6: B   Q7: A   Q8: B   Q9: B   Q10: B</a:t>
            </a:r>
            <a:endParaRPr lang="en-US" sz="1600" dirty="0"/>
          </a:p>
        </p:txBody>
      </p:sp>
      <p:sp>
        <p:nvSpPr>
          <p:cNvPr id="5" name="Text 3"/>
          <p:cNvSpPr/>
          <p:nvPr/>
        </p:nvSpPr>
        <p:spPr>
          <a:xfrm>
            <a:off x="914400" y="2011680"/>
            <a:ext cx="7315200" cy="320040"/>
          </a:xfrm>
          <a:prstGeom prst="rect">
            <a:avLst/>
          </a:prstGeom>
          <a:noFill/>
          <a:ln/>
        </p:spPr>
        <p:txBody>
          <a:bodyPr wrap="square" rtlCol="0" anchor="ctr"/>
          <a:lstStyle/>
          <a:p>
            <a:pPr algn="ctr" indent="0" marL="0">
              <a:buNone/>
            </a:pPr>
            <a:r>
              <a:rPr lang="en-US" sz="1600" dirty="0">
                <a:solidFill>
                  <a:srgbClr val="FFFFFF"/>
                </a:solidFill>
              </a:rPr>
              <a:t>Q11: B   Q12: B   Q13: B</a:t>
            </a:r>
            <a:endParaRPr lang="en-US" sz="1600" dirty="0"/>
          </a:p>
        </p:txBody>
      </p:sp>
      <p:sp>
        <p:nvSpPr>
          <p:cNvPr id="6" name="Text 4"/>
          <p:cNvSpPr/>
          <p:nvPr/>
        </p:nvSpPr>
        <p:spPr>
          <a:xfrm>
            <a:off x="914400" y="2423160"/>
            <a:ext cx="7315200" cy="320040"/>
          </a:xfrm>
          <a:prstGeom prst="rect">
            <a:avLst/>
          </a:prstGeom>
          <a:noFill/>
          <a:ln/>
        </p:spPr>
        <p:txBody>
          <a:bodyPr wrap="square" rtlCol="0" anchor="ctr"/>
          <a:lstStyle/>
          <a:p>
            <a:pPr algn="ctr" indent="0" marL="0">
              <a:buNone/>
            </a:pPr>
            <a:r>
              <a:rPr lang="en-US" sz="1600" dirty="0">
                <a:solidFill>
                  <a:srgbClr val="FFFFFF"/>
                </a:solidFill>
              </a:rPr>
              <a:t>Q14: PASS (Guardian)</a:t>
            </a:r>
            <a:endParaRPr lang="en-US" sz="1600" dirty="0"/>
          </a:p>
        </p:txBody>
      </p:sp>
      <p:sp>
        <p:nvSpPr>
          <p:cNvPr id="7" name="Text 5"/>
          <p:cNvSpPr/>
          <p:nvPr/>
        </p:nvSpPr>
        <p:spPr>
          <a:xfrm>
            <a:off x="914400" y="2834640"/>
            <a:ext cx="7315200" cy="320040"/>
          </a:xfrm>
          <a:prstGeom prst="rect">
            <a:avLst/>
          </a:prstGeom>
          <a:noFill/>
          <a:ln/>
        </p:spPr>
        <p:txBody>
          <a:bodyPr wrap="square" rtlCol="0" anchor="ctr"/>
          <a:lstStyle/>
          <a:p>
            <a:pPr algn="ctr" indent="0" marL="0">
              <a:buNone/>
            </a:pPr>
            <a:r>
              <a:rPr lang="en-US" sz="1600" dirty="0">
                <a:solidFill>
                  <a:srgbClr val="FFFFFF"/>
                </a:solidFill>
              </a:rPr>
              <a:t>Q15: B   Q16: A   Q17: C</a:t>
            </a:r>
            <a:endParaRPr lang="en-US" sz="1600" dirty="0"/>
          </a:p>
        </p:txBody>
      </p:sp>
      <p:sp>
        <p:nvSpPr>
          <p:cNvPr id="8" name="Text 6"/>
          <p:cNvSpPr/>
          <p:nvPr/>
        </p:nvSpPr>
        <p:spPr>
          <a:xfrm>
            <a:off x="914400" y="3246120"/>
            <a:ext cx="7315200" cy="320040"/>
          </a:xfrm>
          <a:prstGeom prst="rect">
            <a:avLst/>
          </a:prstGeom>
          <a:noFill/>
          <a:ln/>
        </p:spPr>
        <p:txBody>
          <a:bodyPr wrap="square" rtlCol="0" anchor="ctr"/>
          <a:lstStyle/>
          <a:p>
            <a:pPr algn="ctr" indent="0" marL="0">
              <a:buNone/>
            </a:pPr>
            <a:r>
              <a:rPr lang="en-US" sz="1600" dirty="0">
                <a:solidFill>
                  <a:srgbClr val="FFFFFF"/>
                </a:solidFill>
              </a:rPr>
              <a:t>Q18: PASS (Guardian)</a:t>
            </a:r>
            <a:endParaRPr lang="en-US" sz="1600" dirty="0"/>
          </a:p>
        </p:txBody>
      </p:sp>
      <p:sp>
        <p:nvSpPr>
          <p:cNvPr id="9" name="Text 7"/>
          <p:cNvSpPr/>
          <p:nvPr/>
        </p:nvSpPr>
        <p:spPr>
          <a:xfrm>
            <a:off x="914400" y="4389120"/>
            <a:ext cx="7315200" cy="365760"/>
          </a:xfrm>
          <a:prstGeom prst="rect">
            <a:avLst/>
          </a:prstGeom>
          <a:noFill/>
          <a:ln/>
        </p:spPr>
        <p:txBody>
          <a:bodyPr wrap="square" rtlCol="0" anchor="ctr"/>
          <a:lstStyle/>
          <a:p>
            <a:pPr algn="ctr" indent="0" marL="0">
              <a:buNone/>
            </a:pPr>
            <a:r>
              <a:rPr lang="en-US" sz="1600" b="1" dirty="0">
                <a:solidFill>
                  <a:srgbClr val="FFD700"/>
                </a:solidFill>
              </a:rPr>
              <a:t>Great job on completing the benchmark!</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6A3D7A"/>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algn="ctr" indent="0" marL="0">
              <a:buNone/>
            </a:pPr>
            <a:r>
              <a:rPr lang="en-US" sz="2400" b="1" dirty="0">
                <a:solidFill>
                  <a:srgbClr val="FFD700"/>
                </a:solidFill>
              </a:rPr>
              <a:t>GUARDIAN READ-ALOUD SECTION</a:t>
            </a:r>
            <a:endParaRPr lang="en-US" sz="2400" dirty="0"/>
          </a:p>
        </p:txBody>
      </p:sp>
      <p:sp>
        <p:nvSpPr>
          <p:cNvPr id="3" name="Text 1"/>
          <p:cNvSpPr/>
          <p:nvPr/>
        </p:nvSpPr>
        <p:spPr>
          <a:xfrm>
            <a:off x="457200" y="777240"/>
            <a:ext cx="8229600" cy="274320"/>
          </a:xfrm>
          <a:prstGeom prst="rect">
            <a:avLst/>
          </a:prstGeom>
          <a:noFill/>
          <a:ln/>
        </p:spPr>
        <p:txBody>
          <a:bodyPr wrap="square" rtlCol="0" anchor="ctr"/>
          <a:lstStyle/>
          <a:p>
            <a:pPr algn="ctr" indent="0" marL="0">
              <a:buNone/>
            </a:pPr>
            <a:r>
              <a:rPr lang="en-US" sz="1800" b="1" dirty="0">
                <a:solidFill>
                  <a:srgbClr val="FFFFFF"/>
                </a:solidFill>
              </a:rPr>
              <a:t>How to Make a Sandwich</a:t>
            </a:r>
            <a:endParaRPr lang="en-US" sz="1800" dirty="0"/>
          </a:p>
        </p:txBody>
      </p:sp>
      <p:sp>
        <p:nvSpPr>
          <p:cNvPr id="4" name="Text 2"/>
          <p:cNvSpPr/>
          <p:nvPr/>
        </p:nvSpPr>
        <p:spPr>
          <a:xfrm>
            <a:off x="731520" y="1280160"/>
            <a:ext cx="7680960" cy="3200400"/>
          </a:xfrm>
          <a:prstGeom prst="rect">
            <a:avLst/>
          </a:prstGeom>
          <a:solidFill>
            <a:srgbClr val="5A3D6A"/>
          </a:solidFill>
          <a:ln/>
        </p:spPr>
        <p:txBody>
          <a:bodyPr wrap="square" lIns="152400" tIns="152400" rIns="152400" bIns="152400" rtlCol="0" anchor="t"/>
          <a:lstStyle/>
          <a:p>
            <a:pPr algn="ctr" indent="0" marL="0">
              <a:buNone/>
            </a:pPr>
            <a:r>
              <a:rPr lang="en-US" sz="1600" dirty="0">
                <a:solidFill>
                  <a:srgbClr val="FFFFFF"/>
                </a:solidFill>
              </a:rPr>
              <a:t>Here is how to make a yummy sandwich.</a:t>
            </a:r>
            <a:endParaRPr lang="en-US" sz="1600" dirty="0"/>
          </a:p>
          <a:p>
            <a:pPr algn="ctr" indent="0" marL="0">
              <a:buNone/>
            </a:pPr>
            <a:endParaRPr lang="en-US" sz="1600" dirty="0"/>
          </a:p>
          <a:p>
            <a:pPr algn="ctr" indent="0" marL="0">
              <a:buNone/>
            </a:pPr>
            <a:r>
              <a:rPr lang="en-US" sz="1600" dirty="0">
                <a:solidFill>
                  <a:srgbClr val="FFFFFF"/>
                </a:solidFill>
              </a:rPr>
              <a:t>FIRST, get two pieces of bread.</a:t>
            </a:r>
            <a:endParaRPr lang="en-US" sz="1600" dirty="0"/>
          </a:p>
          <a:p>
            <a:pPr algn="ctr" indent="0" marL="0">
              <a:buNone/>
            </a:pPr>
            <a:endParaRPr lang="en-US" sz="1600" dirty="0"/>
          </a:p>
          <a:p>
            <a:pPr algn="ctr" indent="0" marL="0">
              <a:buNone/>
            </a:pPr>
            <a:r>
              <a:rPr lang="en-US" sz="1600" dirty="0">
                <a:solidFill>
                  <a:srgbClr val="FFFFFF"/>
                </a:solidFill>
              </a:rPr>
              <a:t>NEXT, spread peanut butter on one piece. Then add jelly on the other piece.</a:t>
            </a:r>
            <a:endParaRPr lang="en-US" sz="1600" dirty="0"/>
          </a:p>
          <a:p>
            <a:pPr algn="ctr" indent="0" marL="0">
              <a:buNone/>
            </a:pPr>
            <a:endParaRPr lang="en-US" sz="1600" dirty="0"/>
          </a:p>
          <a:p>
            <a:pPr algn="ctr" indent="0" marL="0">
              <a:buNone/>
            </a:pPr>
            <a:r>
              <a:rPr lang="en-US" sz="1600" dirty="0">
                <a:solidFill>
                  <a:srgbClr val="FFFFFF"/>
                </a:solidFill>
              </a:rPr>
              <a:t>AFTER THAT, press the two pieces together.</a:t>
            </a:r>
            <a:endParaRPr lang="en-US" sz="1600" dirty="0"/>
          </a:p>
          <a:p>
            <a:pPr algn="ctr" indent="0" marL="0">
              <a:buNone/>
            </a:pPr>
            <a:endParaRPr lang="en-US" sz="1600" dirty="0"/>
          </a:p>
          <a:p>
            <a:pPr algn="ctr" indent="0" marL="0">
              <a:buNone/>
            </a:pPr>
            <a:r>
              <a:rPr lang="en-US" sz="1600" dirty="0">
                <a:solidFill>
                  <a:srgbClr val="FFFFFF"/>
                </a:solidFill>
              </a:rPr>
              <a:t>FINALLY, cut the sandwich in half and put it on a plate.</a:t>
            </a:r>
            <a:endParaRPr lang="en-US" sz="1600" dirty="0"/>
          </a:p>
          <a:p>
            <a:pPr algn="ctr" indent="0" marL="0">
              <a:buNone/>
            </a:pPr>
            <a:endParaRPr lang="en-US" sz="1600" dirty="0"/>
          </a:p>
          <a:p>
            <a:pPr algn="ctr" indent="0" marL="0">
              <a:buNone/>
            </a:pPr>
            <a:r>
              <a:rPr lang="en-US" sz="1600" dirty="0">
                <a:solidFill>
                  <a:srgbClr val="FFFFFF"/>
                </a:solidFill>
              </a:rPr>
              <a:t>Now you have a delicious lunch!</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1st Grade Fall Reading and Speech Benchmark Quiz</dc:title>
  <dc:subject>PptxGenJS Presentation</dc:subject>
  <dc:creator>1st Grade PA Core Benchmark</dc:creator>
  <cp:lastModifiedBy>1st Grade PA Core Benchmark</cp:lastModifiedBy>
  <cp:revision>1</cp:revision>
  <dcterms:created xsi:type="dcterms:W3CDTF">2025-11-18T23:38:52Z</dcterms:created>
  <dcterms:modified xsi:type="dcterms:W3CDTF">2025-11-18T23:38:52Z</dcterms:modified>
</cp:coreProperties>
</file>