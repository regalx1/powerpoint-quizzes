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89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Understanding 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Johnny is trying to make a number line from 0 to 20. Look at what he did. What's the problem?</a:t>
            </a:r>
            <a:endParaRPr lang="en-US" sz="1400" dirty="0"/>
          </a:p>
        </p:txBody>
      </p:sp>
      <p:pic>
        <p:nvPicPr>
          <p:cNvPr id="7" name="Image 0" descr="assets/MathQ1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39" y="1381322"/>
            <a:ext cx="3839429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2935802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98152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He drew the numbers first and they're too big, so the line doesn't fit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935802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98152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He didn't use a pencil (pencil is better than pen)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804482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385020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He forgot to include the number 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3804482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385020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His paper was too small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4718882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471888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Understanding 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Johnny is trying to make a number line from 0 to 20. Look at what he did. What's the problem?</a:t>
            </a:r>
            <a:endParaRPr lang="en-US" sz="1400" dirty="0"/>
          </a:p>
        </p:txBody>
      </p:sp>
      <p:pic>
        <p:nvPicPr>
          <p:cNvPr id="5" name="Image 0" descr="assets/MathQ1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566928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65176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A. He drew the numbers first and they're too big, so the line doesn't fit 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26517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6616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He didn't use a pencil (pencil is better than pen)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5204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3566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He forgot to include the number 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35204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566160" y="3566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His paper was too small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438912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44805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Johnny should have drawn the LINE first, then added the numbers. When he drew the big numbers first, there wasn't room for the whole line!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Spacing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Maria made a number line from 0 to 20 with all the right numbers. But what's the problem?</a:t>
            </a:r>
            <a:endParaRPr lang="en-US" sz="1400" dirty="0"/>
          </a:p>
        </p:txBody>
      </p:sp>
      <p:pic>
        <p:nvPicPr>
          <p:cNvPr id="7" name="Image 0" descr="assets/MathQ2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1366082"/>
            <a:ext cx="5800659" cy="24743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288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 numbers are too close together to hop between them properly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She used the wrong numbers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The line should go from 1 to 19 instead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91840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8328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She made it too long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371600" y="480060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71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Spacing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Maria made a number line from 0 to 20 with all the right numbers. But what's the problem?</a:t>
            </a:r>
            <a:endParaRPr lang="en-US" sz="1400" dirty="0"/>
          </a:p>
        </p:txBody>
      </p:sp>
      <p:pic>
        <p:nvPicPr>
          <p:cNvPr id="5" name="Image 0" descr="assets/MathQ2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11581"/>
            <a:ext cx="630936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83464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A. The numbers are too close together to hop between them properly 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6616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She used the wrong numbers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The line should go from 1 to 19 instead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56616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She made it too long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45720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4663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Yes! When numbers are squished together, you can't see the spaces to count by hops. We need space BETWEEN the numbers so we can jump from one to the next.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Complete vs Incomplete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Look at this number line. What mistake did the student make?</a:t>
            </a:r>
            <a:endParaRPr lang="en-US" sz="1400" dirty="0"/>
          </a:p>
        </p:txBody>
      </p:sp>
      <p:pic>
        <p:nvPicPr>
          <p:cNvPr id="7" name="Image 0" descr="assets/MathQ3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3" y="1429933"/>
            <a:ext cx="6123327" cy="24562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30861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31318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 spacing is wrong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30861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31318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The number 19 is missing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9547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40005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The line should start at 1, not 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39547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40005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All the numbers are too small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486918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48691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Complete vs Incomplete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Look at this number line. What mistake did the student make?</a:t>
            </a:r>
            <a:endParaRPr lang="en-US" sz="1400" dirty="0"/>
          </a:p>
        </p:txBody>
      </p:sp>
      <p:pic>
        <p:nvPicPr>
          <p:cNvPr id="5" name="Image 0" descr="assets/MathQ3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77159"/>
            <a:ext cx="6172200" cy="24575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 spacing is wrong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The number 19 is missing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288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The line should start at 1, not 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All the numbers are too small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82880" y="45720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663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Correct! Every number from 0 to 20 needs to be there. The number 19 was skipped. A complete number line has NO gaps.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Partial Lines Are OK!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Is it OK to make a partial number line from 10 to 20 instead of 0 to 20?</a:t>
            </a:r>
            <a:endParaRPr lang="en-US" sz="1400" dirty="0"/>
          </a:p>
        </p:txBody>
      </p:sp>
      <p:pic>
        <p:nvPicPr>
          <p:cNvPr id="7" name="Image 0" descr="assets/MathQ4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256032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No, it always has to start at 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Yes, as long as all the numbers in that range are there and evenly spaced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No, partial lines are never correct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Only if you write 'partial' at the top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Number Line: Partial Lines Are OK!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Is it OK to make a partial number line from 10 to 20 instead of 0 to 20?</a:t>
            </a:r>
            <a:endParaRPr lang="en-US" sz="1400" dirty="0"/>
          </a:p>
        </p:txBody>
      </p:sp>
      <p:pic>
        <p:nvPicPr>
          <p:cNvPr id="5" name="Image 0" descr="assets/MathQ4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150"/>
            <a:ext cx="6355080" cy="23660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" y="27889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No, it always has to start at 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278892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832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Yes, as long as all the numbers in that range are there and evenly spaced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" y="36576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No, partial lines are never correct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36576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Only if you write 'partial' at the top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" y="452628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8600" y="4617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You can make a number line for ANY range - 10-20, 5-15, whatever. As long as all numbers in that range are there with even spacing, it's correct!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Counting Backwards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solve 18 - 8, we start with 18 and make 8 marks (crosses) counting down to get our answer. What's 18 - 8?</a:t>
            </a:r>
            <a:endParaRPr lang="en-US" sz="1400" dirty="0"/>
          </a:p>
        </p:txBody>
      </p:sp>
      <p:pic>
        <p:nvPicPr>
          <p:cNvPr id="7" name="Image 0" descr="assets/MathQ5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66" y="1371600"/>
            <a:ext cx="6126480" cy="22631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226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9666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8626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20066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28226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9666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28626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20066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08386" y="480060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08386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Counting Backwards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solve 18 - 8, we start with 18 and make 8 marks (crosses) counting down to get our answer. What's 18 - 8?</a:t>
            </a:r>
            <a:endParaRPr lang="en-US" sz="1400" dirty="0"/>
          </a:p>
        </p:txBody>
      </p:sp>
      <p:pic>
        <p:nvPicPr>
          <p:cNvPr id="5" name="Image 0" descr="assets/MathQ5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88720"/>
            <a:ext cx="621792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283464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832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10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9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" y="45720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8600" y="4663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Yes! When we start with 18 and count down 8 times (making crosses), we land on 10. So 18 - 8 = 10!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Let's Try It!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the decrement method. Start with 15 and count down 6. What do you get?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Let's Try It!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the decrement method. Start with 15 and count down 6. What do you get?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9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Correct! 15 - 6 = 9. You started with 15 and counted down 6 times to land on 9.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Start with 14 and count down 5. What's your answer?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Start with 14 and count down 5. What's your answer?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9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14 - 5 = 9. You counted down from 14 five times and landed on 9.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8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More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Start with 16 and count down 4. What do you get?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8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Decrement Method: More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Start with 16 and count down 4. What do you get?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12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16 - 4 = 12. You started with 16 and counted down 4 times to get 12.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E91689E-A462-36F9-E3B9-F96422D36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4744"/>
            <a:ext cx="6495847" cy="284837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9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Tens and 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drew 16 circles for the number 16. What's the problem?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" y="29946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2880" y="30403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16 circles is not enough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9946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30403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There's no way to see that it's 1 ten and 6 ones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" y="38633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" y="39090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are the wrong shape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91840" y="38633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83280" y="39090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There are 17 circles, not 16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371600" y="47777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71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9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Tens and 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drew 16 circles for the number 16. What's the problem?</a:t>
            </a:r>
            <a:endParaRPr lang="en-US" sz="1400" dirty="0"/>
          </a:p>
        </p:txBody>
      </p:sp>
      <p:pic>
        <p:nvPicPr>
          <p:cNvPr id="5" name="Image 0" descr="assets/MathQA9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860"/>
            <a:ext cx="6964155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16 circles is not enough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283464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832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There's no way to see that it's 1 ten and 6 ones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are the wrong shape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There are 17 circles, not 16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" y="45720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8600" y="4663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Yes! When all 16 circles are in a line, we can't see the groups of 10. We need to show 1 group of 10 (separated) and 6 single ones.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10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The Right 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do we show that 16 = 1 ten and 6 ones?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Draw 16 circles in a 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Draw a group of 10 circles, then a line separator, then 6 circles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Write '10' and '6' above the circles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Use two different colors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10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The Right 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do we show that 16 = 1 ten and 6 ones?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Draw 16 circles in a 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Draw a group of 10 circles, then a line separator, then 6 circles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Write '10' and '6' above the circles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Use two different colors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When we group 10 together and separate it with a line from the 6 ones, we can clearly see the tens place and ones place!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Show 13 Correctly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many ONES would you draw after separating the TEN from 13?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 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3 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 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 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Show 13 Correctly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many ONES would you draw after separating the TEN from 13?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 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3 ones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 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 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13 = 1 ten + 3 ones. So after separating the group of 10, you'd draw 3 single ones.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Show 27 Correctly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show 27 = tens and ones, how many TENS and how many ONES?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2 tens and 7 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 tens and 2 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2 tens and 2 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 tens and 7 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 Value: Show 27 Correctly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show 27 = tens and ones, how many TENS and how many ONES?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A. 2 tens and 7 ones 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 tens and 2 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2 tens and 2 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 tens and 7 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27 = 2 tens + 7 ones. You'd draw two groups of 10, then 7 single ones.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The Right Shape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tried to show 8 + 8 by drawing circles vertically. Why is this a problem?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Vertical shapes are never allowed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You can't count the circles easily or see both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should be squares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There should be 16 circles, not 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The Right Shape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tried to show 8 + 8 by drawing circles vertically. Why is this a problem?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Vertical shapes are never allowed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You can't count the circles easily or see both groups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should be squares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There should be 16 circles, not 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Yes! When you draw doubles, you need to show TWO EQUAL GROUPS side by side (left to right). Vertical or spilled patterns make it hard to see the two groups.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4710B26-3FF1-AE1C-8B39-47551D216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8" y="1014967"/>
            <a:ext cx="6379183" cy="284837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Watch for Odd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tried to show 15 but arranged the circles in pairs. What's the problem?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Pairs are not allowed for doubles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There are 16 circles, not 15 - one too many!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should be drawn vertically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Odd numbers can never be shown with circles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480060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B9EAB4-D63B-9246-E940-ADD3B9B70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628961"/>
            <a:ext cx="5779152" cy="395415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Watch for Odd Numbers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543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This student tried to show 15 but arranged the circles in pairs. What's the problem?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26060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Pairs are not allowed for doubles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260604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918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There are 16 circles, not 15 - one too many!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34747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" y="3520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Circles should be drawn vertically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34747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1840" y="3520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Odd numbers can never be shown with circles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3434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" y="44348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Correct! When you count the pairs, there are 8 pairs = 16 circles, but the student wanted to show 15. That's one too many! Doubles always show EVEN numbers (pairs work perfectly for those).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6 + 6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would you draw 6 + 6 using the correct doubles method?</a:t>
            </a:r>
            <a:endParaRPr lang="en-US" sz="1400" dirty="0"/>
          </a:p>
        </p:txBody>
      </p:sp>
      <p:pic>
        <p:nvPicPr>
          <p:cNvPr id="7" name="Image 0" descr="assets/MathQ15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256032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6 circles on the left, 6 circles on the right, equal groups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12 circles in a 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3 circles on top, 3 circles on bottom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6 pairs arranged vertically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6 + 6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How would you draw 6 + 6 using the correct doubles method?</a:t>
            </a:r>
            <a:endParaRPr lang="en-US" sz="1400" dirty="0"/>
          </a:p>
        </p:txBody>
      </p:sp>
      <p:pic>
        <p:nvPicPr>
          <p:cNvPr id="5" name="Image 0" descr="assets/MathQ15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1" y="1141424"/>
            <a:ext cx="6217920" cy="21956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278892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A. 6 circles on the left, 6 circles on the right, equal groups 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27889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918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12 circles in a 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36576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3 circles on top, 3 circles on bottom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36576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184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6 pairs arranged vertically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52628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" y="4617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You'd draw 6 circles on the left and 6 circles on the right, so anyone can see the two EQUAL GROUPS. That's what doubles are!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10 + 10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show 10 + 10 = 20, you would draw: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10 circles on the left, 10 circles on the right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20 circles in a 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2 groups of 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A and C are the same 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10 + 10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To show 10 + 10 = 20, you would draw: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10 circles on the left, 10 circles on the right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20 circles in a 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2 groups of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D. A and C are the same thing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A and C are exactly the same - when you draw 10 on the left and 10 on the right, you're showing 2 equal groups of 10, which is the doubles method!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4 + 4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Draw 4 + 4 using correct doubles. How many circles total will you draw?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4 circles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 circles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6 circles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 circles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Doubles: Show 4 + 4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Draw 4 + 4 using correct doubles. How many circles total will you draw?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4 circles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8 circles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6 circles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 circles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You'd draw 4 circles on the left and 4 circles on the right = 8 circles total. That's why we call it 4 + 4 = 8!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18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Breaking Apart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 Circle Reduction, we break the number we're subtracting into parts. For 15 - 7, we break 7 into 5 + 2. Then: 15 - 5 = 10, then 10 - 2 = 8. What's 15 - 7?</a:t>
            </a:r>
            <a:endParaRPr lang="en-US" sz="1400" dirty="0"/>
          </a:p>
        </p:txBody>
      </p:sp>
      <p:pic>
        <p:nvPicPr>
          <p:cNvPr id="7" name="Image 0" descr="assets/MathQ18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485900"/>
            <a:ext cx="4419600" cy="33147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30175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3017520"/>
            <a:ext cx="124968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3886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8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0" y="3886200"/>
            <a:ext cx="124968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91840" y="3931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80160" y="480060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8016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18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Breaking Apart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 Circle Reduction, we break the number we're subtracting into parts. For 15 - 7, we break 7 into 5 + 2. Then: 15 - 5 = 10, then 10 - 2 = 8. What's 15 - 7?</a:t>
            </a:r>
            <a:endParaRPr lang="en-US" sz="1400" dirty="0"/>
          </a:p>
        </p:txBody>
      </p:sp>
      <p:pic>
        <p:nvPicPr>
          <p:cNvPr id="5" name="Image 0" descr="assets/MathQ18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1463040"/>
            <a:ext cx="41452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278892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2788920"/>
            <a:ext cx="170688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918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36576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8 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3657600"/>
            <a:ext cx="170688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184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52628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" y="4617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Excellent! By breaking 7 into 5 + 2, we can subtract in steps: 15 - 5 = 10, then 10 - 2 = 8. So 15 - 7 = 8!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19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Another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12 - 5, we break 5 into 2 + 3. Then: 12 - 2 = 10, then 10 - 3 = 7. What's 12 - 5?</a:t>
            </a:r>
            <a:endParaRPr lang="en-US" sz="1400" dirty="0"/>
          </a:p>
        </p:txBody>
      </p:sp>
      <p:pic>
        <p:nvPicPr>
          <p:cNvPr id="7" name="Image 0" descr="assets/MathQ19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256032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7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19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Another Example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12 - 5, we break 5 into 2 + 3. Then: 12 - 2 = 10, then 10 - 3 = 7. What's 12 - 5?</a:t>
            </a:r>
            <a:endParaRPr lang="en-US" sz="1400" dirty="0"/>
          </a:p>
        </p:txBody>
      </p:sp>
      <p:pic>
        <p:nvPicPr>
          <p:cNvPr id="5" name="Image 0" descr="assets/MathQ19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0" y="1371600"/>
            <a:ext cx="42672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2834640"/>
            <a:ext cx="149352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8328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" y="370332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7 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149352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" y="457200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8600" y="4663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By breaking 5 into 2 + 3, we subtract in steps: 12 - 2 = 10, then 10 - 3 = 7. So 12 - 5 = 7!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20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14 - 6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14 - 6, break 6 into 4 + 2. What do you get? (14 - 4 = 10, then 10 - 2 = ?)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20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14 - 6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14 - 6, break 6 into 4 + 2. What do you get? (14 - 4 = 10, then 10 - 2 = ?)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8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14 - 4 = 10, then 10 - 2 = 8. So 14 - 6 = 8!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16 - 7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16 - 7, break 7 into 6 + 1. What do you get? (16 - 6 = 10, then 10 - 1 = ?)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21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16 - 7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16 - 7, break 7 into 6 + 1. What do you get? (16 - 6 = 10, then 10 - 1 = ?)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9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16 - 6 = 10, then 10 - 1 = 9. So 16 - 7 = 9!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13 - 5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13 - 5, break 5 into 3 + 2. What do you get? (13 - 3 = 10, then 10 - 2 = ?)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22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Circle Reduction: Try 13 - 5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For 13 - 5, break 5 into 3 + 2. What do you get? (13 - 3 = 10, then 10 - 2 = ?)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8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13 - 3 = 10, then 10 - 2 = 8. So 13 - 5 = 8!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Commutative Property: Order Doesn't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Look at these two addition problems.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5+10 = 10+5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What do you notice?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They have different answers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The numbers are in different order but the answer is the same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One is correct and one is wrong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You can't add numbers in different orders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23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Commutative Property: Order Doesn't Matter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</a:rPr>
              <a:t>Look at these two addition problems.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5+10 = 10+5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What do you notice?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They have different answers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The numbers are in different order but the answer is the same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One is correct and one is wrong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You can't add numbers in different orders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Excellent! This is the Commutative Property - we can add numbers in any order and get the same answer. 10 + 5 = 15 AND 5 + 10 = 15!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Fact Families: Different Partners, Same Sum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Look at these two problems.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5+5 = 4+6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What's the same about them?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 numbers are exactly the same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They have the same answer even though the partners are different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One has more numbers than the other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 second one is always bigger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24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Fact Families: Different Partners, Same Sum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</a:rPr>
              <a:t>Look at these two problems.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5+5 = 4+6 </a:t>
            </a: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rgbClr val="FFFFFF"/>
                </a:solidFill>
              </a:rPr>
              <a:t>What's the same about them?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The numbers are exactly the same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B. They have the same answer even though the partners are different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One has more numbers than the other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The second one is always bigger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Different partners can make the same sum! There are LOTS of ways to make 10: 5+5, 4+6, 3+7, 2+8, 1+9, 0+10. This is called a Fact Family!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Commutative Property: Try It!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If 7 + 3 = 10, what does 3 + 7 equal?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25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Commutative Property: Try It!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If 7 + 3 = 10, what does 3 + 7 equal?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10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Great! 3 + 7 = 10, just like 7 + 3 = 10. The order doesn't change the sum!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Addition: Adding Three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F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TEACHING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When adding THREE numbers like 5 + 5 + 5, we add the FIRST TWO first: 5 + 5 = 10. Then add the third: 10 + 5 = 15. What's 5 + 5 + 5?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26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Addition: Adding Three Numbers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When adding THREE numbers like 5 + 5 + 5, we add the FIRST TWO first: 5 + 5 = 10. Then add the third: 10 + 5 = 15. What's 5 + 5 + 5?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15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Perfect! 5 + 5 = 10, then 10 + 5 = 15. So 5 + 5 + 5 = 15!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Addition: Try It!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NOW YOU TRY!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What's 4 + 4 + 4? (Remember: Add the first two numbers first!)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C. 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solidFill>
            <a:srgbClr val="A8C5D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3D7A"/>
                </a:solidFill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Question 27 of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320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Addition: Try It!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What's 4 + 4 + 4? (Remember: Add the first two numbers first!)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A.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B. 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468880"/>
            <a:ext cx="31089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C. 12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108960" cy="731520"/>
          </a:xfrm>
          <a:prstGeom prst="rect">
            <a:avLst/>
          </a:prstGeom>
          <a:solidFill>
            <a:srgbClr val="A8C5DD"/>
          </a:solidFill>
          <a:ln w="12700">
            <a:solidFill>
              <a:srgbClr val="A8C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3D7A"/>
                </a:solidFill>
              </a:rPr>
              <a:t>D. 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337560"/>
            <a:ext cx="594360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Excellent! 4 + 4 = 8, then 8 + 4 = 12. So 4 + 4 + 4 = 12!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6A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Answer Key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" y="6858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</a:rPr>
              <a:t>1st Grade PA Core Math Benchmark - All 27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Q1: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Q2: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55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Q3: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Q4: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Q5: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Q6: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Q7: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Q8: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Q9: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Q10: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Q11: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Q12: 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72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Q13: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974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Q14: 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Q15: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Q16: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655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Q17: 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Q18: 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258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Q19: 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Q20: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Q21: 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163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Q22: 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Q23: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Q24: 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Q25: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Q26: 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4672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Q27: 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4063</Words>
  <Application>Microsoft Office PowerPoint</Application>
  <PresentationFormat>On-screen Show (16:9)</PresentationFormat>
  <Paragraphs>543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RegalX X</cp:lastModifiedBy>
  <cp:revision>2</cp:revision>
  <dcterms:created xsi:type="dcterms:W3CDTF">2025-11-20T23:53:05Z</dcterms:created>
  <dcterms:modified xsi:type="dcterms:W3CDTF">2025-11-21T00:14:47Z</dcterms:modified>
</cp:coreProperties>
</file>