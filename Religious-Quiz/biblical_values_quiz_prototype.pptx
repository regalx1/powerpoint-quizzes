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jpcXUus0uyKpasaXkzJZjyJ7tF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0" name="Google Shape;4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7" name="Google Shape;5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ba6666043_4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g3aba6666043_4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0" name="Google Shape;70;g3aba6666043_4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ba6666043_4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g3aba6666043_4_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7" name="Google Shape;87;g3aba6666043_4_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0" name="Google Shape;10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3D7A"/>
        </a:solidFill>
      </p:bgPr>
    </p:bg>
    <p:spTree>
      <p:nvGrpSpPr>
        <p:cNvPr id="11" name="Shape 11"/>
        <p:cNvGrpSpPr/>
        <p:nvPr/>
      </p:nvGrpSpPr>
      <p:grpSpPr>
        <a:xfrm>
          <a:off x="0" y="0"/>
          <a:ext cx="0" cy="0"/>
          <a:chOff x="0" y="0"/>
          <a:chExt cx="0" cy="0"/>
        </a:xfrm>
      </p:grpSpPr>
      <p:sp>
        <p:nvSpPr>
          <p:cNvPr id="12" name="Google Shape;12;p1"/>
          <p:cNvSpPr/>
          <p:nvPr/>
        </p:nvSpPr>
        <p:spPr>
          <a:xfrm>
            <a:off x="365760" y="274320"/>
            <a:ext cx="2286000" cy="411480"/>
          </a:xfrm>
          <a:prstGeom prst="rect">
            <a:avLst/>
          </a:prstGeom>
          <a:solidFill>
            <a:srgbClr val="FFD7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365760" y="274320"/>
            <a:ext cx="22860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Calibri"/>
              <a:buNone/>
            </a:pPr>
            <a:r>
              <a:rPr b="1" lang="en-US" sz="1800">
                <a:solidFill>
                  <a:srgbClr val="000000"/>
                </a:solidFill>
                <a:latin typeface="Calibri"/>
                <a:ea typeface="Calibri"/>
                <a:cs typeface="Calibri"/>
                <a:sym typeface="Calibri"/>
              </a:rPr>
              <a:t>Q1 - TEACHING</a:t>
            </a:r>
            <a:endParaRPr sz="1800">
              <a:solidFill>
                <a:schemeClr val="dk1"/>
              </a:solidFill>
              <a:latin typeface="Calibri"/>
              <a:ea typeface="Calibri"/>
              <a:cs typeface="Calibri"/>
              <a:sym typeface="Calibri"/>
            </a:endParaRPr>
          </a:p>
        </p:txBody>
      </p:sp>
      <p:sp>
        <p:nvSpPr>
          <p:cNvPr id="14" name="Google Shape;14;p1"/>
          <p:cNvSpPr/>
          <p:nvPr/>
        </p:nvSpPr>
        <p:spPr>
          <a:xfrm>
            <a:off x="365760" y="717421"/>
            <a:ext cx="3333881" cy="131475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5E6D3"/>
              </a:buClr>
              <a:buSzPts val="2400"/>
              <a:buFont typeface="Calibri"/>
              <a:buNone/>
            </a:pPr>
            <a:r>
              <a:rPr b="1" lang="en-US" sz="2400">
                <a:solidFill>
                  <a:srgbClr val="F5E6D3"/>
                </a:solidFill>
                <a:latin typeface="Calibri"/>
                <a:ea typeface="Calibri"/>
                <a:cs typeface="Calibri"/>
                <a:sym typeface="Calibri"/>
              </a:rPr>
              <a:t>Why did God tell Adam and Eve they could not eat of the one tree in the Garden of Eden?</a:t>
            </a:r>
            <a:endParaRPr sz="2400">
              <a:solidFill>
                <a:schemeClr val="dk1"/>
              </a:solidFill>
              <a:latin typeface="Calibri"/>
              <a:ea typeface="Calibri"/>
              <a:cs typeface="Calibri"/>
              <a:sym typeface="Calibri"/>
            </a:endParaRPr>
          </a:p>
        </p:txBody>
      </p:sp>
      <p:sp>
        <p:nvSpPr>
          <p:cNvPr id="15" name="Google Shape;15;p1"/>
          <p:cNvSpPr/>
          <p:nvPr/>
        </p:nvSpPr>
        <p:spPr>
          <a:xfrm>
            <a:off x="502920" y="3200400"/>
            <a:ext cx="3840480" cy="73152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640080" y="3291840"/>
            <a:ext cx="370332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A. Because God said "It's forbidden" and even though I don’t understand, I have faith that God wants what’s best for us.</a:t>
            </a:r>
            <a:endParaRPr sz="1400">
              <a:solidFill>
                <a:schemeClr val="dk1"/>
              </a:solidFill>
              <a:latin typeface="Calibri"/>
              <a:ea typeface="Calibri"/>
              <a:cs typeface="Calibri"/>
              <a:sym typeface="Calibri"/>
            </a:endParaRPr>
          </a:p>
        </p:txBody>
      </p:sp>
      <p:sp>
        <p:nvSpPr>
          <p:cNvPr id="17" name="Google Shape;17;p1"/>
          <p:cNvSpPr/>
          <p:nvPr/>
        </p:nvSpPr>
        <p:spPr>
          <a:xfrm>
            <a:off x="4709160" y="3200400"/>
            <a:ext cx="3840480" cy="73152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1"/>
          <p:cNvSpPr/>
          <p:nvPr/>
        </p:nvSpPr>
        <p:spPr>
          <a:xfrm>
            <a:off x="4846320" y="3291840"/>
            <a:ext cx="35661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C. Because that tree was a gift someone else was supposed to care for</a:t>
            </a:r>
            <a:endParaRPr sz="1400">
              <a:solidFill>
                <a:schemeClr val="dk1"/>
              </a:solidFill>
              <a:latin typeface="Calibri"/>
              <a:ea typeface="Calibri"/>
              <a:cs typeface="Calibri"/>
              <a:sym typeface="Calibri"/>
            </a:endParaRPr>
          </a:p>
        </p:txBody>
      </p:sp>
      <p:sp>
        <p:nvSpPr>
          <p:cNvPr id="19" name="Google Shape;19;p1"/>
          <p:cNvSpPr/>
          <p:nvPr/>
        </p:nvSpPr>
        <p:spPr>
          <a:xfrm>
            <a:off x="502920" y="4023360"/>
            <a:ext cx="3840480" cy="73152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40080" y="4114800"/>
            <a:ext cx="35661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B. Because God wanted the tree for himself</a:t>
            </a:r>
            <a:endParaRPr sz="1400">
              <a:solidFill>
                <a:schemeClr val="dk1"/>
              </a:solidFill>
              <a:latin typeface="Calibri"/>
              <a:ea typeface="Calibri"/>
              <a:cs typeface="Calibri"/>
              <a:sym typeface="Calibri"/>
            </a:endParaRPr>
          </a:p>
        </p:txBody>
      </p:sp>
      <p:sp>
        <p:nvSpPr>
          <p:cNvPr id="21" name="Google Shape;21;p1"/>
          <p:cNvSpPr/>
          <p:nvPr/>
        </p:nvSpPr>
        <p:spPr>
          <a:xfrm>
            <a:off x="4709160" y="4023360"/>
            <a:ext cx="3840480" cy="73152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1"/>
          <p:cNvSpPr/>
          <p:nvPr/>
        </p:nvSpPr>
        <p:spPr>
          <a:xfrm>
            <a:off x="4846320" y="4114800"/>
            <a:ext cx="35661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D. None of the Above</a:t>
            </a:r>
            <a:endParaRPr sz="1400">
              <a:solidFill>
                <a:schemeClr val="dk1"/>
              </a:solidFill>
              <a:latin typeface="Calibri"/>
              <a:ea typeface="Calibri"/>
              <a:cs typeface="Calibri"/>
              <a:sym typeface="Calibri"/>
            </a:endParaRPr>
          </a:p>
        </p:txBody>
      </p:sp>
      <p:pic>
        <p:nvPicPr>
          <p:cNvPr id="23" name="Google Shape;23;p1"/>
          <p:cNvPicPr preferRelativeResize="0"/>
          <p:nvPr/>
        </p:nvPicPr>
        <p:blipFill rotWithShape="1">
          <a:blip r:embed="rId3">
            <a:alphaModFix/>
          </a:blip>
          <a:srcRect b="0" l="0" r="0" t="0"/>
          <a:stretch/>
        </p:blipFill>
        <p:spPr>
          <a:xfrm>
            <a:off x="3941971" y="200313"/>
            <a:ext cx="4836269" cy="27257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3D7A"/>
        </a:solidFill>
      </p:bgPr>
    </p:bg>
    <p:spTree>
      <p:nvGrpSpPr>
        <p:cNvPr id="28" name="Shape 28"/>
        <p:cNvGrpSpPr/>
        <p:nvPr/>
      </p:nvGrpSpPr>
      <p:grpSpPr>
        <a:xfrm>
          <a:off x="0" y="0"/>
          <a:ext cx="0" cy="0"/>
          <a:chOff x="0" y="0"/>
          <a:chExt cx="0" cy="0"/>
        </a:xfrm>
      </p:grpSpPr>
      <p:sp>
        <p:nvSpPr>
          <p:cNvPr id="29" name="Google Shape;29;p2"/>
          <p:cNvSpPr/>
          <p:nvPr/>
        </p:nvSpPr>
        <p:spPr>
          <a:xfrm>
            <a:off x="365760" y="274320"/>
            <a:ext cx="2560320" cy="411480"/>
          </a:xfrm>
          <a:prstGeom prst="rect">
            <a:avLst/>
          </a:prstGeom>
          <a:solidFill>
            <a:srgbClr val="27AE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2"/>
          <p:cNvSpPr/>
          <p:nvPr/>
        </p:nvSpPr>
        <p:spPr>
          <a:xfrm>
            <a:off x="365760" y="274320"/>
            <a:ext cx="256032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Calibri"/>
              <a:buNone/>
            </a:pPr>
            <a:r>
              <a:rPr b="1" lang="en-US" sz="1800">
                <a:solidFill>
                  <a:srgbClr val="000000"/>
                </a:solidFill>
                <a:latin typeface="Calibri"/>
                <a:ea typeface="Calibri"/>
                <a:cs typeface="Calibri"/>
                <a:sym typeface="Calibri"/>
              </a:rPr>
              <a:t>Q1 - ANSWER ✓</a:t>
            </a:r>
            <a:endParaRPr sz="1800">
              <a:solidFill>
                <a:schemeClr val="dk1"/>
              </a:solidFill>
              <a:latin typeface="Calibri"/>
              <a:ea typeface="Calibri"/>
              <a:cs typeface="Calibri"/>
              <a:sym typeface="Calibri"/>
            </a:endParaRPr>
          </a:p>
        </p:txBody>
      </p:sp>
      <p:sp>
        <p:nvSpPr>
          <p:cNvPr id="31" name="Google Shape;31;p2"/>
          <p:cNvSpPr/>
          <p:nvPr/>
        </p:nvSpPr>
        <p:spPr>
          <a:xfrm>
            <a:off x="365760" y="822960"/>
            <a:ext cx="8412480" cy="1645920"/>
          </a:xfrm>
          <a:prstGeom prst="rect">
            <a:avLst/>
          </a:prstGeom>
          <a:solidFill>
            <a:srgbClr val="3A3A3A"/>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2"/>
          <p:cNvSpPr/>
          <p:nvPr/>
        </p:nvSpPr>
        <p:spPr>
          <a:xfrm>
            <a:off x="502920" y="914400"/>
            <a:ext cx="82296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5E6D3"/>
              </a:buClr>
              <a:buSzPts val="1300"/>
              <a:buFont typeface="Calibri"/>
              <a:buNone/>
            </a:pPr>
            <a:r>
              <a:rPr lang="en-US" sz="1300">
                <a:solidFill>
                  <a:srgbClr val="F5E6D3"/>
                </a:solidFill>
                <a:latin typeface="Calibri"/>
                <a:ea typeface="Calibri"/>
                <a:cs typeface="Calibri"/>
                <a:sym typeface="Calibri"/>
              </a:rPr>
              <a:t>God didn't give the rule because it was arbitrary. He gave it because He loves Adam and Eve. God wants a real relationship with people He created. A relationship with true love means both people make choices to trust and obey each other. God was teaching Adam and Eve about kindness: being kind to God means trusting Him.</a:t>
            </a:r>
            <a:endParaRPr sz="1300">
              <a:solidFill>
                <a:schemeClr val="dk1"/>
              </a:solidFill>
              <a:latin typeface="Calibri"/>
              <a:ea typeface="Calibri"/>
              <a:cs typeface="Calibri"/>
              <a:sym typeface="Calibri"/>
            </a:endParaRPr>
          </a:p>
        </p:txBody>
      </p:sp>
      <p:sp>
        <p:nvSpPr>
          <p:cNvPr id="33" name="Google Shape;33;p2"/>
          <p:cNvSpPr/>
          <p:nvPr/>
        </p:nvSpPr>
        <p:spPr>
          <a:xfrm>
            <a:off x="365760" y="2900855"/>
            <a:ext cx="3565109" cy="752541"/>
          </a:xfrm>
          <a:prstGeom prst="rect">
            <a:avLst/>
          </a:prstGeom>
          <a:solidFill>
            <a:srgbClr val="27AE60"/>
          </a:solidFill>
          <a:ln cap="flat" cmpd="sng" w="12700">
            <a:solidFill>
              <a:srgbClr val="27AE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2"/>
          <p:cNvSpPr/>
          <p:nvPr/>
        </p:nvSpPr>
        <p:spPr>
          <a:xfrm>
            <a:off x="513167" y="3002805"/>
            <a:ext cx="3270294"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000000"/>
                </a:solidFill>
                <a:latin typeface="Calibri"/>
                <a:ea typeface="Calibri"/>
                <a:cs typeface="Calibri"/>
                <a:sym typeface="Calibri"/>
              </a:rPr>
              <a:t>A. Because God said "It's forbidden" and even though I don’t understand, I have faith that God wants what’s best for us✓</a:t>
            </a:r>
            <a:endParaRPr sz="1400">
              <a:solidFill>
                <a:schemeClr val="dk1"/>
              </a:solidFill>
              <a:latin typeface="Calibri"/>
              <a:ea typeface="Calibri"/>
              <a:cs typeface="Calibri"/>
              <a:sym typeface="Calibri"/>
            </a:endParaRPr>
          </a:p>
        </p:txBody>
      </p:sp>
      <p:sp>
        <p:nvSpPr>
          <p:cNvPr id="35" name="Google Shape;35;p2"/>
          <p:cNvSpPr/>
          <p:nvPr/>
        </p:nvSpPr>
        <p:spPr>
          <a:xfrm>
            <a:off x="3246120" y="3927716"/>
            <a:ext cx="2743200" cy="548640"/>
          </a:xfrm>
          <a:prstGeom prst="rect">
            <a:avLst/>
          </a:prstGeom>
          <a:solidFill>
            <a:srgbClr val="FFD7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2"/>
          <p:cNvSpPr/>
          <p:nvPr/>
        </p:nvSpPr>
        <p:spPr>
          <a:xfrm>
            <a:off x="3200400" y="3927716"/>
            <a:ext cx="27432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600"/>
              <a:buFont typeface="Calibri"/>
              <a:buNone/>
            </a:pPr>
            <a:r>
              <a:rPr b="1" lang="en-US" sz="1600">
                <a:solidFill>
                  <a:srgbClr val="000000"/>
                </a:solidFill>
                <a:latin typeface="Calibri"/>
                <a:ea typeface="Calibri"/>
                <a:cs typeface="Calibri"/>
                <a:sym typeface="Calibri"/>
              </a:rPr>
              <a:t>Next Question →</a:t>
            </a:r>
            <a:endParaRPr sz="16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3D7A"/>
        </a:solidFill>
      </p:bgPr>
    </p:bg>
    <p:spTree>
      <p:nvGrpSpPr>
        <p:cNvPr id="41" name="Shape 41"/>
        <p:cNvGrpSpPr/>
        <p:nvPr/>
      </p:nvGrpSpPr>
      <p:grpSpPr>
        <a:xfrm>
          <a:off x="0" y="0"/>
          <a:ext cx="0" cy="0"/>
          <a:chOff x="0" y="0"/>
          <a:chExt cx="0" cy="0"/>
        </a:xfrm>
      </p:grpSpPr>
      <p:sp>
        <p:nvSpPr>
          <p:cNvPr id="42" name="Google Shape;42;p3"/>
          <p:cNvSpPr/>
          <p:nvPr/>
        </p:nvSpPr>
        <p:spPr>
          <a:xfrm>
            <a:off x="365760" y="274320"/>
            <a:ext cx="2286000" cy="411480"/>
          </a:xfrm>
          <a:prstGeom prst="rect">
            <a:avLst/>
          </a:prstGeom>
          <a:solidFill>
            <a:srgbClr val="FFD7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3"/>
          <p:cNvSpPr/>
          <p:nvPr/>
        </p:nvSpPr>
        <p:spPr>
          <a:xfrm>
            <a:off x="365760" y="274320"/>
            <a:ext cx="22860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Calibri"/>
              <a:buNone/>
            </a:pPr>
            <a:r>
              <a:rPr b="1" lang="en-US" sz="1800">
                <a:solidFill>
                  <a:srgbClr val="000000"/>
                </a:solidFill>
                <a:latin typeface="Calibri"/>
                <a:ea typeface="Calibri"/>
                <a:cs typeface="Calibri"/>
                <a:sym typeface="Calibri"/>
              </a:rPr>
              <a:t>Q2 - TEACHING</a:t>
            </a:r>
            <a:endParaRPr sz="1800">
              <a:solidFill>
                <a:schemeClr val="dk1"/>
              </a:solidFill>
              <a:latin typeface="Calibri"/>
              <a:ea typeface="Calibri"/>
              <a:cs typeface="Calibri"/>
              <a:sym typeface="Calibri"/>
            </a:endParaRPr>
          </a:p>
        </p:txBody>
      </p:sp>
      <p:sp>
        <p:nvSpPr>
          <p:cNvPr id="44" name="Google Shape;44;p3"/>
          <p:cNvSpPr/>
          <p:nvPr/>
        </p:nvSpPr>
        <p:spPr>
          <a:xfrm>
            <a:off x="365760" y="777240"/>
            <a:ext cx="3840480" cy="20848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5E6D3"/>
              </a:buClr>
              <a:buSzPts val="2400"/>
              <a:buFont typeface="Calibri"/>
              <a:buNone/>
            </a:pPr>
            <a:r>
              <a:rPr b="1" lang="en-US" sz="2400">
                <a:solidFill>
                  <a:srgbClr val="F5E6D3"/>
                </a:solidFill>
                <a:latin typeface="Calibri"/>
                <a:ea typeface="Calibri"/>
                <a:cs typeface="Calibri"/>
                <a:sym typeface="Calibri"/>
              </a:rPr>
              <a:t>How did the Snake trick Adam and Eve into disobeying God?</a:t>
            </a:r>
            <a:endParaRPr sz="2400">
              <a:solidFill>
                <a:schemeClr val="dk1"/>
              </a:solidFill>
              <a:latin typeface="Calibri"/>
              <a:ea typeface="Calibri"/>
              <a:cs typeface="Calibri"/>
              <a:sym typeface="Calibri"/>
            </a:endParaRPr>
          </a:p>
        </p:txBody>
      </p:sp>
      <p:sp>
        <p:nvSpPr>
          <p:cNvPr id="45" name="Google Shape;45;p3"/>
          <p:cNvSpPr/>
          <p:nvPr/>
        </p:nvSpPr>
        <p:spPr>
          <a:xfrm>
            <a:off x="365760" y="2926080"/>
            <a:ext cx="3840480" cy="68580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3"/>
          <p:cNvSpPr/>
          <p:nvPr/>
        </p:nvSpPr>
        <p:spPr>
          <a:xfrm>
            <a:off x="502920" y="2999232"/>
            <a:ext cx="35661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300"/>
              <a:buFont typeface="Calibri"/>
              <a:buNone/>
            </a:pPr>
            <a:r>
              <a:rPr lang="en-US" sz="1300">
                <a:solidFill>
                  <a:srgbClr val="000000"/>
                </a:solidFill>
                <a:latin typeface="Calibri"/>
                <a:ea typeface="Calibri"/>
                <a:cs typeface="Calibri"/>
                <a:sym typeface="Calibri"/>
              </a:rPr>
              <a:t>A. The Snake threatened to hurt them if they didn't eat of the tree</a:t>
            </a:r>
            <a:endParaRPr sz="1300">
              <a:solidFill>
                <a:schemeClr val="dk1"/>
              </a:solidFill>
              <a:latin typeface="Calibri"/>
              <a:ea typeface="Calibri"/>
              <a:cs typeface="Calibri"/>
              <a:sym typeface="Calibri"/>
            </a:endParaRPr>
          </a:p>
        </p:txBody>
      </p:sp>
      <p:sp>
        <p:nvSpPr>
          <p:cNvPr id="47" name="Google Shape;47;p3"/>
          <p:cNvSpPr/>
          <p:nvPr/>
        </p:nvSpPr>
        <p:spPr>
          <a:xfrm>
            <a:off x="4572000" y="2926080"/>
            <a:ext cx="3840480" cy="68580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3"/>
          <p:cNvSpPr/>
          <p:nvPr/>
        </p:nvSpPr>
        <p:spPr>
          <a:xfrm>
            <a:off x="4709160" y="2999232"/>
            <a:ext cx="35661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300"/>
              <a:buFont typeface="Calibri"/>
              <a:buNone/>
            </a:pPr>
            <a:r>
              <a:rPr lang="en-US" sz="1300">
                <a:solidFill>
                  <a:srgbClr val="000000"/>
                </a:solidFill>
                <a:latin typeface="Calibri"/>
                <a:ea typeface="Calibri"/>
                <a:cs typeface="Calibri"/>
                <a:sym typeface="Calibri"/>
              </a:rPr>
              <a:t>C. The Snake flopped on the floor and made a scene until they did what the Snake asked</a:t>
            </a:r>
            <a:endParaRPr sz="1300">
              <a:solidFill>
                <a:schemeClr val="dk1"/>
              </a:solidFill>
              <a:latin typeface="Calibri"/>
              <a:ea typeface="Calibri"/>
              <a:cs typeface="Calibri"/>
              <a:sym typeface="Calibri"/>
            </a:endParaRPr>
          </a:p>
        </p:txBody>
      </p:sp>
      <p:sp>
        <p:nvSpPr>
          <p:cNvPr id="49" name="Google Shape;49;p3"/>
          <p:cNvSpPr/>
          <p:nvPr/>
        </p:nvSpPr>
        <p:spPr>
          <a:xfrm>
            <a:off x="365760" y="3749040"/>
            <a:ext cx="3840480" cy="68580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3"/>
          <p:cNvSpPr/>
          <p:nvPr/>
        </p:nvSpPr>
        <p:spPr>
          <a:xfrm>
            <a:off x="502920" y="3822192"/>
            <a:ext cx="35661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300"/>
              <a:buFont typeface="Calibri"/>
              <a:buNone/>
            </a:pPr>
            <a:r>
              <a:rPr lang="en-US" sz="1300">
                <a:solidFill>
                  <a:srgbClr val="000000"/>
                </a:solidFill>
                <a:latin typeface="Calibri"/>
                <a:ea typeface="Calibri"/>
                <a:cs typeface="Calibri"/>
                <a:sym typeface="Calibri"/>
              </a:rPr>
              <a:t>B. The Snake pretended to be their friend and promised to help them fulfill their desires if they disobeyed God</a:t>
            </a:r>
            <a:endParaRPr sz="1300">
              <a:solidFill>
                <a:schemeClr val="dk1"/>
              </a:solidFill>
              <a:latin typeface="Calibri"/>
              <a:ea typeface="Calibri"/>
              <a:cs typeface="Calibri"/>
              <a:sym typeface="Calibri"/>
            </a:endParaRPr>
          </a:p>
        </p:txBody>
      </p:sp>
      <p:sp>
        <p:nvSpPr>
          <p:cNvPr id="51" name="Google Shape;51;p3"/>
          <p:cNvSpPr/>
          <p:nvPr/>
        </p:nvSpPr>
        <p:spPr>
          <a:xfrm>
            <a:off x="4572000" y="3749040"/>
            <a:ext cx="3840480" cy="68580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4709160" y="3822192"/>
            <a:ext cx="356616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300"/>
              <a:buFont typeface="Calibri"/>
              <a:buNone/>
            </a:pPr>
            <a:r>
              <a:rPr lang="en-US" sz="1300">
                <a:solidFill>
                  <a:srgbClr val="000000"/>
                </a:solidFill>
                <a:latin typeface="Calibri"/>
                <a:ea typeface="Calibri"/>
                <a:cs typeface="Calibri"/>
                <a:sym typeface="Calibri"/>
              </a:rPr>
              <a:t>D. All of the Above</a:t>
            </a:r>
            <a:endParaRPr sz="1300">
              <a:solidFill>
                <a:schemeClr val="dk1"/>
              </a:solidFill>
              <a:latin typeface="Calibri"/>
              <a:ea typeface="Calibri"/>
              <a:cs typeface="Calibri"/>
              <a:sym typeface="Calibri"/>
            </a:endParaRPr>
          </a:p>
        </p:txBody>
      </p:sp>
      <p:pic>
        <p:nvPicPr>
          <p:cNvPr id="53" name="Google Shape;53;p3"/>
          <p:cNvPicPr preferRelativeResize="0"/>
          <p:nvPr/>
        </p:nvPicPr>
        <p:blipFill rotWithShape="1">
          <a:blip r:embed="rId3">
            <a:alphaModFix/>
          </a:blip>
          <a:srcRect b="0" l="0" r="0" t="0"/>
          <a:stretch/>
        </p:blipFill>
        <p:spPr>
          <a:xfrm>
            <a:off x="4054220" y="8201"/>
            <a:ext cx="5089780" cy="285387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3D7A"/>
        </a:solidFill>
      </p:bgPr>
    </p:bg>
    <p:spTree>
      <p:nvGrpSpPr>
        <p:cNvPr id="58" name="Shape 58"/>
        <p:cNvGrpSpPr/>
        <p:nvPr/>
      </p:nvGrpSpPr>
      <p:grpSpPr>
        <a:xfrm>
          <a:off x="0" y="0"/>
          <a:ext cx="0" cy="0"/>
          <a:chOff x="0" y="0"/>
          <a:chExt cx="0" cy="0"/>
        </a:xfrm>
      </p:grpSpPr>
      <p:sp>
        <p:nvSpPr>
          <p:cNvPr id="59" name="Google Shape;59;p4"/>
          <p:cNvSpPr/>
          <p:nvPr/>
        </p:nvSpPr>
        <p:spPr>
          <a:xfrm>
            <a:off x="365760" y="274320"/>
            <a:ext cx="2560320" cy="411480"/>
          </a:xfrm>
          <a:prstGeom prst="rect">
            <a:avLst/>
          </a:prstGeom>
          <a:solidFill>
            <a:srgbClr val="27AE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4"/>
          <p:cNvSpPr/>
          <p:nvPr/>
        </p:nvSpPr>
        <p:spPr>
          <a:xfrm>
            <a:off x="365760" y="274320"/>
            <a:ext cx="256032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Calibri"/>
              <a:buNone/>
            </a:pPr>
            <a:r>
              <a:rPr b="1" lang="en-US" sz="1800">
                <a:solidFill>
                  <a:srgbClr val="000000"/>
                </a:solidFill>
                <a:latin typeface="Calibri"/>
                <a:ea typeface="Calibri"/>
                <a:cs typeface="Calibri"/>
                <a:sym typeface="Calibri"/>
              </a:rPr>
              <a:t>Q2 - ANSWER ✓</a:t>
            </a:r>
            <a:endParaRPr sz="1800">
              <a:solidFill>
                <a:schemeClr val="dk1"/>
              </a:solidFill>
              <a:latin typeface="Calibri"/>
              <a:ea typeface="Calibri"/>
              <a:cs typeface="Calibri"/>
              <a:sym typeface="Calibri"/>
            </a:endParaRPr>
          </a:p>
        </p:txBody>
      </p:sp>
      <p:sp>
        <p:nvSpPr>
          <p:cNvPr id="61" name="Google Shape;61;p4"/>
          <p:cNvSpPr/>
          <p:nvPr/>
        </p:nvSpPr>
        <p:spPr>
          <a:xfrm>
            <a:off x="365760" y="822960"/>
            <a:ext cx="8412480" cy="1554480"/>
          </a:xfrm>
          <a:prstGeom prst="rect">
            <a:avLst/>
          </a:prstGeom>
          <a:solidFill>
            <a:srgbClr val="3A3A3A"/>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4"/>
          <p:cNvSpPr/>
          <p:nvPr/>
        </p:nvSpPr>
        <p:spPr>
          <a:xfrm>
            <a:off x="502920" y="914400"/>
            <a:ext cx="822960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5E6D3"/>
              </a:buClr>
              <a:buSzPts val="1300"/>
              <a:buFont typeface="Calibri"/>
              <a:buNone/>
            </a:pPr>
            <a:r>
              <a:rPr lang="en-US" sz="1300">
                <a:solidFill>
                  <a:srgbClr val="F5E6D3"/>
                </a:solidFill>
                <a:latin typeface="Calibri"/>
                <a:ea typeface="Calibri"/>
                <a:cs typeface="Calibri"/>
                <a:sym typeface="Calibri"/>
              </a:rPr>
              <a:t>The snake was clever. It pretended to be Adam and Eve's friend and said, "God doesn't really mean that. If you eat this fruit, you'll be smart and powerful like God!" The snake made something bad sound good. This is the opposite of kindness. Real kindness tells the truth and helps people do what's right, not what they want when it's wrong.</a:t>
            </a:r>
            <a:endParaRPr sz="1300">
              <a:solidFill>
                <a:schemeClr val="dk1"/>
              </a:solidFill>
              <a:latin typeface="Calibri"/>
              <a:ea typeface="Calibri"/>
              <a:cs typeface="Calibri"/>
              <a:sym typeface="Calibri"/>
            </a:endParaRPr>
          </a:p>
        </p:txBody>
      </p:sp>
      <p:sp>
        <p:nvSpPr>
          <p:cNvPr id="63" name="Google Shape;63;p4"/>
          <p:cNvSpPr/>
          <p:nvPr/>
        </p:nvSpPr>
        <p:spPr>
          <a:xfrm>
            <a:off x="5412828" y="2514600"/>
            <a:ext cx="3365412" cy="1013460"/>
          </a:xfrm>
          <a:prstGeom prst="rect">
            <a:avLst/>
          </a:prstGeom>
          <a:solidFill>
            <a:srgbClr val="27AE60"/>
          </a:solidFill>
          <a:ln cap="flat" cmpd="sng" w="12700">
            <a:solidFill>
              <a:srgbClr val="27AE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4"/>
          <p:cNvSpPr/>
          <p:nvPr/>
        </p:nvSpPr>
        <p:spPr>
          <a:xfrm>
            <a:off x="5412828" y="2560320"/>
            <a:ext cx="3319692" cy="9677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Calibri"/>
              <a:buNone/>
            </a:pPr>
            <a:r>
              <a:rPr b="1" lang="en-US" sz="1300">
                <a:solidFill>
                  <a:srgbClr val="000000"/>
                </a:solidFill>
                <a:latin typeface="Calibri"/>
                <a:ea typeface="Calibri"/>
                <a:cs typeface="Calibri"/>
                <a:sym typeface="Calibri"/>
              </a:rPr>
              <a:t>B. The Snake pretended to be their friend and promised to help them fulfill their desires if they disobeyed God ✓</a:t>
            </a:r>
            <a:endParaRPr sz="1300">
              <a:solidFill>
                <a:schemeClr val="dk1"/>
              </a:solidFill>
              <a:latin typeface="Calibri"/>
              <a:ea typeface="Calibri"/>
              <a:cs typeface="Calibri"/>
              <a:sym typeface="Calibri"/>
            </a:endParaRPr>
          </a:p>
        </p:txBody>
      </p:sp>
      <p:sp>
        <p:nvSpPr>
          <p:cNvPr id="65" name="Google Shape;65;p4"/>
          <p:cNvSpPr/>
          <p:nvPr/>
        </p:nvSpPr>
        <p:spPr>
          <a:xfrm>
            <a:off x="3200400" y="4259580"/>
            <a:ext cx="2743200" cy="548640"/>
          </a:xfrm>
          <a:prstGeom prst="rect">
            <a:avLst/>
          </a:prstGeom>
          <a:solidFill>
            <a:srgbClr val="FFD7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3200400" y="4259580"/>
            <a:ext cx="27432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600"/>
              <a:buFont typeface="Calibri"/>
              <a:buNone/>
            </a:pPr>
            <a:r>
              <a:rPr b="1" lang="en-US" sz="1600">
                <a:solidFill>
                  <a:srgbClr val="000000"/>
                </a:solidFill>
                <a:latin typeface="Calibri"/>
                <a:ea typeface="Calibri"/>
                <a:cs typeface="Calibri"/>
                <a:sym typeface="Calibri"/>
              </a:rPr>
              <a:t>Next Question →</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3D7A"/>
        </a:solidFill>
      </p:bgPr>
    </p:bg>
    <p:spTree>
      <p:nvGrpSpPr>
        <p:cNvPr id="71" name="Shape 71"/>
        <p:cNvGrpSpPr/>
        <p:nvPr/>
      </p:nvGrpSpPr>
      <p:grpSpPr>
        <a:xfrm>
          <a:off x="0" y="0"/>
          <a:ext cx="0" cy="0"/>
          <a:chOff x="0" y="0"/>
          <a:chExt cx="0" cy="0"/>
        </a:xfrm>
      </p:grpSpPr>
      <p:sp>
        <p:nvSpPr>
          <p:cNvPr id="72" name="Google Shape;72;g3aba6666043_4_0"/>
          <p:cNvSpPr/>
          <p:nvPr/>
        </p:nvSpPr>
        <p:spPr>
          <a:xfrm>
            <a:off x="365760" y="274320"/>
            <a:ext cx="2286000" cy="411600"/>
          </a:xfrm>
          <a:prstGeom prst="rect">
            <a:avLst/>
          </a:prstGeom>
          <a:solidFill>
            <a:srgbClr val="FFD7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g3aba6666043_4_0"/>
          <p:cNvSpPr/>
          <p:nvPr/>
        </p:nvSpPr>
        <p:spPr>
          <a:xfrm>
            <a:off x="365760" y="274320"/>
            <a:ext cx="22860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Calibri"/>
              <a:buNone/>
            </a:pPr>
            <a:r>
              <a:rPr b="1" lang="en-US" sz="1800">
                <a:solidFill>
                  <a:srgbClr val="000000"/>
                </a:solidFill>
                <a:latin typeface="Calibri"/>
                <a:ea typeface="Calibri"/>
                <a:cs typeface="Calibri"/>
                <a:sym typeface="Calibri"/>
              </a:rPr>
              <a:t>Q1 - TEACHING</a:t>
            </a:r>
            <a:endParaRPr sz="1800">
              <a:solidFill>
                <a:schemeClr val="dk1"/>
              </a:solidFill>
              <a:latin typeface="Calibri"/>
              <a:ea typeface="Calibri"/>
              <a:cs typeface="Calibri"/>
              <a:sym typeface="Calibri"/>
            </a:endParaRPr>
          </a:p>
        </p:txBody>
      </p:sp>
      <p:sp>
        <p:nvSpPr>
          <p:cNvPr id="74" name="Google Shape;74;g3aba6666043_4_0"/>
          <p:cNvSpPr/>
          <p:nvPr/>
        </p:nvSpPr>
        <p:spPr>
          <a:xfrm>
            <a:off x="365760" y="717421"/>
            <a:ext cx="3333900" cy="131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5E6D3"/>
              </a:buClr>
              <a:buSzPts val="2400"/>
              <a:buFont typeface="Calibri"/>
              <a:buNone/>
            </a:pPr>
            <a:r>
              <a:rPr b="1" lang="en-US" sz="2400">
                <a:solidFill>
                  <a:srgbClr val="F5E6D3"/>
                </a:solidFill>
                <a:latin typeface="Calibri"/>
                <a:ea typeface="Calibri"/>
                <a:cs typeface="Calibri"/>
                <a:sym typeface="Calibri"/>
              </a:rPr>
              <a:t>Why did God tell Adam and Eve they could not eat of the one tree in the Garden of Eden?</a:t>
            </a:r>
            <a:endParaRPr sz="2400">
              <a:solidFill>
                <a:schemeClr val="dk1"/>
              </a:solidFill>
              <a:latin typeface="Calibri"/>
              <a:ea typeface="Calibri"/>
              <a:cs typeface="Calibri"/>
              <a:sym typeface="Calibri"/>
            </a:endParaRPr>
          </a:p>
        </p:txBody>
      </p:sp>
      <p:sp>
        <p:nvSpPr>
          <p:cNvPr id="75" name="Google Shape;75;g3aba6666043_4_0"/>
          <p:cNvSpPr/>
          <p:nvPr/>
        </p:nvSpPr>
        <p:spPr>
          <a:xfrm>
            <a:off x="502920" y="3200400"/>
            <a:ext cx="3840600" cy="73140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g3aba6666043_4_0"/>
          <p:cNvSpPr/>
          <p:nvPr/>
        </p:nvSpPr>
        <p:spPr>
          <a:xfrm>
            <a:off x="640080" y="3291840"/>
            <a:ext cx="37032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A. Because God said "It's forbidden" and even though I don’t understand, I have faith that God wants what’s best for us.</a:t>
            </a:r>
            <a:endParaRPr sz="1400">
              <a:solidFill>
                <a:schemeClr val="dk1"/>
              </a:solidFill>
              <a:latin typeface="Calibri"/>
              <a:ea typeface="Calibri"/>
              <a:cs typeface="Calibri"/>
              <a:sym typeface="Calibri"/>
            </a:endParaRPr>
          </a:p>
        </p:txBody>
      </p:sp>
      <p:sp>
        <p:nvSpPr>
          <p:cNvPr id="77" name="Google Shape;77;g3aba6666043_4_0"/>
          <p:cNvSpPr/>
          <p:nvPr/>
        </p:nvSpPr>
        <p:spPr>
          <a:xfrm>
            <a:off x="4709160" y="3200400"/>
            <a:ext cx="3840600" cy="73140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g3aba6666043_4_0"/>
          <p:cNvSpPr/>
          <p:nvPr/>
        </p:nvSpPr>
        <p:spPr>
          <a:xfrm>
            <a:off x="4846320" y="3291840"/>
            <a:ext cx="3566100" cy="54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C. Because that tree was a gift someone else was supposed to care for</a:t>
            </a:r>
            <a:endParaRPr sz="1400">
              <a:solidFill>
                <a:schemeClr val="dk1"/>
              </a:solidFill>
              <a:latin typeface="Calibri"/>
              <a:ea typeface="Calibri"/>
              <a:cs typeface="Calibri"/>
              <a:sym typeface="Calibri"/>
            </a:endParaRPr>
          </a:p>
        </p:txBody>
      </p:sp>
      <p:sp>
        <p:nvSpPr>
          <p:cNvPr id="79" name="Google Shape;79;g3aba6666043_4_0"/>
          <p:cNvSpPr/>
          <p:nvPr/>
        </p:nvSpPr>
        <p:spPr>
          <a:xfrm>
            <a:off x="502920" y="4023360"/>
            <a:ext cx="3840600" cy="73140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g3aba6666043_4_0"/>
          <p:cNvSpPr/>
          <p:nvPr/>
        </p:nvSpPr>
        <p:spPr>
          <a:xfrm>
            <a:off x="640080" y="4114800"/>
            <a:ext cx="3566100" cy="54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B. Because God wanted the tree for himself</a:t>
            </a:r>
            <a:endParaRPr sz="1400">
              <a:solidFill>
                <a:schemeClr val="dk1"/>
              </a:solidFill>
              <a:latin typeface="Calibri"/>
              <a:ea typeface="Calibri"/>
              <a:cs typeface="Calibri"/>
              <a:sym typeface="Calibri"/>
            </a:endParaRPr>
          </a:p>
        </p:txBody>
      </p:sp>
      <p:sp>
        <p:nvSpPr>
          <p:cNvPr id="81" name="Google Shape;81;g3aba6666043_4_0"/>
          <p:cNvSpPr/>
          <p:nvPr/>
        </p:nvSpPr>
        <p:spPr>
          <a:xfrm>
            <a:off x="4709160" y="4023360"/>
            <a:ext cx="3840600" cy="731400"/>
          </a:xfrm>
          <a:prstGeom prst="rect">
            <a:avLst/>
          </a:prstGeom>
          <a:solidFill>
            <a:srgbClr val="A8C5DD"/>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g3aba6666043_4_0"/>
          <p:cNvSpPr/>
          <p:nvPr/>
        </p:nvSpPr>
        <p:spPr>
          <a:xfrm>
            <a:off x="4846320" y="4114800"/>
            <a:ext cx="3566100" cy="54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D. None of the Above</a:t>
            </a:r>
            <a:endParaRPr sz="1400">
              <a:solidFill>
                <a:schemeClr val="dk1"/>
              </a:solidFill>
              <a:latin typeface="Calibri"/>
              <a:ea typeface="Calibri"/>
              <a:cs typeface="Calibri"/>
              <a:sym typeface="Calibri"/>
            </a:endParaRPr>
          </a:p>
        </p:txBody>
      </p:sp>
      <p:pic>
        <p:nvPicPr>
          <p:cNvPr id="83" name="Google Shape;83;g3aba6666043_4_0"/>
          <p:cNvPicPr preferRelativeResize="0"/>
          <p:nvPr/>
        </p:nvPicPr>
        <p:blipFill rotWithShape="1">
          <a:blip r:embed="rId3">
            <a:alphaModFix/>
          </a:blip>
          <a:srcRect b="0" l="0" r="0" t="0"/>
          <a:stretch/>
        </p:blipFill>
        <p:spPr>
          <a:xfrm>
            <a:off x="3941971" y="200313"/>
            <a:ext cx="4836270" cy="272576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3D7A"/>
        </a:solidFill>
      </p:bgPr>
    </p:bg>
    <p:spTree>
      <p:nvGrpSpPr>
        <p:cNvPr id="88" name="Shape 88"/>
        <p:cNvGrpSpPr/>
        <p:nvPr/>
      </p:nvGrpSpPr>
      <p:grpSpPr>
        <a:xfrm>
          <a:off x="0" y="0"/>
          <a:ext cx="0" cy="0"/>
          <a:chOff x="0" y="0"/>
          <a:chExt cx="0" cy="0"/>
        </a:xfrm>
      </p:grpSpPr>
      <p:sp>
        <p:nvSpPr>
          <p:cNvPr id="89" name="Google Shape;89;g3aba6666043_4_16"/>
          <p:cNvSpPr/>
          <p:nvPr/>
        </p:nvSpPr>
        <p:spPr>
          <a:xfrm>
            <a:off x="365760" y="274320"/>
            <a:ext cx="2560200" cy="411600"/>
          </a:xfrm>
          <a:prstGeom prst="rect">
            <a:avLst/>
          </a:prstGeom>
          <a:solidFill>
            <a:srgbClr val="27AE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g3aba6666043_4_16"/>
          <p:cNvSpPr/>
          <p:nvPr/>
        </p:nvSpPr>
        <p:spPr>
          <a:xfrm>
            <a:off x="365760" y="274320"/>
            <a:ext cx="25602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Calibri"/>
              <a:buNone/>
            </a:pPr>
            <a:r>
              <a:rPr b="1" lang="en-US" sz="1800">
                <a:solidFill>
                  <a:srgbClr val="000000"/>
                </a:solidFill>
                <a:latin typeface="Calibri"/>
                <a:ea typeface="Calibri"/>
                <a:cs typeface="Calibri"/>
                <a:sym typeface="Calibri"/>
              </a:rPr>
              <a:t>Q1 - ANSWER ✓</a:t>
            </a:r>
            <a:endParaRPr sz="1800">
              <a:solidFill>
                <a:schemeClr val="dk1"/>
              </a:solidFill>
              <a:latin typeface="Calibri"/>
              <a:ea typeface="Calibri"/>
              <a:cs typeface="Calibri"/>
              <a:sym typeface="Calibri"/>
            </a:endParaRPr>
          </a:p>
        </p:txBody>
      </p:sp>
      <p:sp>
        <p:nvSpPr>
          <p:cNvPr id="91" name="Google Shape;91;g3aba6666043_4_16"/>
          <p:cNvSpPr/>
          <p:nvPr/>
        </p:nvSpPr>
        <p:spPr>
          <a:xfrm>
            <a:off x="365760" y="822960"/>
            <a:ext cx="8412600" cy="1645800"/>
          </a:xfrm>
          <a:prstGeom prst="rect">
            <a:avLst/>
          </a:prstGeom>
          <a:solidFill>
            <a:srgbClr val="3A3A3A"/>
          </a:solidFill>
          <a:ln cap="flat" cmpd="sng" w="12700">
            <a:solidFill>
              <a:srgbClr val="8B8B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g3aba6666043_4_16"/>
          <p:cNvSpPr/>
          <p:nvPr/>
        </p:nvSpPr>
        <p:spPr>
          <a:xfrm>
            <a:off x="502920" y="914400"/>
            <a:ext cx="8229600" cy="146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5E6D3"/>
              </a:buClr>
              <a:buSzPts val="1300"/>
              <a:buFont typeface="Calibri"/>
              <a:buNone/>
            </a:pPr>
            <a:r>
              <a:rPr lang="en-US" sz="1300">
                <a:solidFill>
                  <a:srgbClr val="F5E6D3"/>
                </a:solidFill>
                <a:latin typeface="Calibri"/>
                <a:ea typeface="Calibri"/>
                <a:cs typeface="Calibri"/>
                <a:sym typeface="Calibri"/>
              </a:rPr>
              <a:t>God didn't give the rule because it was arbitrary. He gave it because He loves Adam and Eve. God wants a real relationship with people He created. A relationship with true love means both people make choices to trust and obey each other. God was teaching Adam and Eve about kindness: being kind to God means trusting Him.</a:t>
            </a:r>
            <a:endParaRPr sz="1300">
              <a:solidFill>
                <a:schemeClr val="dk1"/>
              </a:solidFill>
              <a:latin typeface="Calibri"/>
              <a:ea typeface="Calibri"/>
              <a:cs typeface="Calibri"/>
              <a:sym typeface="Calibri"/>
            </a:endParaRPr>
          </a:p>
        </p:txBody>
      </p:sp>
      <p:sp>
        <p:nvSpPr>
          <p:cNvPr id="93" name="Google Shape;93;g3aba6666043_4_16"/>
          <p:cNvSpPr/>
          <p:nvPr/>
        </p:nvSpPr>
        <p:spPr>
          <a:xfrm>
            <a:off x="365760" y="2900855"/>
            <a:ext cx="3565200" cy="752400"/>
          </a:xfrm>
          <a:prstGeom prst="rect">
            <a:avLst/>
          </a:prstGeom>
          <a:solidFill>
            <a:srgbClr val="27AE60"/>
          </a:solidFill>
          <a:ln cap="flat" cmpd="sng" w="12700">
            <a:solidFill>
              <a:srgbClr val="27AE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g3aba6666043_4_16"/>
          <p:cNvSpPr/>
          <p:nvPr/>
        </p:nvSpPr>
        <p:spPr>
          <a:xfrm>
            <a:off x="513167" y="3002805"/>
            <a:ext cx="3270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000000"/>
                </a:solidFill>
                <a:latin typeface="Calibri"/>
                <a:ea typeface="Calibri"/>
                <a:cs typeface="Calibri"/>
                <a:sym typeface="Calibri"/>
              </a:rPr>
              <a:t>A. Because God said "It's forbidden" and even though I don’t understand, I have faith that God wants what’s best for us✓</a:t>
            </a:r>
            <a:endParaRPr sz="1400">
              <a:solidFill>
                <a:schemeClr val="dk1"/>
              </a:solidFill>
              <a:latin typeface="Calibri"/>
              <a:ea typeface="Calibri"/>
              <a:cs typeface="Calibri"/>
              <a:sym typeface="Calibri"/>
            </a:endParaRPr>
          </a:p>
        </p:txBody>
      </p:sp>
      <p:sp>
        <p:nvSpPr>
          <p:cNvPr id="95" name="Google Shape;95;g3aba6666043_4_16"/>
          <p:cNvSpPr/>
          <p:nvPr/>
        </p:nvSpPr>
        <p:spPr>
          <a:xfrm>
            <a:off x="3246120" y="3927716"/>
            <a:ext cx="2743200" cy="548700"/>
          </a:xfrm>
          <a:prstGeom prst="rect">
            <a:avLst/>
          </a:prstGeom>
          <a:solidFill>
            <a:srgbClr val="FFD7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g3aba6666043_4_16"/>
          <p:cNvSpPr/>
          <p:nvPr/>
        </p:nvSpPr>
        <p:spPr>
          <a:xfrm>
            <a:off x="3200400" y="3927716"/>
            <a:ext cx="27432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600"/>
              <a:buFont typeface="Calibri"/>
              <a:buNone/>
            </a:pPr>
            <a:r>
              <a:rPr b="1" lang="en-US" sz="1600">
                <a:solidFill>
                  <a:srgbClr val="000000"/>
                </a:solidFill>
                <a:latin typeface="Calibri"/>
                <a:ea typeface="Calibri"/>
                <a:cs typeface="Calibri"/>
                <a:sym typeface="Calibri"/>
              </a:rPr>
              <a:t>Next Question →</a:t>
            </a:r>
            <a:endParaRPr sz="16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30A0"/>
        </a:solidFill>
      </p:bgPr>
    </p:bg>
    <p:spTree>
      <p:nvGrpSpPr>
        <p:cNvPr id="101" name="Shape 101"/>
        <p:cNvGrpSpPr/>
        <p:nvPr/>
      </p:nvGrpSpPr>
      <p:grpSpPr>
        <a:xfrm>
          <a:off x="0" y="0"/>
          <a:ext cx="0" cy="0"/>
          <a:chOff x="0" y="0"/>
          <a:chExt cx="0" cy="0"/>
        </a:xfrm>
      </p:grpSpPr>
      <p:sp>
        <p:nvSpPr>
          <p:cNvPr id="102" name="Google Shape;102;p5"/>
          <p:cNvSpPr/>
          <p:nvPr/>
        </p:nvSpPr>
        <p:spPr>
          <a:xfrm>
            <a:off x="0" y="0"/>
            <a:ext cx="9144000" cy="365760"/>
          </a:xfrm>
          <a:prstGeom prst="rect">
            <a:avLst/>
          </a:prstGeom>
          <a:solidFill>
            <a:srgbClr val="FFB8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5"/>
          <p:cNvSpPr/>
          <p:nvPr/>
        </p:nvSpPr>
        <p:spPr>
          <a:xfrm>
            <a:off x="182880" y="45720"/>
            <a:ext cx="8778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1D1D"/>
              </a:buClr>
              <a:buSzPts val="1600"/>
              <a:buFont typeface="Calibri"/>
              <a:buNone/>
            </a:pPr>
            <a:r>
              <a:rPr b="1" lang="en-US" sz="1600">
                <a:solidFill>
                  <a:srgbClr val="1D1D1D"/>
                </a:solidFill>
                <a:latin typeface="Calibri"/>
                <a:ea typeface="Calibri"/>
                <a:cs typeface="Calibri"/>
                <a:sym typeface="Calibri"/>
              </a:rPr>
              <a:t>Q27- GUARDIAN ASSESSMENT: OPINION &amp; INFORMATIVE</a:t>
            </a:r>
            <a:endParaRPr sz="1600">
              <a:solidFill>
                <a:schemeClr val="dk1"/>
              </a:solidFill>
              <a:latin typeface="Calibri"/>
              <a:ea typeface="Calibri"/>
              <a:cs typeface="Calibri"/>
              <a:sym typeface="Calibri"/>
            </a:endParaRPr>
          </a:p>
        </p:txBody>
      </p:sp>
      <p:sp>
        <p:nvSpPr>
          <p:cNvPr id="104" name="Google Shape;104;p5"/>
          <p:cNvSpPr/>
          <p:nvPr/>
        </p:nvSpPr>
        <p:spPr>
          <a:xfrm>
            <a:off x="178420" y="390906"/>
            <a:ext cx="8691260" cy="53761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E6D3"/>
              </a:buClr>
              <a:buSzPts val="1800"/>
              <a:buFont typeface="Calibri"/>
              <a:buNone/>
            </a:pPr>
            <a:r>
              <a:rPr b="1" lang="en-US" sz="1800">
                <a:solidFill>
                  <a:srgbClr val="F5E6D3"/>
                </a:solidFill>
                <a:latin typeface="Calibri"/>
                <a:ea typeface="Calibri"/>
                <a:cs typeface="Calibri"/>
                <a:sym typeface="Calibri"/>
              </a:rPr>
              <a:t>Is it better to be kind to others or to be selfish? Why or why not? </a:t>
            </a:r>
            <a:endParaRPr/>
          </a:p>
          <a:p>
            <a:pPr indent="0" lvl="0" marL="0" marR="0" rtl="0" algn="l">
              <a:spcBef>
                <a:spcPts val="0"/>
              </a:spcBef>
              <a:spcAft>
                <a:spcPts val="0"/>
              </a:spcAft>
              <a:buClr>
                <a:srgbClr val="F5E6D3"/>
              </a:buClr>
              <a:buSzPts val="1800"/>
              <a:buFont typeface="Calibri"/>
              <a:buNone/>
            </a:pPr>
            <a:r>
              <a:rPr b="1" lang="en-US" sz="1800">
                <a:solidFill>
                  <a:srgbClr val="F5E6D3"/>
                </a:solidFill>
                <a:latin typeface="Calibri"/>
                <a:ea typeface="Calibri"/>
                <a:cs typeface="Calibri"/>
                <a:sym typeface="Calibri"/>
              </a:rPr>
              <a:t>Use an example from the Bible to explain your answer.</a:t>
            </a:r>
            <a:endParaRPr/>
          </a:p>
        </p:txBody>
      </p:sp>
      <p:sp>
        <p:nvSpPr>
          <p:cNvPr id="105" name="Google Shape;105;p5"/>
          <p:cNvSpPr/>
          <p:nvPr/>
        </p:nvSpPr>
        <p:spPr>
          <a:xfrm>
            <a:off x="1732900" y="2604581"/>
            <a:ext cx="54864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p:txBody>
      </p:sp>
      <p:pic>
        <p:nvPicPr>
          <p:cNvPr descr="A close-up of a white background" id="106" name="Google Shape;106;p5"/>
          <p:cNvPicPr preferRelativeResize="0"/>
          <p:nvPr/>
        </p:nvPicPr>
        <p:blipFill rotWithShape="1">
          <a:blip r:embed="rId3">
            <a:alphaModFix/>
          </a:blip>
          <a:srcRect b="0" l="0" r="0" t="0"/>
          <a:stretch/>
        </p:blipFill>
        <p:spPr>
          <a:xfrm>
            <a:off x="0" y="3880624"/>
            <a:ext cx="8961120" cy="1215624"/>
          </a:xfrm>
          <a:prstGeom prst="rect">
            <a:avLst/>
          </a:prstGeom>
          <a:noFill/>
          <a:ln>
            <a:noFill/>
          </a:ln>
        </p:spPr>
      </p:pic>
      <p:pic>
        <p:nvPicPr>
          <p:cNvPr descr="A close-up of a white background" id="107" name="Google Shape;107;p5"/>
          <p:cNvPicPr preferRelativeResize="0"/>
          <p:nvPr/>
        </p:nvPicPr>
        <p:blipFill rotWithShape="1">
          <a:blip r:embed="rId3">
            <a:alphaModFix/>
          </a:blip>
          <a:srcRect b="0" l="0" r="0" t="0"/>
          <a:stretch/>
        </p:blipFill>
        <p:spPr>
          <a:xfrm>
            <a:off x="0" y="2571750"/>
            <a:ext cx="8961120" cy="1308874"/>
          </a:xfrm>
          <a:prstGeom prst="rect">
            <a:avLst/>
          </a:prstGeom>
          <a:noFill/>
          <a:ln>
            <a:noFill/>
          </a:ln>
        </p:spPr>
      </p:pic>
      <p:pic>
        <p:nvPicPr>
          <p:cNvPr descr="A close-up of a white background" id="108" name="Google Shape;108;p5"/>
          <p:cNvPicPr preferRelativeResize="0"/>
          <p:nvPr/>
        </p:nvPicPr>
        <p:blipFill rotWithShape="1">
          <a:blip r:embed="rId3">
            <a:alphaModFix/>
          </a:blip>
          <a:srcRect b="0" l="0" r="0" t="0"/>
          <a:stretch/>
        </p:blipFill>
        <p:spPr>
          <a:xfrm>
            <a:off x="-4460" y="1372829"/>
            <a:ext cx="8965580" cy="1198921"/>
          </a:xfrm>
          <a:prstGeom prst="rect">
            <a:avLst/>
          </a:prstGeom>
          <a:noFill/>
          <a:ln>
            <a:noFill/>
          </a:ln>
        </p:spPr>
      </p:pic>
      <p:sp>
        <p:nvSpPr>
          <p:cNvPr id="109" name="Google Shape;109;p5"/>
          <p:cNvSpPr txBox="1"/>
          <p:nvPr/>
        </p:nvSpPr>
        <p:spPr>
          <a:xfrm>
            <a:off x="6583680" y="928518"/>
            <a:ext cx="38404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i="1" lang="en-US" sz="1800">
                <a:solidFill>
                  <a:schemeClr val="dk1"/>
                </a:solidFill>
                <a:latin typeface="Calibri"/>
                <a:ea typeface="Calibri"/>
                <a:cs typeface="Calibri"/>
                <a:sym typeface="Calibri"/>
              </a:rPr>
              <a:t>Scoring: _____ out of 4</a:t>
            </a:r>
            <a:endParaRPr sz="1800">
              <a:solidFill>
                <a:schemeClr val="dk1"/>
              </a:solidFill>
              <a:latin typeface="Calibri"/>
              <a:ea typeface="Calibri"/>
              <a:cs typeface="Calibri"/>
              <a:sym typeface="Calibri"/>
            </a:endParaRPr>
          </a:p>
        </p:txBody>
      </p:sp>
      <p:sp>
        <p:nvSpPr>
          <p:cNvPr id="110" name="Google Shape;110;p5"/>
          <p:cNvSpPr/>
          <p:nvPr/>
        </p:nvSpPr>
        <p:spPr>
          <a:xfrm>
            <a:off x="0" y="953664"/>
            <a:ext cx="384048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100"/>
              <a:buFont typeface="Calibri"/>
              <a:buNone/>
            </a:pPr>
            <a:r>
              <a:rPr lang="en-US" sz="1100">
                <a:solidFill>
                  <a:srgbClr val="000000"/>
                </a:solidFill>
                <a:latin typeface="Calibri"/>
                <a:ea typeface="Calibri"/>
                <a:cs typeface="Calibri"/>
                <a:sym typeface="Calibri"/>
              </a:rPr>
              <a:t>☐ 1. Chooses kindness over selfishness</a:t>
            </a:r>
            <a:endParaRPr sz="1100">
              <a:solidFill>
                <a:schemeClr val="dk1"/>
              </a:solidFill>
              <a:latin typeface="Calibri"/>
              <a:ea typeface="Calibri"/>
              <a:cs typeface="Calibri"/>
              <a:sym typeface="Calibri"/>
            </a:endParaRPr>
          </a:p>
        </p:txBody>
      </p:sp>
      <p:sp>
        <p:nvSpPr>
          <p:cNvPr id="111" name="Google Shape;111;p5"/>
          <p:cNvSpPr/>
          <p:nvPr/>
        </p:nvSpPr>
        <p:spPr>
          <a:xfrm>
            <a:off x="3291840" y="953664"/>
            <a:ext cx="384048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100"/>
              <a:buFont typeface="Calibri"/>
              <a:buNone/>
            </a:pPr>
            <a:r>
              <a:rPr lang="en-US" sz="1100">
                <a:solidFill>
                  <a:srgbClr val="000000"/>
                </a:solidFill>
                <a:latin typeface="Calibri"/>
                <a:ea typeface="Calibri"/>
                <a:cs typeface="Calibri"/>
                <a:sym typeface="Calibri"/>
              </a:rPr>
              <a:t>☐ 3. Explains WHY kindness is better than selfishness</a:t>
            </a:r>
            <a:endParaRPr sz="1100">
              <a:solidFill>
                <a:schemeClr val="dk1"/>
              </a:solidFill>
              <a:latin typeface="Calibri"/>
              <a:ea typeface="Calibri"/>
              <a:cs typeface="Calibri"/>
              <a:sym typeface="Calibri"/>
            </a:endParaRPr>
          </a:p>
        </p:txBody>
      </p:sp>
      <p:sp>
        <p:nvSpPr>
          <p:cNvPr id="112" name="Google Shape;112;p5"/>
          <p:cNvSpPr/>
          <p:nvPr/>
        </p:nvSpPr>
        <p:spPr>
          <a:xfrm>
            <a:off x="0" y="1146574"/>
            <a:ext cx="384048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100"/>
              <a:buFont typeface="Calibri"/>
              <a:buNone/>
            </a:pPr>
            <a:r>
              <a:rPr lang="en-US" sz="1100">
                <a:solidFill>
                  <a:srgbClr val="000000"/>
                </a:solidFill>
                <a:latin typeface="Calibri"/>
                <a:ea typeface="Calibri"/>
                <a:cs typeface="Calibri"/>
                <a:sym typeface="Calibri"/>
              </a:rPr>
              <a:t>☐ 2. Uses a clear example from Bible stories we learned</a:t>
            </a:r>
            <a:endParaRPr sz="1100">
              <a:solidFill>
                <a:schemeClr val="dk1"/>
              </a:solidFill>
              <a:latin typeface="Calibri"/>
              <a:ea typeface="Calibri"/>
              <a:cs typeface="Calibri"/>
              <a:sym typeface="Calibri"/>
            </a:endParaRPr>
          </a:p>
        </p:txBody>
      </p:sp>
      <p:sp>
        <p:nvSpPr>
          <p:cNvPr id="113" name="Google Shape;113;p5"/>
          <p:cNvSpPr/>
          <p:nvPr/>
        </p:nvSpPr>
        <p:spPr>
          <a:xfrm>
            <a:off x="3291840" y="1174582"/>
            <a:ext cx="384048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100"/>
              <a:buFont typeface="Calibri"/>
              <a:buNone/>
            </a:pPr>
            <a:r>
              <a:rPr lang="en-US" sz="1100">
                <a:solidFill>
                  <a:srgbClr val="000000"/>
                </a:solidFill>
                <a:latin typeface="Calibri"/>
                <a:ea typeface="Calibri"/>
                <a:cs typeface="Calibri"/>
                <a:sym typeface="Calibri"/>
              </a:rPr>
              <a:t>☐ 4. Shows that kindness connects to the Bible stories</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2025-11-27T18:07:03Z</dcterms:created>
  <dc:creator>PptxGenJS</dc:creator>
</cp:coreProperties>
</file>